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11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this as a networking refresher session aimed at college students, freshers, and cybersecurity beginners. Explain that strong networking fundamentals are the foundation for every cybersecurity skill — you can't defend, attack, or monitor a network you don't understand. Mention the session will run 60-90 minutes and cover network types, devices, addressing, protocols, and hands-on troubleshooting commands.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18 topics we'll cover today. Group them mentally into four buckets: foundations (what/why/types/topologies), addressing (IP/MAC), protocols (overview, common protocols, remote management), and practical skills (troubleshooting commands, real-world architecture, quiz). This helps students see the session has a logical progression rather than a random list.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networking simply: connecting devices so they can talk to each other. Use the switch diagram to show two PCs exchanging packets through an intermediate device. Reinforce with the WhatsApp example — something every student uses daily. Teaching tip: ask the class to trace what happens, step by step, when they send a text message, to get them thinking in terms of data flow before diving into formal terms.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benefit quickly with a concrete classroom or office example: resource sharing (one printer for a whole lab), communication (Slack/Teams), internet access (shared router), collaboration (Google Docs), centralized management (IT pushing an update to every PC at once), security (a single firewall protecting the whole office), cost saving (renting one server instead of buying ten). Emphasize that these benefits are exactly why organizations invest heavily in network infrastructure — and why securing that infrastructure matters.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each network type by scale, starting from the smallest (PAN — your own body-worn devices) up to the largest (the Internet, a network of networks). Point out that LAN is what most students interact with daily at home/school, while WAN describes how LANs are stitched together across distances. Highlight VPN separately: it's not defined by physical distance but by creating a secure, encrypted tunnel over existing infrastructure — very relevant for cybersecurity.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Topology describes the physical/logical layout of how devices connect. Walk through each diagram: bus (a single shared backbone cable), star (everything through a central hub/switch — today's most common LAN topology), ring (data passes device to device in a loop), mesh (every node connects to every other — maximum redundancy, used where uptime is critical), tree (hierarchical, star networks joined together), and hybrid (a real-world mix). Ask students to identify which topology their home Wi-Fi router creates (star).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Casting describes how data is addressed to one or many recipients. Unicast is the most common (point-to-point, like loading a webpage). Broadcast sends to every device on the local network segment — necessary but noisy, and often restricted at the router. Multicast targets a defined group, efficient for streaming to many subscribers at once. Anycast routes traffic to the nearest/best server among several sharing the same address — this is how global DNS and CDNs achieve low latency. Ask students which type their video call software probably uses (multicast/unicast mix depending on platform).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devices in order of intelligence: hubs are 'dumb' broadcasters, switches learn MAC addresses to forward traffic intelligently within a LAN, routers connect separate networks together using IP addresses (this is the device that gives you Internet access at home). Repeaters and bridges extend and segment networks, while gateways translate between completely different protocol stacks — e.g. connecting a VoIP phone system to the regular telephone network. Tie each device to its OSI layer to reinforce that concept for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group leans security-relevant: firewalls enforce rule-based access control; access points and modems handle the 'last mile' connectivity; load balancers keep services available under heavy traffic. Spend extra time on IDS vs IPS since this distinction commonly appears in interviews — an IDS is passive (detect and alert only), while an IPS is active (detect and block). Ask students: 'would you rather deploy an IDS or IPS on a network segment with mission-critical, latency-sensitive traffic?' to spark discussion on trade-offs.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core vocabulary first: IP address, host, network ID, subnet, gateway. Then use the CIDR diagram to make the abstract concrete — a /24 means the first three octets are the network portion (shared by every device on that LAN) and the last octet is the unique host portion. Mention private vs public IP and loopback/APIPA briefly here; they'll be revisited in the Address Comparisons slide. Teaching tip: ask a student to run ipconfig/ifconfig on their own laptop and identify their IP's network vs host portion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IPv4's 32-bit space provides about 4.3 billion addresses — not enough for a planet full of phones, laptops, and IoT devices, which is why IPv6's 128-bit space (a virtually inexhaustible number) was introduced. Point out the format difference (dotted decimal vs colon hex) since misreading an IPv6 address is a common beginner mistake. Highlight that IPv6 makes IPSec encryption mandatory, which is a meaningful security upgrade. In practice, most networks today run 'dual-stack' — both IPv4 and IPv6 simultaneously.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physical vs logical distinction: MAC addresses are fixed to hardware (like a serial number), while IP addresses can change depending on which network you join. Show the format: six pairs of hex digits, where the first three pairs (the OUI) identify the manufacturer, and the last three uniquely identify the device. Mention that MAC addresses operate at Layer 2 and are how switches forward frames within a LAN, whereas IP (Layer 3) is how routers forward packets between networks.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rapid-fire recap contrasting six commonly confused address pairs. Go through each card and ask the class to state the key difference before revealing it. Pay special attention to Gateway vs DNS, since students often conflate them — the gateway is the door out of your network, while DNS is the phonebook that turns names like google.com into IP addresses. This is a good checkpoint slide before moving into protocols.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four-layer TCP/IP model (a practical simplification of the seven-layer OSI model). Explain the encapsulation concept: when sending data, it moves down the stack, with each layer adding its own header, then travels across the wire, and on the receiving end moves back up the stack being unwrapped at each layer. Give one protocol example per layer and connect it to something familiar — HTTPS at Application when browsing a secure site, TCP at Transport ensuring your file download arrives complete, IP at Internet routing packets globally, Ethernet/Wi-Fi at Network Access as the physical medium.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batch covers web, file transfer, remote access, and email protocols. Draw the HTTP vs HTTPS distinction clearly — the 'S' means TLS encryption, and it's the single most important security upgrade a student can recognize in a browser address bar. Contrast FTP/Telnet (plaintext, legacy, insecure) against SFTP/SSH (encrypted, modern replacements) — this pairing is a great entry point into why cybersecurity professionals care about protocol choice. Briefly note POP3 vs IMAP: POP3 downloads and deletes from the server, IMAP keeps everything synced across devices.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 focuses on infrastructure and internal-network protocols. DNS and DHCP are the two protocols that make 'plug and play' networking possible — DHCP hands out an IP automatically, DNS lets you use names instead of memorizing numbers. SNMP and LDAP are common enterprise/monitoring protocols worth knowing for IT and security roles. Point out ICMP and ARP don't use ports the way TCP/UDP protocols do — ICMP rides directly on IP (that's what ping uses), and ARP operates at Layer 2 to map IPs to MAC addresses on the local segment.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management protocols let administrators control devices from anywhere. Stress the security contrast: SSH encrypts everything (the secure replacement for Telnet, which sends credentials and commands in plaintext — a classic finding in penetration tests). RDP is Windows' native remote desktop protocol and is reasonably secure when Network Level Authentication is enabled, but is also a very common ransomware entry point when exposed directly to the Internet. VNC's security depends heavily on configuration. WinRM is used heavily in Windows enterprise administration and automation (e.g. PowerShell remoting).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day-one diagnostic commands every network and security professional reaches for. Group them by purpose while presenting: connectivity testing (ping, tracert/traceroute), local configuration (ipconfig/ifconfig, hostname), active connections (netstat, arp, route), and DNS/HTTP tools (nslookup/dig, curl). Live-demo at least ping and tracert/traceroute if possible — seeing the hop-by-hop path in traceroute is often the 'aha' moment that makes routing concepts click for beginners.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left to right: the Internet connection first hits the firewall — the organization's primary security checkpoint, filtering traffic before anything else touches the internal network. It then passes through the router (or a combined firewall/router appliance in smaller offices), down to the core switch (the network backbone), and out to access switches on each floor/department. From there, traffic reaches servers, wired PCs, wireless access points (which serve laptops and mobile devices), and printers. This is the architecture most students will encounter in their first IT or security job — ask them to identify where they'd place a monitoring/IDS sensor for maximum visibility.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mind map as an active-recall exercise rather than just a summary — for each branch, ask the class to name one fact before you reveal it. Types (from PAN to the Internet), Topology (star, mesh, etc.), Devices (routers, switches, firewalls...), IP and MAC Addressing (logical vs physical), Protocols (the rules governing communication), and Commands (the diagnostic toolkit). If everything on this map feels familiar, the class is ready for the quiz.</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interactive check-for-understanding — read each question aloud and have students answer before revealing the correct option verbally. No answers are shown on the slide, so it's safe to project as-is. Use wrong answers as teaching moments: e.g. for Q2, discuss why a hub (Layer 1) and switch (Layer 2) are common wrong picks versus the router's Layer 3 role.
ANSWER KEY — Q1: B (SSH)  |  Q2: C (Router)  |  Q3: B (24-bit network mask)  |  Q4: C (Mesh)  |  Q5: B (MAC)  |  Q6: D (Anycast)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content with a full-circle recap of everything covered: basics of what/why networking exists, the types and topologies that structure a network, the devices that build it, the addressing schemes (IP and MAC) that identify devices on it, the protocols that govern communication, the commands used to troubleshoot it, and — most importantly for this audience — why all of this matters for cybersecurity. Every attack, defense, and investigation technique builds on these fundamentals.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for their attention and open the floor for questions. Encourage students to revisit the troubleshooting commands and protocol port numbers on their own, since hands-on repetition is what makes these fundamentals stick. If time allows, invite them to run through the quiz once more or try the commands from Slide 18 on their own machines.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flipV="1">
            <a:off x="9692640" y="1463040"/>
            <a:ext cx="1371600" cy="365760"/>
          </a:xfrm>
          <a:prstGeom prst="line">
            <a:avLst/>
          </a:prstGeom>
          <a:noFill/>
          <a:ln w="15875">
            <a:solidFill>
              <a:srgbClr val="0891B2"/>
            </a:solidFill>
            <a:prstDash val="solid"/>
          </a:ln>
        </p:spPr>
      </p:sp>
      <p:sp>
        <p:nvSpPr>
          <p:cNvPr id="3" name="Shape 1"/>
          <p:cNvSpPr/>
          <p:nvPr/>
        </p:nvSpPr>
        <p:spPr>
          <a:xfrm>
            <a:off x="9692640" y="1828800"/>
            <a:ext cx="914400" cy="1005840"/>
          </a:xfrm>
          <a:prstGeom prst="line">
            <a:avLst/>
          </a:prstGeom>
          <a:noFill/>
          <a:ln w="15875">
            <a:solidFill>
              <a:srgbClr val="0891B2"/>
            </a:solidFill>
            <a:prstDash val="solid"/>
          </a:ln>
        </p:spPr>
      </p:sp>
      <p:sp>
        <p:nvSpPr>
          <p:cNvPr id="4" name="Shape 2"/>
          <p:cNvSpPr/>
          <p:nvPr/>
        </p:nvSpPr>
        <p:spPr>
          <a:xfrm>
            <a:off x="10607040" y="2834640"/>
            <a:ext cx="1005840" cy="457200"/>
          </a:xfrm>
          <a:prstGeom prst="line">
            <a:avLst/>
          </a:prstGeom>
          <a:noFill/>
          <a:ln w="15875">
            <a:solidFill>
              <a:srgbClr val="0891B2"/>
            </a:solidFill>
            <a:prstDash val="solid"/>
          </a:ln>
        </p:spPr>
      </p:sp>
      <p:sp>
        <p:nvSpPr>
          <p:cNvPr id="5" name="Shape 3"/>
          <p:cNvSpPr/>
          <p:nvPr/>
        </p:nvSpPr>
        <p:spPr>
          <a:xfrm>
            <a:off x="9509760" y="2834640"/>
            <a:ext cx="1097280" cy="1005840"/>
          </a:xfrm>
          <a:prstGeom prst="line">
            <a:avLst/>
          </a:prstGeom>
          <a:noFill/>
          <a:ln w="15875">
            <a:solidFill>
              <a:srgbClr val="0891B2"/>
            </a:solidFill>
            <a:prstDash val="solid"/>
          </a:ln>
        </p:spPr>
      </p:sp>
      <p:sp>
        <p:nvSpPr>
          <p:cNvPr id="6" name="Shape 4"/>
          <p:cNvSpPr/>
          <p:nvPr/>
        </p:nvSpPr>
        <p:spPr>
          <a:xfrm>
            <a:off x="9509760" y="3840480"/>
            <a:ext cx="1371600" cy="731520"/>
          </a:xfrm>
          <a:prstGeom prst="line">
            <a:avLst/>
          </a:prstGeom>
          <a:noFill/>
          <a:ln w="15875">
            <a:solidFill>
              <a:srgbClr val="0891B2"/>
            </a:solidFill>
            <a:prstDash val="solid"/>
          </a:ln>
        </p:spPr>
      </p:sp>
      <p:sp>
        <p:nvSpPr>
          <p:cNvPr id="7" name="Shape 5"/>
          <p:cNvSpPr/>
          <p:nvPr/>
        </p:nvSpPr>
        <p:spPr>
          <a:xfrm flipV="1">
            <a:off x="9052560" y="2834640"/>
            <a:ext cx="457200" cy="1005840"/>
          </a:xfrm>
          <a:prstGeom prst="line">
            <a:avLst/>
          </a:prstGeom>
          <a:noFill/>
          <a:ln w="15875">
            <a:solidFill>
              <a:srgbClr val="0891B2"/>
            </a:solidFill>
            <a:prstDash val="solid"/>
          </a:ln>
        </p:spPr>
      </p:sp>
      <p:sp>
        <p:nvSpPr>
          <p:cNvPr id="8" name="Shape 6"/>
          <p:cNvSpPr/>
          <p:nvPr/>
        </p:nvSpPr>
        <p:spPr>
          <a:xfrm>
            <a:off x="9966960" y="4572000"/>
            <a:ext cx="914400" cy="822960"/>
          </a:xfrm>
          <a:prstGeom prst="line">
            <a:avLst/>
          </a:prstGeom>
          <a:noFill/>
          <a:ln w="15875">
            <a:solidFill>
              <a:srgbClr val="0891B2"/>
            </a:solidFill>
            <a:prstDash val="solid"/>
          </a:ln>
        </p:spPr>
      </p:sp>
      <p:sp>
        <p:nvSpPr>
          <p:cNvPr id="9" name="Shape 7"/>
          <p:cNvSpPr/>
          <p:nvPr/>
        </p:nvSpPr>
        <p:spPr>
          <a:xfrm>
            <a:off x="10881360" y="4572000"/>
            <a:ext cx="640080" cy="548640"/>
          </a:xfrm>
          <a:prstGeom prst="line">
            <a:avLst/>
          </a:prstGeom>
          <a:noFill/>
          <a:ln w="15875">
            <a:solidFill>
              <a:srgbClr val="0891B2"/>
            </a:solidFill>
            <a:prstDash val="solid"/>
          </a:ln>
        </p:spPr>
      </p:sp>
      <p:sp>
        <p:nvSpPr>
          <p:cNvPr id="10" name="Shape 8"/>
          <p:cNvSpPr/>
          <p:nvPr/>
        </p:nvSpPr>
        <p:spPr>
          <a:xfrm>
            <a:off x="11521440" y="3291840"/>
            <a:ext cx="91440" cy="1828800"/>
          </a:xfrm>
          <a:prstGeom prst="line">
            <a:avLst/>
          </a:prstGeom>
          <a:noFill/>
          <a:ln w="15875">
            <a:solidFill>
              <a:srgbClr val="0891B2"/>
            </a:solidFill>
            <a:prstDash val="solid"/>
          </a:ln>
        </p:spPr>
      </p:sp>
      <p:sp>
        <p:nvSpPr>
          <p:cNvPr id="11" name="Shape 9"/>
          <p:cNvSpPr/>
          <p:nvPr/>
        </p:nvSpPr>
        <p:spPr>
          <a:xfrm>
            <a:off x="9619488" y="1755648"/>
            <a:ext cx="146304" cy="146304"/>
          </a:xfrm>
          <a:prstGeom prst="ellipse">
            <a:avLst/>
          </a:prstGeom>
          <a:solidFill>
            <a:srgbClr val="22D3EE"/>
          </a:solidFill>
          <a:ln w="19050">
            <a:solidFill>
              <a:srgbClr val="0A1628"/>
            </a:solidFill>
            <a:prstDash val="solid"/>
          </a:ln>
        </p:spPr>
      </p:sp>
      <p:sp>
        <p:nvSpPr>
          <p:cNvPr id="12" name="Shape 10"/>
          <p:cNvSpPr/>
          <p:nvPr/>
        </p:nvSpPr>
        <p:spPr>
          <a:xfrm>
            <a:off x="10991088" y="1389888"/>
            <a:ext cx="146304" cy="146304"/>
          </a:xfrm>
          <a:prstGeom prst="ellipse">
            <a:avLst/>
          </a:prstGeom>
          <a:solidFill>
            <a:srgbClr val="0891B2"/>
          </a:solidFill>
          <a:ln w="19050">
            <a:solidFill>
              <a:srgbClr val="0A1628"/>
            </a:solidFill>
            <a:prstDash val="solid"/>
          </a:ln>
        </p:spPr>
      </p:sp>
      <p:sp>
        <p:nvSpPr>
          <p:cNvPr id="13" name="Shape 11"/>
          <p:cNvSpPr/>
          <p:nvPr/>
        </p:nvSpPr>
        <p:spPr>
          <a:xfrm>
            <a:off x="10533888" y="2761488"/>
            <a:ext cx="146304" cy="146304"/>
          </a:xfrm>
          <a:prstGeom prst="ellipse">
            <a:avLst/>
          </a:prstGeom>
          <a:solidFill>
            <a:srgbClr val="0891B2"/>
          </a:solidFill>
          <a:ln w="19050">
            <a:solidFill>
              <a:srgbClr val="0A1628"/>
            </a:solidFill>
            <a:prstDash val="solid"/>
          </a:ln>
        </p:spPr>
      </p:sp>
      <p:sp>
        <p:nvSpPr>
          <p:cNvPr id="14" name="Shape 12"/>
          <p:cNvSpPr/>
          <p:nvPr/>
        </p:nvSpPr>
        <p:spPr>
          <a:xfrm>
            <a:off x="11539728" y="3218688"/>
            <a:ext cx="146304" cy="146304"/>
          </a:xfrm>
          <a:prstGeom prst="ellipse">
            <a:avLst/>
          </a:prstGeom>
          <a:solidFill>
            <a:srgbClr val="22D3EE"/>
          </a:solidFill>
          <a:ln w="19050">
            <a:solidFill>
              <a:srgbClr val="0A1628"/>
            </a:solidFill>
            <a:prstDash val="solid"/>
          </a:ln>
        </p:spPr>
      </p:sp>
      <p:sp>
        <p:nvSpPr>
          <p:cNvPr id="15" name="Shape 13"/>
          <p:cNvSpPr/>
          <p:nvPr/>
        </p:nvSpPr>
        <p:spPr>
          <a:xfrm>
            <a:off x="9436608" y="3767328"/>
            <a:ext cx="146304" cy="146304"/>
          </a:xfrm>
          <a:prstGeom prst="ellipse">
            <a:avLst/>
          </a:prstGeom>
          <a:solidFill>
            <a:srgbClr val="0891B2"/>
          </a:solidFill>
          <a:ln w="19050">
            <a:solidFill>
              <a:srgbClr val="0A1628"/>
            </a:solidFill>
            <a:prstDash val="solid"/>
          </a:ln>
        </p:spPr>
      </p:sp>
      <p:sp>
        <p:nvSpPr>
          <p:cNvPr id="16" name="Shape 14"/>
          <p:cNvSpPr/>
          <p:nvPr/>
        </p:nvSpPr>
        <p:spPr>
          <a:xfrm>
            <a:off x="10808208" y="4498848"/>
            <a:ext cx="146304" cy="146304"/>
          </a:xfrm>
          <a:prstGeom prst="ellipse">
            <a:avLst/>
          </a:prstGeom>
          <a:solidFill>
            <a:srgbClr val="0891B2"/>
          </a:solidFill>
          <a:ln w="19050">
            <a:solidFill>
              <a:srgbClr val="0A1628"/>
            </a:solidFill>
            <a:prstDash val="solid"/>
          </a:ln>
        </p:spPr>
      </p:sp>
      <p:sp>
        <p:nvSpPr>
          <p:cNvPr id="17" name="Shape 15"/>
          <p:cNvSpPr/>
          <p:nvPr/>
        </p:nvSpPr>
        <p:spPr>
          <a:xfrm>
            <a:off x="9893808" y="5321808"/>
            <a:ext cx="146304" cy="146304"/>
          </a:xfrm>
          <a:prstGeom prst="ellipse">
            <a:avLst/>
          </a:prstGeom>
          <a:solidFill>
            <a:srgbClr val="22D3EE"/>
          </a:solidFill>
          <a:ln w="19050">
            <a:solidFill>
              <a:srgbClr val="0A1628"/>
            </a:solidFill>
            <a:prstDash val="solid"/>
          </a:ln>
        </p:spPr>
      </p:sp>
      <p:sp>
        <p:nvSpPr>
          <p:cNvPr id="18" name="Shape 16"/>
          <p:cNvSpPr/>
          <p:nvPr/>
        </p:nvSpPr>
        <p:spPr>
          <a:xfrm>
            <a:off x="11448288" y="5047488"/>
            <a:ext cx="146304" cy="146304"/>
          </a:xfrm>
          <a:prstGeom prst="ellipse">
            <a:avLst/>
          </a:prstGeom>
          <a:solidFill>
            <a:srgbClr val="0891B2"/>
          </a:solidFill>
          <a:ln w="19050">
            <a:solidFill>
              <a:srgbClr val="0A1628"/>
            </a:solidFill>
            <a:prstDash val="solid"/>
          </a:ln>
        </p:spPr>
      </p:sp>
      <p:sp>
        <p:nvSpPr>
          <p:cNvPr id="19" name="Shape 17"/>
          <p:cNvSpPr/>
          <p:nvPr/>
        </p:nvSpPr>
        <p:spPr>
          <a:xfrm>
            <a:off x="8979408" y="2761488"/>
            <a:ext cx="146304" cy="146304"/>
          </a:xfrm>
          <a:prstGeom prst="ellipse">
            <a:avLst/>
          </a:prstGeom>
          <a:solidFill>
            <a:srgbClr val="0891B2"/>
          </a:solidFill>
          <a:ln w="19050">
            <a:solidFill>
              <a:srgbClr val="0A1628"/>
            </a:solidFill>
            <a:prstDash val="solid"/>
          </a:ln>
        </p:spPr>
      </p:sp>
      <p:sp>
        <p:nvSpPr>
          <p:cNvPr id="20" name="Text 18"/>
          <p:cNvSpPr/>
          <p:nvPr/>
        </p:nvSpPr>
        <p:spPr>
          <a:xfrm>
            <a:off x="640080" y="2331720"/>
            <a:ext cx="7315200" cy="365760"/>
          </a:xfrm>
          <a:prstGeom prst="rect">
            <a:avLst/>
          </a:prstGeom>
          <a:noFill/>
          <a:ln/>
        </p:spPr>
        <p:txBody>
          <a:bodyPr wrap="square" rtlCol="0" anchor="ctr"/>
          <a:lstStyle/>
          <a:p>
            <a:pPr marL="0" indent="0">
              <a:buNone/>
            </a:pPr>
            <a:r>
              <a:rPr lang="en-US" sz="1300" b="1" kern="0" spc="200" dirty="0">
                <a:solidFill>
                  <a:srgbClr val="22D3EE"/>
                </a:solidFill>
                <a:latin typeface="Calibri" pitchFamily="34" charset="0"/>
                <a:ea typeface="Calibri" pitchFamily="34" charset="-122"/>
                <a:cs typeface="Calibri" pitchFamily="34" charset="-120"/>
              </a:rPr>
              <a:t>CYBERSECURITY TRAINING SERIES</a:t>
            </a:r>
            <a:endParaRPr lang="en-US" sz="1300" dirty="0"/>
          </a:p>
        </p:txBody>
      </p:sp>
      <p:sp>
        <p:nvSpPr>
          <p:cNvPr id="21" name="Text 19"/>
          <p:cNvSpPr/>
          <p:nvPr/>
        </p:nvSpPr>
        <p:spPr>
          <a:xfrm>
            <a:off x="594360" y="2697480"/>
            <a:ext cx="9601200" cy="128016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Networking Refresher</a:t>
            </a:r>
            <a:endParaRPr lang="en-US" sz="5400" dirty="0"/>
          </a:p>
        </p:txBody>
      </p:sp>
      <p:sp>
        <p:nvSpPr>
          <p:cNvPr id="22" name="Text 20"/>
          <p:cNvSpPr/>
          <p:nvPr/>
        </p:nvSpPr>
        <p:spPr>
          <a:xfrm>
            <a:off x="640080" y="3794760"/>
            <a:ext cx="8229600" cy="548640"/>
          </a:xfrm>
          <a:prstGeom prst="rect">
            <a:avLst/>
          </a:prstGeom>
          <a:noFill/>
          <a:ln/>
        </p:spPr>
        <p:txBody>
          <a:bodyPr wrap="square" rtlCol="0" anchor="ctr"/>
          <a:lstStyle/>
          <a:p>
            <a:pPr marL="0" indent="0">
              <a:buNone/>
            </a:pPr>
            <a:r>
              <a:rPr lang="en-US" sz="1900" dirty="0">
                <a:solidFill>
                  <a:srgbClr val="AEC3DD"/>
                </a:solidFill>
                <a:latin typeface="Calibri" pitchFamily="34" charset="0"/>
                <a:ea typeface="Calibri" pitchFamily="34" charset="-122"/>
                <a:cs typeface="Calibri" pitchFamily="34" charset="-120"/>
              </a:rPr>
              <a:t>Network Fundamentals for Cybersecurity</a:t>
            </a:r>
            <a:endParaRPr lang="en-US" sz="1900" dirty="0"/>
          </a:p>
        </p:txBody>
      </p:sp>
      <p:sp>
        <p:nvSpPr>
          <p:cNvPr id="23" name="Shape 21"/>
          <p:cNvSpPr/>
          <p:nvPr/>
        </p:nvSpPr>
        <p:spPr>
          <a:xfrm>
            <a:off x="640080" y="4480560"/>
            <a:ext cx="2194560" cy="0"/>
          </a:xfrm>
          <a:prstGeom prst="line">
            <a:avLst/>
          </a:prstGeom>
          <a:noFill/>
          <a:ln w="31750">
            <a:solidFill>
              <a:srgbClr val="22D3EE"/>
            </a:solidFill>
            <a:prstDash val="solid"/>
          </a:ln>
        </p:spPr>
      </p:sp>
      <p:sp>
        <p:nvSpPr>
          <p:cNvPr id="24" name="Text 22"/>
          <p:cNvSpPr/>
          <p:nvPr/>
        </p:nvSpPr>
        <p:spPr>
          <a:xfrm>
            <a:off x="640080" y="4663440"/>
            <a:ext cx="7315200" cy="457200"/>
          </a:xfrm>
          <a:prstGeom prst="rect">
            <a:avLst/>
          </a:prstGeom>
          <a:noFill/>
          <a:ln/>
        </p:spPr>
        <p:txBody>
          <a:bodyPr wrap="square" rtlCol="0" anchor="ctr"/>
          <a:lstStyle/>
          <a:p>
            <a:pPr marL="0" indent="0">
              <a:buNone/>
            </a:pPr>
            <a:r>
              <a:rPr lang="en-US" sz="1200" i="1" dirty="0">
                <a:solidFill>
                  <a:srgbClr val="7E93B3"/>
                </a:solidFill>
                <a:latin typeface="Calibri" pitchFamily="34" charset="0"/>
                <a:ea typeface="Calibri" pitchFamily="34" charset="-122"/>
                <a:cs typeface="Calibri" pitchFamily="34" charset="-120"/>
              </a:rPr>
              <a:t>A refresher on core networking concepts every cybersecurity practitioner must know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SESSION ROADMAP</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Agenda</a:t>
            </a:r>
            <a:endParaRPr lang="en-US" sz="3200" dirty="0"/>
          </a:p>
        </p:txBody>
      </p:sp>
      <p:sp>
        <p:nvSpPr>
          <p:cNvPr id="4" name="Shape 2"/>
          <p:cNvSpPr/>
          <p:nvPr/>
        </p:nvSpPr>
        <p:spPr>
          <a:xfrm>
            <a:off x="576072" y="1627632"/>
            <a:ext cx="384048" cy="384048"/>
          </a:xfrm>
          <a:prstGeom prst="ellipse">
            <a:avLst/>
          </a:prstGeom>
          <a:solidFill>
            <a:srgbClr val="0891B2"/>
          </a:solidFill>
          <a:ln/>
        </p:spPr>
      </p:sp>
      <p:sp>
        <p:nvSpPr>
          <p:cNvPr id="5" name="Text 3"/>
          <p:cNvSpPr/>
          <p:nvPr/>
        </p:nvSpPr>
        <p:spPr>
          <a:xfrm>
            <a:off x="576072" y="16276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51560" y="1600200"/>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What is Networking?</a:t>
            </a:r>
            <a:endParaRPr lang="en-US" sz="1400" dirty="0"/>
          </a:p>
        </p:txBody>
      </p:sp>
      <p:sp>
        <p:nvSpPr>
          <p:cNvPr id="7" name="Shape 5"/>
          <p:cNvSpPr/>
          <p:nvPr/>
        </p:nvSpPr>
        <p:spPr>
          <a:xfrm>
            <a:off x="576072" y="2157984"/>
            <a:ext cx="384048" cy="384048"/>
          </a:xfrm>
          <a:prstGeom prst="ellipse">
            <a:avLst/>
          </a:prstGeom>
          <a:solidFill>
            <a:srgbClr val="0891B2"/>
          </a:solidFill>
          <a:ln/>
        </p:spPr>
      </p:sp>
      <p:sp>
        <p:nvSpPr>
          <p:cNvPr id="8" name="Text 6"/>
          <p:cNvSpPr/>
          <p:nvPr/>
        </p:nvSpPr>
        <p:spPr>
          <a:xfrm>
            <a:off x="576072" y="2157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051560" y="2130552"/>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Why Networking?</a:t>
            </a:r>
            <a:endParaRPr lang="en-US" sz="1400" dirty="0"/>
          </a:p>
        </p:txBody>
      </p:sp>
      <p:sp>
        <p:nvSpPr>
          <p:cNvPr id="10" name="Shape 8"/>
          <p:cNvSpPr/>
          <p:nvPr/>
        </p:nvSpPr>
        <p:spPr>
          <a:xfrm>
            <a:off x="576072" y="2688336"/>
            <a:ext cx="384048" cy="384048"/>
          </a:xfrm>
          <a:prstGeom prst="ellipse">
            <a:avLst/>
          </a:prstGeom>
          <a:solidFill>
            <a:srgbClr val="0891B2"/>
          </a:solidFill>
          <a:ln/>
        </p:spPr>
      </p:sp>
      <p:sp>
        <p:nvSpPr>
          <p:cNvPr id="11" name="Text 9"/>
          <p:cNvSpPr/>
          <p:nvPr/>
        </p:nvSpPr>
        <p:spPr>
          <a:xfrm>
            <a:off x="576072" y="2688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051560" y="2660904"/>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Network Types</a:t>
            </a:r>
            <a:endParaRPr lang="en-US" sz="1400" dirty="0"/>
          </a:p>
        </p:txBody>
      </p:sp>
      <p:sp>
        <p:nvSpPr>
          <p:cNvPr id="13" name="Shape 11"/>
          <p:cNvSpPr/>
          <p:nvPr/>
        </p:nvSpPr>
        <p:spPr>
          <a:xfrm>
            <a:off x="576072" y="3218688"/>
            <a:ext cx="384048" cy="384048"/>
          </a:xfrm>
          <a:prstGeom prst="ellipse">
            <a:avLst/>
          </a:prstGeom>
          <a:solidFill>
            <a:srgbClr val="0891B2"/>
          </a:solidFill>
          <a:ln/>
        </p:spPr>
      </p:sp>
      <p:sp>
        <p:nvSpPr>
          <p:cNvPr id="14" name="Text 12"/>
          <p:cNvSpPr/>
          <p:nvPr/>
        </p:nvSpPr>
        <p:spPr>
          <a:xfrm>
            <a:off x="576072" y="3218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051560" y="3191256"/>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Network Topologies</a:t>
            </a:r>
            <a:endParaRPr lang="en-US" sz="1400" dirty="0"/>
          </a:p>
        </p:txBody>
      </p:sp>
      <p:sp>
        <p:nvSpPr>
          <p:cNvPr id="16" name="Shape 14"/>
          <p:cNvSpPr/>
          <p:nvPr/>
        </p:nvSpPr>
        <p:spPr>
          <a:xfrm>
            <a:off x="576072" y="3749040"/>
            <a:ext cx="384048" cy="384048"/>
          </a:xfrm>
          <a:prstGeom prst="ellipse">
            <a:avLst/>
          </a:prstGeom>
          <a:solidFill>
            <a:srgbClr val="0891B2"/>
          </a:solidFill>
          <a:ln/>
        </p:spPr>
      </p:sp>
      <p:sp>
        <p:nvSpPr>
          <p:cNvPr id="17" name="Text 15"/>
          <p:cNvSpPr/>
          <p:nvPr/>
        </p:nvSpPr>
        <p:spPr>
          <a:xfrm>
            <a:off x="576072" y="37490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051560" y="3721608"/>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Data Transmission (Casting)</a:t>
            </a:r>
            <a:endParaRPr lang="en-US" sz="1400" dirty="0"/>
          </a:p>
        </p:txBody>
      </p:sp>
      <p:sp>
        <p:nvSpPr>
          <p:cNvPr id="19" name="Shape 17"/>
          <p:cNvSpPr/>
          <p:nvPr/>
        </p:nvSpPr>
        <p:spPr>
          <a:xfrm>
            <a:off x="576072" y="4279392"/>
            <a:ext cx="384048" cy="384048"/>
          </a:xfrm>
          <a:prstGeom prst="ellipse">
            <a:avLst/>
          </a:prstGeom>
          <a:solidFill>
            <a:srgbClr val="0891B2"/>
          </a:solidFill>
          <a:ln/>
        </p:spPr>
      </p:sp>
      <p:sp>
        <p:nvSpPr>
          <p:cNvPr id="20" name="Text 18"/>
          <p:cNvSpPr/>
          <p:nvPr/>
        </p:nvSpPr>
        <p:spPr>
          <a:xfrm>
            <a:off x="576072" y="42793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051560" y="4251960"/>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Network Devices</a:t>
            </a:r>
            <a:endParaRPr lang="en-US" sz="1400" dirty="0"/>
          </a:p>
        </p:txBody>
      </p:sp>
      <p:sp>
        <p:nvSpPr>
          <p:cNvPr id="22" name="Shape 20"/>
          <p:cNvSpPr/>
          <p:nvPr/>
        </p:nvSpPr>
        <p:spPr>
          <a:xfrm>
            <a:off x="576072" y="4809744"/>
            <a:ext cx="384048" cy="384048"/>
          </a:xfrm>
          <a:prstGeom prst="ellipse">
            <a:avLst/>
          </a:prstGeom>
          <a:solidFill>
            <a:srgbClr val="0891B2"/>
          </a:solidFill>
          <a:ln/>
        </p:spPr>
      </p:sp>
      <p:sp>
        <p:nvSpPr>
          <p:cNvPr id="23" name="Text 21"/>
          <p:cNvSpPr/>
          <p:nvPr/>
        </p:nvSpPr>
        <p:spPr>
          <a:xfrm>
            <a:off x="576072" y="48097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p:nvPr/>
        </p:nvSpPr>
        <p:spPr>
          <a:xfrm>
            <a:off x="1051560" y="4782312"/>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IP Addressing</a:t>
            </a:r>
            <a:endParaRPr lang="en-US" sz="1400" dirty="0"/>
          </a:p>
        </p:txBody>
      </p:sp>
      <p:sp>
        <p:nvSpPr>
          <p:cNvPr id="25" name="Shape 23"/>
          <p:cNvSpPr/>
          <p:nvPr/>
        </p:nvSpPr>
        <p:spPr>
          <a:xfrm>
            <a:off x="576072" y="5340096"/>
            <a:ext cx="384048" cy="384048"/>
          </a:xfrm>
          <a:prstGeom prst="ellipse">
            <a:avLst/>
          </a:prstGeom>
          <a:solidFill>
            <a:srgbClr val="0891B2"/>
          </a:solidFill>
          <a:ln/>
        </p:spPr>
      </p:sp>
      <p:sp>
        <p:nvSpPr>
          <p:cNvPr id="26" name="Text 24"/>
          <p:cNvSpPr/>
          <p:nvPr/>
        </p:nvSpPr>
        <p:spPr>
          <a:xfrm>
            <a:off x="576072" y="5340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7" name="Text 25"/>
          <p:cNvSpPr/>
          <p:nvPr/>
        </p:nvSpPr>
        <p:spPr>
          <a:xfrm>
            <a:off x="1051560" y="5312664"/>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MAC Addressing</a:t>
            </a:r>
            <a:endParaRPr lang="en-US" sz="1400" dirty="0"/>
          </a:p>
        </p:txBody>
      </p:sp>
      <p:sp>
        <p:nvSpPr>
          <p:cNvPr id="28" name="Shape 26"/>
          <p:cNvSpPr/>
          <p:nvPr/>
        </p:nvSpPr>
        <p:spPr>
          <a:xfrm>
            <a:off x="576072" y="5870448"/>
            <a:ext cx="384048" cy="384048"/>
          </a:xfrm>
          <a:prstGeom prst="ellipse">
            <a:avLst/>
          </a:prstGeom>
          <a:solidFill>
            <a:srgbClr val="0891B2"/>
          </a:solidFill>
          <a:ln/>
        </p:spPr>
      </p:sp>
      <p:sp>
        <p:nvSpPr>
          <p:cNvPr id="29" name="Text 27"/>
          <p:cNvSpPr/>
          <p:nvPr/>
        </p:nvSpPr>
        <p:spPr>
          <a:xfrm>
            <a:off x="576072" y="58704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0" name="Text 28"/>
          <p:cNvSpPr/>
          <p:nvPr/>
        </p:nvSpPr>
        <p:spPr>
          <a:xfrm>
            <a:off x="1051560" y="5843016"/>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IPv4 vs IPv6</a:t>
            </a:r>
            <a:endParaRPr lang="en-US" sz="1400" dirty="0"/>
          </a:p>
        </p:txBody>
      </p:sp>
      <p:sp>
        <p:nvSpPr>
          <p:cNvPr id="31" name="Shape 29"/>
          <p:cNvSpPr/>
          <p:nvPr/>
        </p:nvSpPr>
        <p:spPr>
          <a:xfrm>
            <a:off x="6336792" y="1627632"/>
            <a:ext cx="384048" cy="384048"/>
          </a:xfrm>
          <a:prstGeom prst="ellipse">
            <a:avLst/>
          </a:prstGeom>
          <a:solidFill>
            <a:srgbClr val="0891B2"/>
          </a:solidFill>
          <a:ln/>
        </p:spPr>
      </p:sp>
      <p:sp>
        <p:nvSpPr>
          <p:cNvPr id="32" name="Text 30"/>
          <p:cNvSpPr/>
          <p:nvPr/>
        </p:nvSpPr>
        <p:spPr>
          <a:xfrm>
            <a:off x="6336792" y="16276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3" name="Text 31"/>
          <p:cNvSpPr/>
          <p:nvPr/>
        </p:nvSpPr>
        <p:spPr>
          <a:xfrm>
            <a:off x="6812280" y="1600200"/>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Public vs Private IP</a:t>
            </a:r>
            <a:endParaRPr lang="en-US" sz="1400" dirty="0"/>
          </a:p>
        </p:txBody>
      </p:sp>
      <p:sp>
        <p:nvSpPr>
          <p:cNvPr id="34" name="Shape 32"/>
          <p:cNvSpPr/>
          <p:nvPr/>
        </p:nvSpPr>
        <p:spPr>
          <a:xfrm>
            <a:off x="6336792" y="2157984"/>
            <a:ext cx="384048" cy="384048"/>
          </a:xfrm>
          <a:prstGeom prst="ellipse">
            <a:avLst/>
          </a:prstGeom>
          <a:solidFill>
            <a:srgbClr val="0891B2"/>
          </a:solidFill>
          <a:ln/>
        </p:spPr>
      </p:sp>
      <p:sp>
        <p:nvSpPr>
          <p:cNvPr id="35" name="Text 33"/>
          <p:cNvSpPr/>
          <p:nvPr/>
        </p:nvSpPr>
        <p:spPr>
          <a:xfrm>
            <a:off x="6336792" y="2157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6" name="Text 34"/>
          <p:cNvSpPr/>
          <p:nvPr/>
        </p:nvSpPr>
        <p:spPr>
          <a:xfrm>
            <a:off x="6812280" y="2130552"/>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Static vs Dynamic IP</a:t>
            </a:r>
            <a:endParaRPr lang="en-US" sz="1400" dirty="0"/>
          </a:p>
        </p:txBody>
      </p:sp>
      <p:sp>
        <p:nvSpPr>
          <p:cNvPr id="37" name="Shape 35"/>
          <p:cNvSpPr/>
          <p:nvPr/>
        </p:nvSpPr>
        <p:spPr>
          <a:xfrm>
            <a:off x="6336792" y="2688336"/>
            <a:ext cx="384048" cy="384048"/>
          </a:xfrm>
          <a:prstGeom prst="ellipse">
            <a:avLst/>
          </a:prstGeom>
          <a:solidFill>
            <a:srgbClr val="0891B2"/>
          </a:solidFill>
          <a:ln/>
        </p:spPr>
      </p:sp>
      <p:sp>
        <p:nvSpPr>
          <p:cNvPr id="38" name="Text 36"/>
          <p:cNvSpPr/>
          <p:nvPr/>
        </p:nvSpPr>
        <p:spPr>
          <a:xfrm>
            <a:off x="6336792" y="26883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39" name="Text 37"/>
          <p:cNvSpPr/>
          <p:nvPr/>
        </p:nvSpPr>
        <p:spPr>
          <a:xfrm>
            <a:off x="6812280" y="2660904"/>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Protocol Overview</a:t>
            </a:r>
            <a:endParaRPr lang="en-US" sz="1400" dirty="0"/>
          </a:p>
        </p:txBody>
      </p:sp>
      <p:sp>
        <p:nvSpPr>
          <p:cNvPr id="40" name="Shape 38"/>
          <p:cNvSpPr/>
          <p:nvPr/>
        </p:nvSpPr>
        <p:spPr>
          <a:xfrm>
            <a:off x="6336792" y="3218688"/>
            <a:ext cx="384048" cy="384048"/>
          </a:xfrm>
          <a:prstGeom prst="ellipse">
            <a:avLst/>
          </a:prstGeom>
          <a:solidFill>
            <a:srgbClr val="0891B2"/>
          </a:solidFill>
          <a:ln/>
        </p:spPr>
      </p:sp>
      <p:sp>
        <p:nvSpPr>
          <p:cNvPr id="41" name="Text 39"/>
          <p:cNvSpPr/>
          <p:nvPr/>
        </p:nvSpPr>
        <p:spPr>
          <a:xfrm>
            <a:off x="6336792" y="3218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2" name="Text 40"/>
          <p:cNvSpPr/>
          <p:nvPr/>
        </p:nvSpPr>
        <p:spPr>
          <a:xfrm>
            <a:off x="6812280" y="3191256"/>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Common Network Protocols</a:t>
            </a:r>
            <a:endParaRPr lang="en-US" sz="1400" dirty="0"/>
          </a:p>
        </p:txBody>
      </p:sp>
      <p:sp>
        <p:nvSpPr>
          <p:cNvPr id="43" name="Shape 41"/>
          <p:cNvSpPr/>
          <p:nvPr/>
        </p:nvSpPr>
        <p:spPr>
          <a:xfrm>
            <a:off x="6336792" y="3749040"/>
            <a:ext cx="384048" cy="384048"/>
          </a:xfrm>
          <a:prstGeom prst="ellipse">
            <a:avLst/>
          </a:prstGeom>
          <a:solidFill>
            <a:srgbClr val="0891B2"/>
          </a:solidFill>
          <a:ln/>
        </p:spPr>
      </p:sp>
      <p:sp>
        <p:nvSpPr>
          <p:cNvPr id="44" name="Text 42"/>
          <p:cNvSpPr/>
          <p:nvPr/>
        </p:nvSpPr>
        <p:spPr>
          <a:xfrm>
            <a:off x="6336792" y="37490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5" name="Text 43"/>
          <p:cNvSpPr/>
          <p:nvPr/>
        </p:nvSpPr>
        <p:spPr>
          <a:xfrm>
            <a:off x="6812280" y="3721608"/>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Remote Management Protocols</a:t>
            </a:r>
            <a:endParaRPr lang="en-US" sz="1400" dirty="0"/>
          </a:p>
        </p:txBody>
      </p:sp>
      <p:sp>
        <p:nvSpPr>
          <p:cNvPr id="46" name="Shape 44"/>
          <p:cNvSpPr/>
          <p:nvPr/>
        </p:nvSpPr>
        <p:spPr>
          <a:xfrm>
            <a:off x="6336792" y="4279392"/>
            <a:ext cx="384048" cy="384048"/>
          </a:xfrm>
          <a:prstGeom prst="ellipse">
            <a:avLst/>
          </a:prstGeom>
          <a:solidFill>
            <a:srgbClr val="0891B2"/>
          </a:solidFill>
          <a:ln/>
        </p:spPr>
      </p:sp>
      <p:sp>
        <p:nvSpPr>
          <p:cNvPr id="47" name="Text 45"/>
          <p:cNvSpPr/>
          <p:nvPr/>
        </p:nvSpPr>
        <p:spPr>
          <a:xfrm>
            <a:off x="6336792" y="42793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8" name="Text 46"/>
          <p:cNvSpPr/>
          <p:nvPr/>
        </p:nvSpPr>
        <p:spPr>
          <a:xfrm>
            <a:off x="6812280" y="4251960"/>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Troubleshooting Commands</a:t>
            </a:r>
            <a:endParaRPr lang="en-US" sz="1400" dirty="0"/>
          </a:p>
        </p:txBody>
      </p:sp>
      <p:sp>
        <p:nvSpPr>
          <p:cNvPr id="49" name="Shape 47"/>
          <p:cNvSpPr/>
          <p:nvPr/>
        </p:nvSpPr>
        <p:spPr>
          <a:xfrm>
            <a:off x="6336792" y="4809744"/>
            <a:ext cx="384048" cy="384048"/>
          </a:xfrm>
          <a:prstGeom prst="ellipse">
            <a:avLst/>
          </a:prstGeom>
          <a:solidFill>
            <a:srgbClr val="0891B2"/>
          </a:solidFill>
          <a:ln/>
        </p:spPr>
      </p:sp>
      <p:sp>
        <p:nvSpPr>
          <p:cNvPr id="50" name="Text 48"/>
          <p:cNvSpPr/>
          <p:nvPr/>
        </p:nvSpPr>
        <p:spPr>
          <a:xfrm>
            <a:off x="6336792" y="48097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51" name="Text 49"/>
          <p:cNvSpPr/>
          <p:nvPr/>
        </p:nvSpPr>
        <p:spPr>
          <a:xfrm>
            <a:off x="6812280" y="4782312"/>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Real-World Network Architecture</a:t>
            </a:r>
            <a:endParaRPr lang="en-US" sz="1400" dirty="0"/>
          </a:p>
        </p:txBody>
      </p:sp>
      <p:sp>
        <p:nvSpPr>
          <p:cNvPr id="52" name="Shape 50"/>
          <p:cNvSpPr/>
          <p:nvPr/>
        </p:nvSpPr>
        <p:spPr>
          <a:xfrm>
            <a:off x="6336792" y="5340096"/>
            <a:ext cx="384048" cy="384048"/>
          </a:xfrm>
          <a:prstGeom prst="ellipse">
            <a:avLst/>
          </a:prstGeom>
          <a:solidFill>
            <a:srgbClr val="0891B2"/>
          </a:solidFill>
          <a:ln/>
        </p:spPr>
      </p:sp>
      <p:sp>
        <p:nvSpPr>
          <p:cNvPr id="53" name="Text 51"/>
          <p:cNvSpPr/>
          <p:nvPr/>
        </p:nvSpPr>
        <p:spPr>
          <a:xfrm>
            <a:off x="6336792" y="53400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54" name="Text 52"/>
          <p:cNvSpPr/>
          <p:nvPr/>
        </p:nvSpPr>
        <p:spPr>
          <a:xfrm>
            <a:off x="6812280" y="5312664"/>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Summary</a:t>
            </a:r>
            <a:endParaRPr lang="en-US" sz="1400" dirty="0"/>
          </a:p>
        </p:txBody>
      </p:sp>
      <p:sp>
        <p:nvSpPr>
          <p:cNvPr id="55" name="Shape 53"/>
          <p:cNvSpPr/>
          <p:nvPr/>
        </p:nvSpPr>
        <p:spPr>
          <a:xfrm>
            <a:off x="6336792" y="5870448"/>
            <a:ext cx="384048" cy="384048"/>
          </a:xfrm>
          <a:prstGeom prst="ellipse">
            <a:avLst/>
          </a:prstGeom>
          <a:solidFill>
            <a:srgbClr val="0891B2"/>
          </a:solidFill>
          <a:ln/>
        </p:spPr>
      </p:sp>
      <p:sp>
        <p:nvSpPr>
          <p:cNvPr id="56" name="Text 54"/>
          <p:cNvSpPr/>
          <p:nvPr/>
        </p:nvSpPr>
        <p:spPr>
          <a:xfrm>
            <a:off x="6336792" y="58704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57" name="Text 55"/>
          <p:cNvSpPr/>
          <p:nvPr/>
        </p:nvSpPr>
        <p:spPr>
          <a:xfrm>
            <a:off x="6812280" y="5843016"/>
            <a:ext cx="4754880" cy="43891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Quiz</a:t>
            </a:r>
            <a:endParaRPr lang="en-US" sz="1400" dirty="0"/>
          </a:p>
        </p:txBody>
      </p:sp>
      <p:sp>
        <p:nvSpPr>
          <p:cNvPr id="58" name="Text 5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02</a:t>
            </a:r>
            <a:endParaRPr lang="en-US" sz="1000" dirty="0"/>
          </a:p>
        </p:txBody>
      </p:sp>
      <p:sp>
        <p:nvSpPr>
          <p:cNvPr id="59" name="Text 57"/>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is Networking?</a:t>
            </a:r>
            <a:endParaRPr lang="en-US" sz="3200" dirty="0"/>
          </a:p>
        </p:txBody>
      </p:sp>
      <p:sp>
        <p:nvSpPr>
          <p:cNvPr id="4" name="Text 2"/>
          <p:cNvSpPr/>
          <p:nvPr/>
        </p:nvSpPr>
        <p:spPr>
          <a:xfrm>
            <a:off x="548640" y="1600200"/>
            <a:ext cx="5394960" cy="2834640"/>
          </a:xfrm>
          <a:prstGeom prst="rect">
            <a:avLst/>
          </a:prstGeom>
          <a:noFill/>
          <a:ln/>
        </p:spPr>
        <p:txBody>
          <a:bodyPr wrap="square" rtlCol="0" anchor="t"/>
          <a:lstStyle/>
          <a:p>
            <a:pPr marL="0" indent="0">
              <a:lnSpc>
                <a:spcPct val="125000"/>
              </a:lnSpc>
              <a:buNone/>
            </a:pPr>
            <a:r>
              <a:rPr lang="en-US" sz="1400" dirty="0">
                <a:solidFill>
                  <a:srgbClr val="AEC3DD"/>
                </a:solidFill>
                <a:latin typeface="Calibri" pitchFamily="34" charset="0"/>
                <a:ea typeface="Calibri" pitchFamily="34" charset="-122"/>
                <a:cs typeface="Calibri" pitchFamily="34" charset="-120"/>
              </a:rPr>
              <a:t>Networking is the practice of connecting two or more computing devices so they can </a:t>
            </a:r>
            <a:r>
              <a:rPr lang="en-US" sz="1400" b="1" dirty="0">
                <a:solidFill>
                  <a:srgbClr val="FFFFFF"/>
                </a:solidFill>
                <a:latin typeface="Calibri" pitchFamily="34" charset="0"/>
                <a:ea typeface="Calibri" pitchFamily="34" charset="-122"/>
                <a:cs typeface="Calibri" pitchFamily="34" charset="-120"/>
              </a:rPr>
              <a:t>communicate and share data, resources, and services.
</a:t>
            </a:r>
            <a:r>
              <a:rPr lang="en-US" sz="1400" dirty="0">
                <a:solidFill>
                  <a:srgbClr val="AEC3DD"/>
                </a:solidFill>
                <a:latin typeface="Calibri" pitchFamily="34" charset="0"/>
                <a:ea typeface="Calibri" pitchFamily="34" charset="-122"/>
                <a:cs typeface="Calibri" pitchFamily="34" charset="-120"/>
              </a:rPr>
              <a:t>Every time you send a message, stream a video, or browse a website, devices are exchanging small units of data called </a:t>
            </a:r>
            <a:r>
              <a:rPr lang="en-US" sz="1400" b="1" dirty="0">
                <a:solidFill>
                  <a:srgbClr val="22D3EE"/>
                </a:solidFill>
                <a:latin typeface="Calibri" pitchFamily="34" charset="0"/>
                <a:ea typeface="Calibri" pitchFamily="34" charset="-122"/>
                <a:cs typeface="Calibri" pitchFamily="34" charset="-120"/>
              </a:rPr>
              <a:t>packets</a:t>
            </a:r>
            <a:r>
              <a:rPr lang="en-US" sz="1400" dirty="0">
                <a:solidFill>
                  <a:srgbClr val="AEC3DD"/>
                </a:solidFill>
                <a:latin typeface="Calibri" pitchFamily="34" charset="0"/>
                <a:ea typeface="Calibri" pitchFamily="34" charset="-122"/>
                <a:cs typeface="Calibri" pitchFamily="34" charset="-120"/>
              </a:rPr>
              <a:t> across a network — often the largest network of all: the Internet.</a:t>
            </a:r>
            <a:endParaRPr lang="en-US" sz="1400" dirty="0"/>
          </a:p>
        </p:txBody>
      </p:sp>
      <p:sp>
        <p:nvSpPr>
          <p:cNvPr id="5" name="Shape 3"/>
          <p:cNvSpPr/>
          <p:nvPr/>
        </p:nvSpPr>
        <p:spPr>
          <a:xfrm>
            <a:off x="6537960" y="1783080"/>
            <a:ext cx="822960" cy="822960"/>
          </a:xfrm>
          <a:prstGeom prst="ellipse">
            <a:avLst/>
          </a:prstGeom>
          <a:solidFill>
            <a:srgbClr val="0891B2"/>
          </a:solidFill>
          <a:ln/>
        </p:spPr>
      </p:sp>
      <p:sp>
        <p:nvSpPr>
          <p:cNvPr id="6" name="Text 4"/>
          <p:cNvSpPr/>
          <p:nvPr/>
        </p:nvSpPr>
        <p:spPr>
          <a:xfrm>
            <a:off x="6537960" y="1783080"/>
            <a:ext cx="8229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PC A</a:t>
            </a:r>
            <a:endParaRPr lang="en-US" sz="1200" dirty="0"/>
          </a:p>
        </p:txBody>
      </p:sp>
      <p:sp>
        <p:nvSpPr>
          <p:cNvPr id="7" name="Shape 5"/>
          <p:cNvSpPr/>
          <p:nvPr/>
        </p:nvSpPr>
        <p:spPr>
          <a:xfrm>
            <a:off x="10195560" y="1783080"/>
            <a:ext cx="822960" cy="822960"/>
          </a:xfrm>
          <a:prstGeom prst="ellipse">
            <a:avLst/>
          </a:prstGeom>
          <a:solidFill>
            <a:srgbClr val="0891B2"/>
          </a:solidFill>
          <a:ln/>
        </p:spPr>
      </p:sp>
      <p:sp>
        <p:nvSpPr>
          <p:cNvPr id="8" name="Text 6"/>
          <p:cNvSpPr/>
          <p:nvPr/>
        </p:nvSpPr>
        <p:spPr>
          <a:xfrm>
            <a:off x="10195560" y="1783080"/>
            <a:ext cx="8229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PC B</a:t>
            </a:r>
            <a:endParaRPr lang="en-US" sz="1200" dirty="0"/>
          </a:p>
        </p:txBody>
      </p:sp>
      <p:sp>
        <p:nvSpPr>
          <p:cNvPr id="9" name="Shape 7"/>
          <p:cNvSpPr/>
          <p:nvPr/>
        </p:nvSpPr>
        <p:spPr>
          <a:xfrm>
            <a:off x="8366760" y="1828800"/>
            <a:ext cx="914400" cy="731520"/>
          </a:xfrm>
          <a:prstGeom prst="roundRect">
            <a:avLst>
              <a:gd name="adj" fmla="val 10000"/>
            </a:avLst>
          </a:prstGeom>
          <a:solidFill>
            <a:srgbClr val="13294B"/>
          </a:solidFill>
          <a:ln w="19050">
            <a:solidFill>
              <a:srgbClr val="0891B2"/>
            </a:solidFill>
            <a:prstDash val="solid"/>
          </a:ln>
        </p:spPr>
      </p:sp>
      <p:sp>
        <p:nvSpPr>
          <p:cNvPr id="10" name="Text 8"/>
          <p:cNvSpPr/>
          <p:nvPr/>
        </p:nvSpPr>
        <p:spPr>
          <a:xfrm>
            <a:off x="8366760" y="1828800"/>
            <a:ext cx="914400" cy="731520"/>
          </a:xfrm>
          <a:prstGeom prst="rect">
            <a:avLst/>
          </a:prstGeom>
          <a:noFill/>
          <a:ln/>
        </p:spPr>
        <p:txBody>
          <a:bodyPr wrap="square" lIns="0" tIns="0" rIns="0" bIns="0" rtlCol="0" anchor="ctr"/>
          <a:lstStyle/>
          <a:p>
            <a:pPr marL="0" indent="0" algn="ctr">
              <a:buNone/>
            </a:pPr>
            <a:r>
              <a:rPr lang="en-US" sz="1000" b="1" dirty="0">
                <a:solidFill>
                  <a:srgbClr val="22D3EE"/>
                </a:solidFill>
                <a:latin typeface="Calibri" pitchFamily="34" charset="0"/>
                <a:ea typeface="Calibri" pitchFamily="34" charset="-122"/>
                <a:cs typeface="Calibri" pitchFamily="34" charset="-120"/>
              </a:rPr>
              <a:t>SWITCH</a:t>
            </a:r>
            <a:endParaRPr lang="en-US" sz="1000" dirty="0"/>
          </a:p>
        </p:txBody>
      </p:sp>
      <p:sp>
        <p:nvSpPr>
          <p:cNvPr id="11" name="Shape 9"/>
          <p:cNvSpPr/>
          <p:nvPr/>
        </p:nvSpPr>
        <p:spPr>
          <a:xfrm>
            <a:off x="7360920" y="2194560"/>
            <a:ext cx="1005840" cy="0"/>
          </a:xfrm>
          <a:prstGeom prst="line">
            <a:avLst/>
          </a:prstGeom>
          <a:noFill/>
          <a:ln w="25400">
            <a:solidFill>
              <a:srgbClr val="22D3EE"/>
            </a:solidFill>
            <a:prstDash val="solid"/>
          </a:ln>
        </p:spPr>
      </p:sp>
      <p:sp>
        <p:nvSpPr>
          <p:cNvPr id="12" name="Shape 10"/>
          <p:cNvSpPr/>
          <p:nvPr/>
        </p:nvSpPr>
        <p:spPr>
          <a:xfrm>
            <a:off x="9281160" y="2194560"/>
            <a:ext cx="960120" cy="0"/>
          </a:xfrm>
          <a:prstGeom prst="line">
            <a:avLst/>
          </a:prstGeom>
          <a:noFill/>
          <a:ln w="25400">
            <a:solidFill>
              <a:srgbClr val="22D3EE"/>
            </a:solidFill>
            <a:prstDash val="solid"/>
          </a:ln>
        </p:spPr>
      </p:sp>
      <p:sp>
        <p:nvSpPr>
          <p:cNvPr id="13" name="Text 11"/>
          <p:cNvSpPr/>
          <p:nvPr/>
        </p:nvSpPr>
        <p:spPr>
          <a:xfrm>
            <a:off x="7223760" y="1691640"/>
            <a:ext cx="3566160" cy="274320"/>
          </a:xfrm>
          <a:prstGeom prst="rect">
            <a:avLst/>
          </a:prstGeom>
          <a:noFill/>
          <a:ln/>
        </p:spPr>
        <p:txBody>
          <a:bodyPr wrap="square" rtlCol="0" anchor="ctr"/>
          <a:lstStyle/>
          <a:p>
            <a:pPr marL="0" indent="0" algn="ctr">
              <a:buNone/>
            </a:pPr>
            <a:r>
              <a:rPr lang="en-US" sz="1000" i="1" dirty="0">
                <a:solidFill>
                  <a:srgbClr val="7E93B3"/>
                </a:solidFill>
                <a:latin typeface="Calibri" pitchFamily="34" charset="0"/>
                <a:ea typeface="Calibri" pitchFamily="34" charset="-122"/>
                <a:cs typeface="Calibri" pitchFamily="34" charset="-120"/>
              </a:rPr>
              <a:t>data packets →</a:t>
            </a:r>
            <a:endParaRPr lang="en-US" sz="1000" dirty="0"/>
          </a:p>
        </p:txBody>
      </p:sp>
      <p:sp>
        <p:nvSpPr>
          <p:cNvPr id="14" name="Shape 12"/>
          <p:cNvSpPr/>
          <p:nvPr/>
        </p:nvSpPr>
        <p:spPr>
          <a:xfrm>
            <a:off x="6126480" y="3291840"/>
            <a:ext cx="5394960" cy="1417320"/>
          </a:xfrm>
          <a:prstGeom prst="roundRect">
            <a:avLst>
              <a:gd name="adj" fmla="val 5161"/>
            </a:avLst>
          </a:prstGeom>
          <a:solidFill>
            <a:srgbClr val="13294B"/>
          </a:solidFill>
          <a:ln/>
        </p:spPr>
      </p:sp>
      <p:sp>
        <p:nvSpPr>
          <p:cNvPr id="15" name="Text 13"/>
          <p:cNvSpPr/>
          <p:nvPr/>
        </p:nvSpPr>
        <p:spPr>
          <a:xfrm>
            <a:off x="6355080" y="3429000"/>
            <a:ext cx="4937760" cy="1143000"/>
          </a:xfrm>
          <a:prstGeom prst="rect">
            <a:avLst/>
          </a:prstGeom>
          <a:noFill/>
          <a:ln/>
        </p:spPr>
        <p:txBody>
          <a:bodyPr wrap="square" lIns="0" tIns="0" rIns="0" bIns="0" rtlCol="0" anchor="t"/>
          <a:lstStyle/>
          <a:p>
            <a:pPr marL="0" indent="0">
              <a:lnSpc>
                <a:spcPct val="120000"/>
              </a:lnSpc>
              <a:buNone/>
            </a:pPr>
            <a:r>
              <a:rPr lang="en-US" sz="1100" b="1" dirty="0">
                <a:solidFill>
                  <a:srgbClr val="22D3EE"/>
                </a:solidFill>
                <a:latin typeface="Calibri" pitchFamily="34" charset="0"/>
                <a:ea typeface="Calibri" pitchFamily="34" charset="-122"/>
                <a:cs typeface="Calibri" pitchFamily="34" charset="-120"/>
              </a:rPr>
              <a:t>REAL-WORLD EXAMPLE
</a:t>
            </a:r>
            <a:r>
              <a:rPr lang="en-US" sz="1200" dirty="0">
                <a:solidFill>
                  <a:srgbClr val="AEC3DD"/>
                </a:solidFill>
                <a:latin typeface="Calibri" pitchFamily="34" charset="0"/>
                <a:ea typeface="Calibri" pitchFamily="34" charset="-122"/>
                <a:cs typeface="Calibri" pitchFamily="34" charset="-120"/>
              </a:rPr>
              <a:t>When you send a WhatsApp message, your phone breaks it into packets, sends them over Wi-Fi/mobile data to WhatsApp's servers, which route them across the Internet to your friend's phone — all in milliseconds.</a:t>
            </a:r>
            <a:endParaRPr lang="en-US" sz="1100" dirty="0"/>
          </a:p>
        </p:txBody>
      </p:sp>
      <p:sp>
        <p:nvSpPr>
          <p:cNvPr id="16" name="Shape 14"/>
          <p:cNvSpPr/>
          <p:nvPr/>
        </p:nvSpPr>
        <p:spPr>
          <a:xfrm>
            <a:off x="548640" y="5806440"/>
            <a:ext cx="11091672" cy="566928"/>
          </a:xfrm>
          <a:prstGeom prst="roundRect">
            <a:avLst>
              <a:gd name="adj" fmla="val 12903"/>
            </a:avLst>
          </a:prstGeom>
          <a:solidFill>
            <a:srgbClr val="0F2140"/>
          </a:solidFill>
          <a:ln w="12700">
            <a:solidFill>
              <a:srgbClr val="0891B2"/>
            </a:solidFill>
            <a:prstDash val="solid"/>
          </a:ln>
        </p:spPr>
      </p:sp>
      <p:sp>
        <p:nvSpPr>
          <p:cNvPr id="17" name="Text 15"/>
          <p:cNvSpPr/>
          <p:nvPr/>
        </p:nvSpPr>
        <p:spPr>
          <a:xfrm>
            <a:off x="777240" y="580644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Networking = devices exchanging data through defined rules, over cables or radio waves, so information can travel anywhere.</a:t>
            </a:r>
            <a:endParaRPr lang="en-US" sz="1100" dirty="0"/>
          </a:p>
        </p:txBody>
      </p:sp>
      <p:sp>
        <p:nvSpPr>
          <p:cNvPr id="18" name="Text 1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03</a:t>
            </a:r>
            <a:endParaRPr lang="en-US" sz="1000" dirty="0"/>
          </a:p>
        </p:txBody>
      </p:sp>
      <p:sp>
        <p:nvSpPr>
          <p:cNvPr id="19" name="Text 17"/>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Why Networking?</a:t>
            </a:r>
            <a:endParaRPr lang="en-US" sz="3200" dirty="0"/>
          </a:p>
        </p:txBody>
      </p:sp>
      <p:sp>
        <p:nvSpPr>
          <p:cNvPr id="4" name="Shape 2"/>
          <p:cNvSpPr/>
          <p:nvPr/>
        </p:nvSpPr>
        <p:spPr>
          <a:xfrm>
            <a:off x="548640" y="1691640"/>
            <a:ext cx="2651760" cy="1965960"/>
          </a:xfrm>
          <a:prstGeom prst="roundRect">
            <a:avLst>
              <a:gd name="adj" fmla="val 4186"/>
            </a:avLst>
          </a:prstGeom>
          <a:solidFill>
            <a:srgbClr val="13294B"/>
          </a:solidFill>
          <a:ln/>
        </p:spPr>
      </p:sp>
      <p:sp>
        <p:nvSpPr>
          <p:cNvPr id="5" name="Shape 3"/>
          <p:cNvSpPr/>
          <p:nvPr/>
        </p:nvSpPr>
        <p:spPr>
          <a:xfrm>
            <a:off x="1600200" y="1920240"/>
            <a:ext cx="548640" cy="548640"/>
          </a:xfrm>
          <a:prstGeom prst="ellipse">
            <a:avLst/>
          </a:prstGeom>
          <a:solidFill>
            <a:srgbClr val="0891B2"/>
          </a:solidFill>
          <a:ln/>
        </p:spPr>
      </p:sp>
      <p:sp>
        <p:nvSpPr>
          <p:cNvPr id="6" name="Text 4"/>
          <p:cNvSpPr/>
          <p:nvPr/>
        </p:nvSpPr>
        <p:spPr>
          <a:xfrm>
            <a:off x="1600200" y="19202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p:nvPr/>
        </p:nvSpPr>
        <p:spPr>
          <a:xfrm>
            <a:off x="685800" y="256032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Resource Sharing</a:t>
            </a:r>
            <a:endParaRPr lang="en-US" sz="1300" dirty="0"/>
          </a:p>
        </p:txBody>
      </p:sp>
      <p:sp>
        <p:nvSpPr>
          <p:cNvPr id="8" name="Text 6"/>
          <p:cNvSpPr/>
          <p:nvPr/>
        </p:nvSpPr>
        <p:spPr>
          <a:xfrm>
            <a:off x="713232" y="292608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Share printers, storage, and files across devices</a:t>
            </a:r>
            <a:endParaRPr lang="en-US" sz="1050" dirty="0"/>
          </a:p>
        </p:txBody>
      </p:sp>
      <p:sp>
        <p:nvSpPr>
          <p:cNvPr id="9" name="Shape 7"/>
          <p:cNvSpPr/>
          <p:nvPr/>
        </p:nvSpPr>
        <p:spPr>
          <a:xfrm>
            <a:off x="3383280" y="1691640"/>
            <a:ext cx="2651760" cy="1965960"/>
          </a:xfrm>
          <a:prstGeom prst="roundRect">
            <a:avLst>
              <a:gd name="adj" fmla="val 4186"/>
            </a:avLst>
          </a:prstGeom>
          <a:solidFill>
            <a:srgbClr val="13294B"/>
          </a:solidFill>
          <a:ln/>
        </p:spPr>
      </p:sp>
      <p:sp>
        <p:nvSpPr>
          <p:cNvPr id="10" name="Shape 8"/>
          <p:cNvSpPr/>
          <p:nvPr/>
        </p:nvSpPr>
        <p:spPr>
          <a:xfrm>
            <a:off x="4434840" y="1920240"/>
            <a:ext cx="548640" cy="548640"/>
          </a:xfrm>
          <a:prstGeom prst="ellipse">
            <a:avLst/>
          </a:prstGeom>
          <a:solidFill>
            <a:srgbClr val="0891B2"/>
          </a:solidFill>
          <a:ln/>
        </p:spPr>
      </p:sp>
      <p:sp>
        <p:nvSpPr>
          <p:cNvPr id="11" name="Text 9"/>
          <p:cNvSpPr/>
          <p:nvPr/>
        </p:nvSpPr>
        <p:spPr>
          <a:xfrm>
            <a:off x="4434840" y="19202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2" name="Text 10"/>
          <p:cNvSpPr/>
          <p:nvPr/>
        </p:nvSpPr>
        <p:spPr>
          <a:xfrm>
            <a:off x="3520440" y="256032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Communication</a:t>
            </a:r>
            <a:endParaRPr lang="en-US" sz="1300" dirty="0"/>
          </a:p>
        </p:txBody>
      </p:sp>
      <p:sp>
        <p:nvSpPr>
          <p:cNvPr id="13" name="Text 11"/>
          <p:cNvSpPr/>
          <p:nvPr/>
        </p:nvSpPr>
        <p:spPr>
          <a:xfrm>
            <a:off x="3547872" y="292608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Email, chat, and video calls in real time</a:t>
            </a:r>
            <a:endParaRPr lang="en-US" sz="1050" dirty="0"/>
          </a:p>
        </p:txBody>
      </p:sp>
      <p:sp>
        <p:nvSpPr>
          <p:cNvPr id="14" name="Shape 12"/>
          <p:cNvSpPr/>
          <p:nvPr/>
        </p:nvSpPr>
        <p:spPr>
          <a:xfrm>
            <a:off x="6217920" y="1691640"/>
            <a:ext cx="2651760" cy="1965960"/>
          </a:xfrm>
          <a:prstGeom prst="roundRect">
            <a:avLst>
              <a:gd name="adj" fmla="val 4186"/>
            </a:avLst>
          </a:prstGeom>
          <a:solidFill>
            <a:srgbClr val="13294B"/>
          </a:solidFill>
          <a:ln/>
        </p:spPr>
      </p:sp>
      <p:sp>
        <p:nvSpPr>
          <p:cNvPr id="15" name="Shape 13"/>
          <p:cNvSpPr/>
          <p:nvPr/>
        </p:nvSpPr>
        <p:spPr>
          <a:xfrm>
            <a:off x="7269480" y="1920240"/>
            <a:ext cx="548640" cy="548640"/>
          </a:xfrm>
          <a:prstGeom prst="ellipse">
            <a:avLst/>
          </a:prstGeom>
          <a:solidFill>
            <a:srgbClr val="0891B2"/>
          </a:solidFill>
          <a:ln/>
        </p:spPr>
      </p:sp>
      <p:sp>
        <p:nvSpPr>
          <p:cNvPr id="16" name="Text 14"/>
          <p:cNvSpPr/>
          <p:nvPr/>
        </p:nvSpPr>
        <p:spPr>
          <a:xfrm>
            <a:off x="7269480" y="19202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6355080" y="256032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Internet Access</a:t>
            </a:r>
            <a:endParaRPr lang="en-US" sz="1300" dirty="0"/>
          </a:p>
        </p:txBody>
      </p:sp>
      <p:sp>
        <p:nvSpPr>
          <p:cNvPr id="18" name="Text 16"/>
          <p:cNvSpPr/>
          <p:nvPr/>
        </p:nvSpPr>
        <p:spPr>
          <a:xfrm>
            <a:off x="6382512" y="292608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Shared gateway to the global web</a:t>
            </a:r>
            <a:endParaRPr lang="en-US" sz="1050" dirty="0"/>
          </a:p>
        </p:txBody>
      </p:sp>
      <p:sp>
        <p:nvSpPr>
          <p:cNvPr id="19" name="Shape 17"/>
          <p:cNvSpPr/>
          <p:nvPr/>
        </p:nvSpPr>
        <p:spPr>
          <a:xfrm>
            <a:off x="9052560" y="1691640"/>
            <a:ext cx="2651760" cy="1965960"/>
          </a:xfrm>
          <a:prstGeom prst="roundRect">
            <a:avLst>
              <a:gd name="adj" fmla="val 4186"/>
            </a:avLst>
          </a:prstGeom>
          <a:solidFill>
            <a:srgbClr val="13294B"/>
          </a:solidFill>
          <a:ln/>
        </p:spPr>
      </p:sp>
      <p:sp>
        <p:nvSpPr>
          <p:cNvPr id="20" name="Shape 18"/>
          <p:cNvSpPr/>
          <p:nvPr/>
        </p:nvSpPr>
        <p:spPr>
          <a:xfrm>
            <a:off x="10104120" y="1920240"/>
            <a:ext cx="548640" cy="548640"/>
          </a:xfrm>
          <a:prstGeom prst="ellipse">
            <a:avLst/>
          </a:prstGeom>
          <a:solidFill>
            <a:srgbClr val="0891B2"/>
          </a:solidFill>
          <a:ln/>
        </p:spPr>
      </p:sp>
      <p:sp>
        <p:nvSpPr>
          <p:cNvPr id="21" name="Text 19"/>
          <p:cNvSpPr/>
          <p:nvPr/>
        </p:nvSpPr>
        <p:spPr>
          <a:xfrm>
            <a:off x="10104120" y="19202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2" name="Text 20"/>
          <p:cNvSpPr/>
          <p:nvPr/>
        </p:nvSpPr>
        <p:spPr>
          <a:xfrm>
            <a:off x="9189720" y="256032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Collaboration</a:t>
            </a:r>
            <a:endParaRPr lang="en-US" sz="1300" dirty="0"/>
          </a:p>
        </p:txBody>
      </p:sp>
      <p:sp>
        <p:nvSpPr>
          <p:cNvPr id="23" name="Text 21"/>
          <p:cNvSpPr/>
          <p:nvPr/>
        </p:nvSpPr>
        <p:spPr>
          <a:xfrm>
            <a:off x="9217152" y="292608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Multiple users work on shared documents/apps</a:t>
            </a:r>
            <a:endParaRPr lang="en-US" sz="1050" dirty="0"/>
          </a:p>
        </p:txBody>
      </p:sp>
      <p:sp>
        <p:nvSpPr>
          <p:cNvPr id="24" name="Shape 22"/>
          <p:cNvSpPr/>
          <p:nvPr/>
        </p:nvSpPr>
        <p:spPr>
          <a:xfrm>
            <a:off x="548640" y="3886200"/>
            <a:ext cx="2651760" cy="1965960"/>
          </a:xfrm>
          <a:prstGeom prst="roundRect">
            <a:avLst>
              <a:gd name="adj" fmla="val 4186"/>
            </a:avLst>
          </a:prstGeom>
          <a:solidFill>
            <a:srgbClr val="13294B"/>
          </a:solidFill>
          <a:ln/>
        </p:spPr>
      </p:sp>
      <p:sp>
        <p:nvSpPr>
          <p:cNvPr id="25" name="Shape 23"/>
          <p:cNvSpPr/>
          <p:nvPr/>
        </p:nvSpPr>
        <p:spPr>
          <a:xfrm>
            <a:off x="1600200" y="4114800"/>
            <a:ext cx="548640" cy="548640"/>
          </a:xfrm>
          <a:prstGeom prst="ellipse">
            <a:avLst/>
          </a:prstGeom>
          <a:solidFill>
            <a:srgbClr val="0891B2"/>
          </a:solidFill>
          <a:ln/>
        </p:spPr>
      </p:sp>
      <p:sp>
        <p:nvSpPr>
          <p:cNvPr id="26" name="Text 24"/>
          <p:cNvSpPr/>
          <p:nvPr/>
        </p:nvSpPr>
        <p:spPr>
          <a:xfrm>
            <a:off x="1600200" y="41148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a:t>
            </a:r>
            <a:endParaRPr lang="en-US" sz="1600" dirty="0"/>
          </a:p>
        </p:txBody>
      </p:sp>
      <p:sp>
        <p:nvSpPr>
          <p:cNvPr id="27" name="Text 25"/>
          <p:cNvSpPr/>
          <p:nvPr/>
        </p:nvSpPr>
        <p:spPr>
          <a:xfrm>
            <a:off x="685800" y="47548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Centralized Mgmt.</a:t>
            </a:r>
            <a:endParaRPr lang="en-US" sz="1300" dirty="0"/>
          </a:p>
        </p:txBody>
      </p:sp>
      <p:sp>
        <p:nvSpPr>
          <p:cNvPr id="28" name="Text 26"/>
          <p:cNvSpPr/>
          <p:nvPr/>
        </p:nvSpPr>
        <p:spPr>
          <a:xfrm>
            <a:off x="713232" y="512064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Administer users, policies &amp; updates from one place</a:t>
            </a:r>
            <a:endParaRPr lang="en-US" sz="1050" dirty="0"/>
          </a:p>
        </p:txBody>
      </p:sp>
      <p:sp>
        <p:nvSpPr>
          <p:cNvPr id="29" name="Shape 27"/>
          <p:cNvSpPr/>
          <p:nvPr/>
        </p:nvSpPr>
        <p:spPr>
          <a:xfrm>
            <a:off x="3383280" y="3886200"/>
            <a:ext cx="2651760" cy="1965960"/>
          </a:xfrm>
          <a:prstGeom prst="roundRect">
            <a:avLst>
              <a:gd name="adj" fmla="val 4186"/>
            </a:avLst>
          </a:prstGeom>
          <a:solidFill>
            <a:srgbClr val="13294B"/>
          </a:solidFill>
          <a:ln/>
        </p:spPr>
      </p:sp>
      <p:sp>
        <p:nvSpPr>
          <p:cNvPr id="30" name="Shape 28"/>
          <p:cNvSpPr/>
          <p:nvPr/>
        </p:nvSpPr>
        <p:spPr>
          <a:xfrm>
            <a:off x="4434840" y="4114800"/>
            <a:ext cx="548640" cy="548640"/>
          </a:xfrm>
          <a:prstGeom prst="ellipse">
            <a:avLst/>
          </a:prstGeom>
          <a:solidFill>
            <a:srgbClr val="0891B2"/>
          </a:solidFill>
          <a:ln/>
        </p:spPr>
      </p:sp>
      <p:sp>
        <p:nvSpPr>
          <p:cNvPr id="31" name="Text 29"/>
          <p:cNvSpPr/>
          <p:nvPr/>
        </p:nvSpPr>
        <p:spPr>
          <a:xfrm>
            <a:off x="4434840" y="41148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t>
            </a:r>
            <a:endParaRPr lang="en-US" sz="1600" dirty="0"/>
          </a:p>
        </p:txBody>
      </p:sp>
      <p:sp>
        <p:nvSpPr>
          <p:cNvPr id="32" name="Text 30"/>
          <p:cNvSpPr/>
          <p:nvPr/>
        </p:nvSpPr>
        <p:spPr>
          <a:xfrm>
            <a:off x="3520440" y="47548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Security</a:t>
            </a:r>
            <a:endParaRPr lang="en-US" sz="1300" dirty="0"/>
          </a:p>
        </p:txBody>
      </p:sp>
      <p:sp>
        <p:nvSpPr>
          <p:cNvPr id="33" name="Text 31"/>
          <p:cNvSpPr/>
          <p:nvPr/>
        </p:nvSpPr>
        <p:spPr>
          <a:xfrm>
            <a:off x="3547872" y="512064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Apply firewalls &amp; access controls network-wide</a:t>
            </a:r>
            <a:endParaRPr lang="en-US" sz="1050" dirty="0"/>
          </a:p>
        </p:txBody>
      </p:sp>
      <p:sp>
        <p:nvSpPr>
          <p:cNvPr id="34" name="Shape 32"/>
          <p:cNvSpPr/>
          <p:nvPr/>
        </p:nvSpPr>
        <p:spPr>
          <a:xfrm>
            <a:off x="6217920" y="3886200"/>
            <a:ext cx="2651760" cy="1965960"/>
          </a:xfrm>
          <a:prstGeom prst="roundRect">
            <a:avLst>
              <a:gd name="adj" fmla="val 4186"/>
            </a:avLst>
          </a:prstGeom>
          <a:solidFill>
            <a:srgbClr val="13294B"/>
          </a:solidFill>
          <a:ln/>
        </p:spPr>
      </p:sp>
      <p:sp>
        <p:nvSpPr>
          <p:cNvPr id="35" name="Shape 33"/>
          <p:cNvSpPr/>
          <p:nvPr/>
        </p:nvSpPr>
        <p:spPr>
          <a:xfrm>
            <a:off x="7269480" y="4114800"/>
            <a:ext cx="548640" cy="548640"/>
          </a:xfrm>
          <a:prstGeom prst="ellipse">
            <a:avLst/>
          </a:prstGeom>
          <a:solidFill>
            <a:srgbClr val="0891B2"/>
          </a:solidFill>
          <a:ln/>
        </p:spPr>
      </p:sp>
      <p:sp>
        <p:nvSpPr>
          <p:cNvPr id="36" name="Text 34"/>
          <p:cNvSpPr/>
          <p:nvPr/>
        </p:nvSpPr>
        <p:spPr>
          <a:xfrm>
            <a:off x="7269480" y="41148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37" name="Text 35"/>
          <p:cNvSpPr/>
          <p:nvPr/>
        </p:nvSpPr>
        <p:spPr>
          <a:xfrm>
            <a:off x="6355080" y="47548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Cost Saving</a:t>
            </a:r>
            <a:endParaRPr lang="en-US" sz="1300" dirty="0"/>
          </a:p>
        </p:txBody>
      </p:sp>
      <p:sp>
        <p:nvSpPr>
          <p:cNvPr id="38" name="Text 36"/>
          <p:cNvSpPr/>
          <p:nvPr/>
        </p:nvSpPr>
        <p:spPr>
          <a:xfrm>
            <a:off x="6382512" y="5120640"/>
            <a:ext cx="2322576" cy="640080"/>
          </a:xfrm>
          <a:prstGeom prst="rect">
            <a:avLst/>
          </a:prstGeom>
          <a:noFill/>
          <a:ln/>
        </p:spPr>
        <p:txBody>
          <a:bodyPr wrap="square" lIns="0" tIns="0" rIns="0" bIns="0" rtlCol="0" anchor="ctr"/>
          <a:lstStyle/>
          <a:p>
            <a:pPr marL="0" indent="0" algn="ctr">
              <a:buNone/>
            </a:pPr>
            <a:r>
              <a:rPr lang="en-US" sz="1050" dirty="0">
                <a:solidFill>
                  <a:srgbClr val="AEC3DD"/>
                </a:solidFill>
                <a:latin typeface="Calibri" pitchFamily="34" charset="0"/>
                <a:ea typeface="Calibri" pitchFamily="34" charset="-122"/>
                <a:cs typeface="Calibri" pitchFamily="34" charset="-120"/>
              </a:rPr>
              <a:t>One resource serves many users, cutting expenses</a:t>
            </a:r>
            <a:endParaRPr lang="en-US" sz="1050" dirty="0"/>
          </a:p>
        </p:txBody>
      </p:sp>
      <p:sp>
        <p:nvSpPr>
          <p:cNvPr id="39" name="Text 3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04</a:t>
            </a:r>
            <a:endParaRPr lang="en-US" sz="1000" dirty="0"/>
          </a:p>
        </p:txBody>
      </p:sp>
      <p:sp>
        <p:nvSpPr>
          <p:cNvPr id="40" name="Text 38"/>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Types of Networks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2331720"/>
        </p:xfrm>
        <a:graphic>
          <a:graphicData uri="http://schemas.openxmlformats.org/drawingml/2006/table">
            <a:tbl>
              <a:tblPr/>
              <a:tblGrid>
                <a:gridCol w="15544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3319272">
                  <a:extLst>
                    <a:ext uri="{9D8B030D-6E8A-4147-A177-3AD203B41FA5}">
                      <a16:colId xmlns:a16="http://schemas.microsoft.com/office/drawing/2014/main" val="20004"/>
                    </a:ext>
                  </a:extLst>
                </a:gridCol>
              </a:tblGrid>
              <a:tr h="0">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PAN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~10 m</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Individual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Bluetooth earbuds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LAN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Building/Campus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Very High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Organization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Office/School network</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Multiple buildings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Institution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University campus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MAN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City-wide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ISP/Municipality</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City cable network</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WAN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Country/Global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Telecom/ISP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The Internet backbone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Data center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Very High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Organization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Storage array network</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VPN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Virtual / Global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Depends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User/Org</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Secure remote work</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Internet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Global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Distributed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Worldwide network of networks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8"/>
                  </a:ext>
                </a:extLst>
              </a:tr>
            </a:tbl>
          </a:graphicData>
        </a:graphic>
      </p:graphicFrame>
      <p:sp>
        <p:nvSpPr>
          <p:cNvPr id="5" name="Text 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05</a:t>
            </a:r>
            <a:endParaRPr lang="en-US" sz="1000" dirty="0"/>
          </a:p>
        </p:txBody>
      </p:sp>
      <p:sp>
        <p:nvSpPr>
          <p:cNvPr id="4" name="Text 3"/>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Network Topologies</a:t>
            </a:r>
            <a:endParaRPr lang="en-US" sz="3200" dirty="0"/>
          </a:p>
        </p:txBody>
      </p:sp>
      <p:sp>
        <p:nvSpPr>
          <p:cNvPr id="4" name="Shape 2"/>
          <p:cNvSpPr/>
          <p:nvPr/>
        </p:nvSpPr>
        <p:spPr>
          <a:xfrm>
            <a:off x="548640" y="1572768"/>
            <a:ext cx="3639312" cy="2148840"/>
          </a:xfrm>
          <a:prstGeom prst="roundRect">
            <a:avLst>
              <a:gd name="adj" fmla="val 3404"/>
            </a:avLst>
          </a:prstGeom>
          <a:solidFill>
            <a:srgbClr val="13294B"/>
          </a:solidFill>
          <a:ln/>
        </p:spPr>
      </p:sp>
      <p:sp>
        <p:nvSpPr>
          <p:cNvPr id="5" name="Text 3"/>
          <p:cNvSpPr/>
          <p:nvPr/>
        </p:nvSpPr>
        <p:spPr>
          <a:xfrm>
            <a:off x="685800" y="1645920"/>
            <a:ext cx="336499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Bus</a:t>
            </a:r>
            <a:endParaRPr lang="en-US" sz="1300" dirty="0"/>
          </a:p>
        </p:txBody>
      </p:sp>
      <p:sp>
        <p:nvSpPr>
          <p:cNvPr id="6" name="Shape 4"/>
          <p:cNvSpPr/>
          <p:nvPr/>
        </p:nvSpPr>
        <p:spPr>
          <a:xfrm>
            <a:off x="868680" y="2372868"/>
            <a:ext cx="2999232" cy="9144"/>
          </a:xfrm>
          <a:prstGeom prst="line">
            <a:avLst/>
          </a:prstGeom>
          <a:noFill/>
          <a:ln w="15875">
            <a:solidFill>
              <a:srgbClr val="0891B2"/>
            </a:solidFill>
            <a:prstDash val="solid"/>
          </a:ln>
        </p:spPr>
      </p:sp>
      <p:sp>
        <p:nvSpPr>
          <p:cNvPr id="7" name="Shape 5"/>
          <p:cNvSpPr/>
          <p:nvPr/>
        </p:nvSpPr>
        <p:spPr>
          <a:xfrm>
            <a:off x="905256" y="2318004"/>
            <a:ext cx="109728" cy="109728"/>
          </a:xfrm>
          <a:prstGeom prst="ellipse">
            <a:avLst/>
          </a:prstGeom>
          <a:solidFill>
            <a:srgbClr val="22D3EE"/>
          </a:solidFill>
          <a:ln/>
        </p:spPr>
      </p:sp>
      <p:sp>
        <p:nvSpPr>
          <p:cNvPr id="8" name="Shape 6"/>
          <p:cNvSpPr/>
          <p:nvPr/>
        </p:nvSpPr>
        <p:spPr>
          <a:xfrm flipV="1">
            <a:off x="960120" y="2052828"/>
            <a:ext cx="9144" cy="320040"/>
          </a:xfrm>
          <a:prstGeom prst="line">
            <a:avLst/>
          </a:prstGeom>
          <a:noFill/>
          <a:ln w="15875">
            <a:solidFill>
              <a:srgbClr val="0891B2"/>
            </a:solidFill>
            <a:prstDash val="solid"/>
          </a:ln>
        </p:spPr>
      </p:sp>
      <p:sp>
        <p:nvSpPr>
          <p:cNvPr id="9" name="Shape 7"/>
          <p:cNvSpPr/>
          <p:nvPr/>
        </p:nvSpPr>
        <p:spPr>
          <a:xfrm>
            <a:off x="905256" y="1997964"/>
            <a:ext cx="109728" cy="109728"/>
          </a:xfrm>
          <a:prstGeom prst="ellipse">
            <a:avLst/>
          </a:prstGeom>
          <a:solidFill>
            <a:srgbClr val="22D3EE"/>
          </a:solidFill>
          <a:ln/>
        </p:spPr>
      </p:sp>
      <p:sp>
        <p:nvSpPr>
          <p:cNvPr id="10" name="Shape 8"/>
          <p:cNvSpPr/>
          <p:nvPr/>
        </p:nvSpPr>
        <p:spPr>
          <a:xfrm>
            <a:off x="1844040" y="2318004"/>
            <a:ext cx="109728" cy="109728"/>
          </a:xfrm>
          <a:prstGeom prst="ellipse">
            <a:avLst/>
          </a:prstGeom>
          <a:solidFill>
            <a:srgbClr val="22D3EE"/>
          </a:solidFill>
          <a:ln/>
        </p:spPr>
      </p:sp>
      <p:sp>
        <p:nvSpPr>
          <p:cNvPr id="11" name="Shape 9"/>
          <p:cNvSpPr/>
          <p:nvPr/>
        </p:nvSpPr>
        <p:spPr>
          <a:xfrm flipV="1">
            <a:off x="1898904" y="2052828"/>
            <a:ext cx="9144" cy="320040"/>
          </a:xfrm>
          <a:prstGeom prst="line">
            <a:avLst/>
          </a:prstGeom>
          <a:noFill/>
          <a:ln w="15875">
            <a:solidFill>
              <a:srgbClr val="0891B2"/>
            </a:solidFill>
            <a:prstDash val="solid"/>
          </a:ln>
        </p:spPr>
      </p:sp>
      <p:sp>
        <p:nvSpPr>
          <p:cNvPr id="12" name="Shape 10"/>
          <p:cNvSpPr/>
          <p:nvPr/>
        </p:nvSpPr>
        <p:spPr>
          <a:xfrm>
            <a:off x="1844040" y="1997964"/>
            <a:ext cx="109728" cy="109728"/>
          </a:xfrm>
          <a:prstGeom prst="ellipse">
            <a:avLst/>
          </a:prstGeom>
          <a:solidFill>
            <a:srgbClr val="22D3EE"/>
          </a:solidFill>
          <a:ln/>
        </p:spPr>
      </p:sp>
      <p:sp>
        <p:nvSpPr>
          <p:cNvPr id="13" name="Shape 11"/>
          <p:cNvSpPr/>
          <p:nvPr/>
        </p:nvSpPr>
        <p:spPr>
          <a:xfrm>
            <a:off x="2782824" y="2318004"/>
            <a:ext cx="109728" cy="109728"/>
          </a:xfrm>
          <a:prstGeom prst="ellipse">
            <a:avLst/>
          </a:prstGeom>
          <a:solidFill>
            <a:srgbClr val="22D3EE"/>
          </a:solidFill>
          <a:ln/>
        </p:spPr>
      </p:sp>
      <p:sp>
        <p:nvSpPr>
          <p:cNvPr id="14" name="Shape 12"/>
          <p:cNvSpPr/>
          <p:nvPr/>
        </p:nvSpPr>
        <p:spPr>
          <a:xfrm flipV="1">
            <a:off x="2837688" y="2052828"/>
            <a:ext cx="9144" cy="320040"/>
          </a:xfrm>
          <a:prstGeom prst="line">
            <a:avLst/>
          </a:prstGeom>
          <a:noFill/>
          <a:ln w="15875">
            <a:solidFill>
              <a:srgbClr val="0891B2"/>
            </a:solidFill>
            <a:prstDash val="solid"/>
          </a:ln>
        </p:spPr>
      </p:sp>
      <p:sp>
        <p:nvSpPr>
          <p:cNvPr id="15" name="Shape 13"/>
          <p:cNvSpPr/>
          <p:nvPr/>
        </p:nvSpPr>
        <p:spPr>
          <a:xfrm>
            <a:off x="2782824" y="1997964"/>
            <a:ext cx="109728" cy="109728"/>
          </a:xfrm>
          <a:prstGeom prst="ellipse">
            <a:avLst/>
          </a:prstGeom>
          <a:solidFill>
            <a:srgbClr val="22D3EE"/>
          </a:solidFill>
          <a:ln/>
        </p:spPr>
      </p:sp>
      <p:sp>
        <p:nvSpPr>
          <p:cNvPr id="16" name="Shape 14"/>
          <p:cNvSpPr/>
          <p:nvPr/>
        </p:nvSpPr>
        <p:spPr>
          <a:xfrm>
            <a:off x="3721608" y="2318004"/>
            <a:ext cx="109728" cy="109728"/>
          </a:xfrm>
          <a:prstGeom prst="ellipse">
            <a:avLst/>
          </a:prstGeom>
          <a:solidFill>
            <a:srgbClr val="22D3EE"/>
          </a:solidFill>
          <a:ln/>
        </p:spPr>
      </p:sp>
      <p:sp>
        <p:nvSpPr>
          <p:cNvPr id="17" name="Shape 15"/>
          <p:cNvSpPr/>
          <p:nvPr/>
        </p:nvSpPr>
        <p:spPr>
          <a:xfrm flipV="1">
            <a:off x="3776472" y="2052828"/>
            <a:ext cx="9144" cy="320040"/>
          </a:xfrm>
          <a:prstGeom prst="line">
            <a:avLst/>
          </a:prstGeom>
          <a:noFill/>
          <a:ln w="15875">
            <a:solidFill>
              <a:srgbClr val="0891B2"/>
            </a:solidFill>
            <a:prstDash val="solid"/>
          </a:ln>
        </p:spPr>
      </p:sp>
      <p:sp>
        <p:nvSpPr>
          <p:cNvPr id="18" name="Shape 16"/>
          <p:cNvSpPr/>
          <p:nvPr/>
        </p:nvSpPr>
        <p:spPr>
          <a:xfrm>
            <a:off x="3721608" y="1997964"/>
            <a:ext cx="109728" cy="109728"/>
          </a:xfrm>
          <a:prstGeom prst="ellipse">
            <a:avLst/>
          </a:prstGeom>
          <a:solidFill>
            <a:srgbClr val="22D3EE"/>
          </a:solidFill>
          <a:ln/>
        </p:spPr>
      </p:sp>
      <p:sp>
        <p:nvSpPr>
          <p:cNvPr id="19" name="Text 17"/>
          <p:cNvSpPr/>
          <p:nvPr/>
        </p:nvSpPr>
        <p:spPr>
          <a:xfrm>
            <a:off x="685800" y="2926080"/>
            <a:ext cx="3364992" cy="548640"/>
          </a:xfrm>
          <a:prstGeom prst="rect">
            <a:avLst/>
          </a:prstGeom>
          <a:noFill/>
          <a:ln/>
        </p:spPr>
        <p:txBody>
          <a:bodyPr wrap="square" lIns="0" tIns="0" rIns="0" bIns="0" rtlCol="0" anchor="t"/>
          <a:lstStyle/>
          <a:p>
            <a:pPr marL="0" indent="0">
              <a:lnSpc>
                <a:spcPct val="110000"/>
              </a:lnSpc>
              <a:buNone/>
            </a:pPr>
            <a:r>
              <a:rPr lang="en-US" b="1" dirty="0">
                <a:solidFill>
                  <a:srgbClr val="34D399"/>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Simple, cheap cabling
</a:t>
            </a:r>
            <a:r>
              <a:rPr lang="en-US" sz="950" b="1" dirty="0">
                <a:solidFill>
                  <a:srgbClr val="F87171"/>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One break stops all</a:t>
            </a:r>
            <a:endParaRPr lang="en-US" sz="950" dirty="0"/>
          </a:p>
        </p:txBody>
      </p:sp>
      <p:sp>
        <p:nvSpPr>
          <p:cNvPr id="20" name="Text 18"/>
          <p:cNvSpPr/>
          <p:nvPr/>
        </p:nvSpPr>
        <p:spPr>
          <a:xfrm>
            <a:off x="685800" y="3429000"/>
            <a:ext cx="3364992" cy="256032"/>
          </a:xfrm>
          <a:prstGeom prst="rect">
            <a:avLst/>
          </a:prstGeom>
          <a:noFill/>
          <a:ln/>
        </p:spPr>
        <p:txBody>
          <a:bodyPr wrap="square" lIns="0" tIns="0" rIns="0" bIns="0" rtlCol="0" anchor="ctr"/>
          <a:lstStyle/>
          <a:p>
            <a:pPr marL="0" indent="0">
              <a:buNone/>
            </a:pPr>
            <a:r>
              <a:rPr lang="en-US" sz="900" i="1" dirty="0">
                <a:solidFill>
                  <a:srgbClr val="22D3EE"/>
                </a:solidFill>
                <a:latin typeface="Calibri" pitchFamily="34" charset="0"/>
                <a:ea typeface="Calibri" pitchFamily="34" charset="-122"/>
                <a:cs typeface="Calibri" pitchFamily="34" charset="-120"/>
              </a:rPr>
              <a:t>Small labs, legacy setups</a:t>
            </a:r>
            <a:endParaRPr lang="en-US" sz="900" dirty="0"/>
          </a:p>
        </p:txBody>
      </p:sp>
      <p:sp>
        <p:nvSpPr>
          <p:cNvPr id="21" name="Shape 19"/>
          <p:cNvSpPr/>
          <p:nvPr/>
        </p:nvSpPr>
        <p:spPr>
          <a:xfrm>
            <a:off x="4325112" y="1572768"/>
            <a:ext cx="3639312" cy="2148840"/>
          </a:xfrm>
          <a:prstGeom prst="roundRect">
            <a:avLst>
              <a:gd name="adj" fmla="val 3404"/>
            </a:avLst>
          </a:prstGeom>
          <a:solidFill>
            <a:srgbClr val="13294B"/>
          </a:solidFill>
          <a:ln/>
        </p:spPr>
      </p:sp>
      <p:sp>
        <p:nvSpPr>
          <p:cNvPr id="22" name="Text 20"/>
          <p:cNvSpPr/>
          <p:nvPr/>
        </p:nvSpPr>
        <p:spPr>
          <a:xfrm>
            <a:off x="4462272" y="1645920"/>
            <a:ext cx="336499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Star</a:t>
            </a:r>
            <a:endParaRPr lang="en-US" sz="1300" dirty="0"/>
          </a:p>
        </p:txBody>
      </p:sp>
      <p:sp>
        <p:nvSpPr>
          <p:cNvPr id="23" name="Shape 21"/>
          <p:cNvSpPr/>
          <p:nvPr/>
        </p:nvSpPr>
        <p:spPr>
          <a:xfrm>
            <a:off x="6089904" y="2318004"/>
            <a:ext cx="109728" cy="109728"/>
          </a:xfrm>
          <a:prstGeom prst="ellipse">
            <a:avLst/>
          </a:prstGeom>
          <a:solidFill>
            <a:srgbClr val="22D3EE"/>
          </a:solidFill>
          <a:ln/>
        </p:spPr>
      </p:sp>
      <p:sp>
        <p:nvSpPr>
          <p:cNvPr id="24" name="Shape 22"/>
          <p:cNvSpPr/>
          <p:nvPr/>
        </p:nvSpPr>
        <p:spPr>
          <a:xfrm flipV="1">
            <a:off x="5504688" y="2007108"/>
            <a:ext cx="640080" cy="365760"/>
          </a:xfrm>
          <a:prstGeom prst="line">
            <a:avLst/>
          </a:prstGeom>
          <a:noFill/>
          <a:ln w="15875">
            <a:solidFill>
              <a:srgbClr val="0891B2"/>
            </a:solidFill>
            <a:prstDash val="solid"/>
          </a:ln>
        </p:spPr>
      </p:sp>
      <p:sp>
        <p:nvSpPr>
          <p:cNvPr id="25" name="Shape 23"/>
          <p:cNvSpPr/>
          <p:nvPr/>
        </p:nvSpPr>
        <p:spPr>
          <a:xfrm>
            <a:off x="5449824" y="1952244"/>
            <a:ext cx="109728" cy="109728"/>
          </a:xfrm>
          <a:prstGeom prst="ellipse">
            <a:avLst/>
          </a:prstGeom>
          <a:solidFill>
            <a:srgbClr val="22D3EE"/>
          </a:solidFill>
          <a:ln/>
        </p:spPr>
      </p:sp>
      <p:sp>
        <p:nvSpPr>
          <p:cNvPr id="26" name="Shape 24"/>
          <p:cNvSpPr/>
          <p:nvPr/>
        </p:nvSpPr>
        <p:spPr>
          <a:xfrm flipV="1">
            <a:off x="6144768" y="2007108"/>
            <a:ext cx="640080" cy="365760"/>
          </a:xfrm>
          <a:prstGeom prst="line">
            <a:avLst/>
          </a:prstGeom>
          <a:noFill/>
          <a:ln w="15875">
            <a:solidFill>
              <a:srgbClr val="0891B2"/>
            </a:solidFill>
            <a:prstDash val="solid"/>
          </a:ln>
        </p:spPr>
      </p:sp>
      <p:sp>
        <p:nvSpPr>
          <p:cNvPr id="27" name="Shape 25"/>
          <p:cNvSpPr/>
          <p:nvPr/>
        </p:nvSpPr>
        <p:spPr>
          <a:xfrm>
            <a:off x="6729984" y="1952244"/>
            <a:ext cx="109728" cy="109728"/>
          </a:xfrm>
          <a:prstGeom prst="ellipse">
            <a:avLst/>
          </a:prstGeom>
          <a:solidFill>
            <a:srgbClr val="22D3EE"/>
          </a:solidFill>
          <a:ln/>
        </p:spPr>
      </p:sp>
      <p:sp>
        <p:nvSpPr>
          <p:cNvPr id="28" name="Shape 26"/>
          <p:cNvSpPr/>
          <p:nvPr/>
        </p:nvSpPr>
        <p:spPr>
          <a:xfrm>
            <a:off x="5504688" y="2372868"/>
            <a:ext cx="640080" cy="365760"/>
          </a:xfrm>
          <a:prstGeom prst="line">
            <a:avLst/>
          </a:prstGeom>
          <a:noFill/>
          <a:ln w="15875">
            <a:solidFill>
              <a:srgbClr val="0891B2"/>
            </a:solidFill>
            <a:prstDash val="solid"/>
          </a:ln>
        </p:spPr>
      </p:sp>
      <p:sp>
        <p:nvSpPr>
          <p:cNvPr id="29" name="Shape 27"/>
          <p:cNvSpPr/>
          <p:nvPr/>
        </p:nvSpPr>
        <p:spPr>
          <a:xfrm>
            <a:off x="5449824" y="2683764"/>
            <a:ext cx="109728" cy="109728"/>
          </a:xfrm>
          <a:prstGeom prst="ellipse">
            <a:avLst/>
          </a:prstGeom>
          <a:solidFill>
            <a:srgbClr val="22D3EE"/>
          </a:solidFill>
          <a:ln/>
        </p:spPr>
      </p:sp>
      <p:sp>
        <p:nvSpPr>
          <p:cNvPr id="30" name="Shape 28"/>
          <p:cNvSpPr/>
          <p:nvPr/>
        </p:nvSpPr>
        <p:spPr>
          <a:xfrm>
            <a:off x="6144768" y="2372868"/>
            <a:ext cx="640080" cy="365760"/>
          </a:xfrm>
          <a:prstGeom prst="line">
            <a:avLst/>
          </a:prstGeom>
          <a:noFill/>
          <a:ln w="15875">
            <a:solidFill>
              <a:srgbClr val="0891B2"/>
            </a:solidFill>
            <a:prstDash val="solid"/>
          </a:ln>
        </p:spPr>
      </p:sp>
      <p:sp>
        <p:nvSpPr>
          <p:cNvPr id="31" name="Shape 29"/>
          <p:cNvSpPr/>
          <p:nvPr/>
        </p:nvSpPr>
        <p:spPr>
          <a:xfrm>
            <a:off x="6729984" y="2683764"/>
            <a:ext cx="109728" cy="109728"/>
          </a:xfrm>
          <a:prstGeom prst="ellipse">
            <a:avLst/>
          </a:prstGeom>
          <a:solidFill>
            <a:srgbClr val="22D3EE"/>
          </a:solidFill>
          <a:ln/>
        </p:spPr>
      </p:sp>
      <p:sp>
        <p:nvSpPr>
          <p:cNvPr id="32" name="Shape 30"/>
          <p:cNvSpPr/>
          <p:nvPr/>
        </p:nvSpPr>
        <p:spPr>
          <a:xfrm flipV="1">
            <a:off x="6144768" y="1869948"/>
            <a:ext cx="9144" cy="502920"/>
          </a:xfrm>
          <a:prstGeom prst="line">
            <a:avLst/>
          </a:prstGeom>
          <a:noFill/>
          <a:ln w="15875">
            <a:solidFill>
              <a:srgbClr val="0891B2"/>
            </a:solidFill>
            <a:prstDash val="solid"/>
          </a:ln>
        </p:spPr>
      </p:sp>
      <p:sp>
        <p:nvSpPr>
          <p:cNvPr id="33" name="Shape 31"/>
          <p:cNvSpPr/>
          <p:nvPr/>
        </p:nvSpPr>
        <p:spPr>
          <a:xfrm>
            <a:off x="6089904" y="1815084"/>
            <a:ext cx="109728" cy="109728"/>
          </a:xfrm>
          <a:prstGeom prst="ellipse">
            <a:avLst/>
          </a:prstGeom>
          <a:solidFill>
            <a:srgbClr val="22D3EE"/>
          </a:solidFill>
          <a:ln/>
        </p:spPr>
      </p:sp>
      <p:sp>
        <p:nvSpPr>
          <p:cNvPr id="34" name="Text 32"/>
          <p:cNvSpPr/>
          <p:nvPr/>
        </p:nvSpPr>
        <p:spPr>
          <a:xfrm>
            <a:off x="4462272" y="2926080"/>
            <a:ext cx="3364992" cy="548640"/>
          </a:xfrm>
          <a:prstGeom prst="rect">
            <a:avLst/>
          </a:prstGeom>
          <a:noFill/>
          <a:ln/>
        </p:spPr>
        <p:txBody>
          <a:bodyPr wrap="square" lIns="0" tIns="0" rIns="0" bIns="0" rtlCol="0" anchor="t"/>
          <a:lstStyle/>
          <a:p>
            <a:pPr marL="0" indent="0">
              <a:lnSpc>
                <a:spcPct val="110000"/>
              </a:lnSpc>
              <a:buNone/>
            </a:pPr>
            <a:r>
              <a:rPr lang="en-US" b="1" dirty="0">
                <a:solidFill>
                  <a:srgbClr val="34D399"/>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Easy to manage &amp; isolate faults
</a:t>
            </a:r>
            <a:r>
              <a:rPr lang="en-US" sz="950" b="1" dirty="0">
                <a:solidFill>
                  <a:srgbClr val="F87171"/>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Central hub is a single point of failure</a:t>
            </a:r>
            <a:endParaRPr lang="en-US" sz="950" dirty="0"/>
          </a:p>
        </p:txBody>
      </p:sp>
      <p:sp>
        <p:nvSpPr>
          <p:cNvPr id="35" name="Text 33"/>
          <p:cNvSpPr/>
          <p:nvPr/>
        </p:nvSpPr>
        <p:spPr>
          <a:xfrm>
            <a:off x="4462272" y="3429000"/>
            <a:ext cx="3364992" cy="256032"/>
          </a:xfrm>
          <a:prstGeom prst="rect">
            <a:avLst/>
          </a:prstGeom>
          <a:noFill/>
          <a:ln/>
        </p:spPr>
        <p:txBody>
          <a:bodyPr wrap="square" lIns="0" tIns="0" rIns="0" bIns="0" rtlCol="0" anchor="ctr"/>
          <a:lstStyle/>
          <a:p>
            <a:pPr marL="0" indent="0">
              <a:buNone/>
            </a:pPr>
            <a:r>
              <a:rPr lang="en-US" sz="900" i="1" dirty="0">
                <a:solidFill>
                  <a:srgbClr val="22D3EE"/>
                </a:solidFill>
                <a:latin typeface="Calibri" pitchFamily="34" charset="0"/>
                <a:ea typeface="Calibri" pitchFamily="34" charset="-122"/>
                <a:cs typeface="Calibri" pitchFamily="34" charset="-120"/>
              </a:rPr>
              <a:t>Home &amp; office LANs</a:t>
            </a:r>
            <a:endParaRPr lang="en-US" sz="900" dirty="0"/>
          </a:p>
        </p:txBody>
      </p:sp>
      <p:sp>
        <p:nvSpPr>
          <p:cNvPr id="36" name="Shape 34"/>
          <p:cNvSpPr/>
          <p:nvPr/>
        </p:nvSpPr>
        <p:spPr>
          <a:xfrm>
            <a:off x="8101584" y="1572768"/>
            <a:ext cx="3639312" cy="2148840"/>
          </a:xfrm>
          <a:prstGeom prst="roundRect">
            <a:avLst>
              <a:gd name="adj" fmla="val 3404"/>
            </a:avLst>
          </a:prstGeom>
          <a:solidFill>
            <a:srgbClr val="13294B"/>
          </a:solidFill>
          <a:ln/>
        </p:spPr>
      </p:sp>
      <p:sp>
        <p:nvSpPr>
          <p:cNvPr id="37" name="Text 35"/>
          <p:cNvSpPr/>
          <p:nvPr/>
        </p:nvSpPr>
        <p:spPr>
          <a:xfrm>
            <a:off x="8238744" y="1645920"/>
            <a:ext cx="336499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Ring</a:t>
            </a:r>
            <a:endParaRPr lang="en-US" sz="1300" dirty="0"/>
          </a:p>
        </p:txBody>
      </p:sp>
      <p:sp>
        <p:nvSpPr>
          <p:cNvPr id="38" name="Shape 36"/>
          <p:cNvSpPr/>
          <p:nvPr/>
        </p:nvSpPr>
        <p:spPr>
          <a:xfrm>
            <a:off x="9921240" y="1915668"/>
            <a:ext cx="395947" cy="228600"/>
          </a:xfrm>
          <a:prstGeom prst="line">
            <a:avLst/>
          </a:prstGeom>
          <a:noFill/>
          <a:ln w="15875">
            <a:solidFill>
              <a:srgbClr val="0891B2"/>
            </a:solidFill>
            <a:prstDash val="solid"/>
          </a:ln>
        </p:spPr>
      </p:sp>
      <p:sp>
        <p:nvSpPr>
          <p:cNvPr id="39" name="Shape 37"/>
          <p:cNvSpPr/>
          <p:nvPr/>
        </p:nvSpPr>
        <p:spPr>
          <a:xfrm>
            <a:off x="9866376" y="1860804"/>
            <a:ext cx="109728" cy="109728"/>
          </a:xfrm>
          <a:prstGeom prst="ellipse">
            <a:avLst/>
          </a:prstGeom>
          <a:solidFill>
            <a:srgbClr val="22D3EE"/>
          </a:solidFill>
          <a:ln/>
        </p:spPr>
      </p:sp>
      <p:sp>
        <p:nvSpPr>
          <p:cNvPr id="40" name="Shape 38"/>
          <p:cNvSpPr/>
          <p:nvPr/>
        </p:nvSpPr>
        <p:spPr>
          <a:xfrm>
            <a:off x="10317187" y="2144268"/>
            <a:ext cx="9144" cy="457200"/>
          </a:xfrm>
          <a:prstGeom prst="line">
            <a:avLst/>
          </a:prstGeom>
          <a:noFill/>
          <a:ln w="15875">
            <a:solidFill>
              <a:srgbClr val="0891B2"/>
            </a:solidFill>
            <a:prstDash val="solid"/>
          </a:ln>
        </p:spPr>
      </p:sp>
      <p:sp>
        <p:nvSpPr>
          <p:cNvPr id="41" name="Shape 39"/>
          <p:cNvSpPr/>
          <p:nvPr/>
        </p:nvSpPr>
        <p:spPr>
          <a:xfrm>
            <a:off x="10262323" y="2089404"/>
            <a:ext cx="109728" cy="109728"/>
          </a:xfrm>
          <a:prstGeom prst="ellipse">
            <a:avLst/>
          </a:prstGeom>
          <a:solidFill>
            <a:srgbClr val="22D3EE"/>
          </a:solidFill>
          <a:ln/>
        </p:spPr>
      </p:sp>
      <p:sp>
        <p:nvSpPr>
          <p:cNvPr id="42" name="Shape 40"/>
          <p:cNvSpPr/>
          <p:nvPr/>
        </p:nvSpPr>
        <p:spPr>
          <a:xfrm>
            <a:off x="9921240" y="2601468"/>
            <a:ext cx="395947" cy="228600"/>
          </a:xfrm>
          <a:prstGeom prst="line">
            <a:avLst/>
          </a:prstGeom>
          <a:noFill/>
          <a:ln w="15875">
            <a:solidFill>
              <a:srgbClr val="0891B2"/>
            </a:solidFill>
            <a:prstDash val="solid"/>
          </a:ln>
        </p:spPr>
      </p:sp>
      <p:sp>
        <p:nvSpPr>
          <p:cNvPr id="43" name="Shape 41"/>
          <p:cNvSpPr/>
          <p:nvPr/>
        </p:nvSpPr>
        <p:spPr>
          <a:xfrm>
            <a:off x="10262323" y="2546604"/>
            <a:ext cx="109728" cy="109728"/>
          </a:xfrm>
          <a:prstGeom prst="ellipse">
            <a:avLst/>
          </a:prstGeom>
          <a:solidFill>
            <a:srgbClr val="22D3EE"/>
          </a:solidFill>
          <a:ln/>
        </p:spPr>
      </p:sp>
      <p:sp>
        <p:nvSpPr>
          <p:cNvPr id="44" name="Shape 42"/>
          <p:cNvSpPr/>
          <p:nvPr/>
        </p:nvSpPr>
        <p:spPr>
          <a:xfrm flipV="1">
            <a:off x="9525293" y="2601468"/>
            <a:ext cx="395947" cy="228600"/>
          </a:xfrm>
          <a:prstGeom prst="line">
            <a:avLst/>
          </a:prstGeom>
          <a:noFill/>
          <a:ln w="15875">
            <a:solidFill>
              <a:srgbClr val="0891B2"/>
            </a:solidFill>
            <a:prstDash val="solid"/>
          </a:ln>
        </p:spPr>
      </p:sp>
      <p:sp>
        <p:nvSpPr>
          <p:cNvPr id="45" name="Shape 43"/>
          <p:cNvSpPr/>
          <p:nvPr/>
        </p:nvSpPr>
        <p:spPr>
          <a:xfrm>
            <a:off x="9866376" y="2775204"/>
            <a:ext cx="109728" cy="109728"/>
          </a:xfrm>
          <a:prstGeom prst="ellipse">
            <a:avLst/>
          </a:prstGeom>
          <a:solidFill>
            <a:srgbClr val="22D3EE"/>
          </a:solidFill>
          <a:ln/>
        </p:spPr>
      </p:sp>
      <p:sp>
        <p:nvSpPr>
          <p:cNvPr id="46" name="Shape 44"/>
          <p:cNvSpPr/>
          <p:nvPr/>
        </p:nvSpPr>
        <p:spPr>
          <a:xfrm flipV="1">
            <a:off x="9525293" y="2144268"/>
            <a:ext cx="9144" cy="457200"/>
          </a:xfrm>
          <a:prstGeom prst="line">
            <a:avLst/>
          </a:prstGeom>
          <a:noFill/>
          <a:ln w="15875">
            <a:solidFill>
              <a:srgbClr val="0891B2"/>
            </a:solidFill>
            <a:prstDash val="solid"/>
          </a:ln>
        </p:spPr>
      </p:sp>
      <p:sp>
        <p:nvSpPr>
          <p:cNvPr id="47" name="Shape 45"/>
          <p:cNvSpPr/>
          <p:nvPr/>
        </p:nvSpPr>
        <p:spPr>
          <a:xfrm>
            <a:off x="9470429" y="2546604"/>
            <a:ext cx="109728" cy="109728"/>
          </a:xfrm>
          <a:prstGeom prst="ellipse">
            <a:avLst/>
          </a:prstGeom>
          <a:solidFill>
            <a:srgbClr val="22D3EE"/>
          </a:solidFill>
          <a:ln/>
        </p:spPr>
      </p:sp>
      <p:sp>
        <p:nvSpPr>
          <p:cNvPr id="48" name="Shape 46"/>
          <p:cNvSpPr/>
          <p:nvPr/>
        </p:nvSpPr>
        <p:spPr>
          <a:xfrm flipV="1">
            <a:off x="9525293" y="1915668"/>
            <a:ext cx="395947" cy="228600"/>
          </a:xfrm>
          <a:prstGeom prst="line">
            <a:avLst/>
          </a:prstGeom>
          <a:noFill/>
          <a:ln w="15875">
            <a:solidFill>
              <a:srgbClr val="0891B2"/>
            </a:solidFill>
            <a:prstDash val="solid"/>
          </a:ln>
        </p:spPr>
      </p:sp>
      <p:sp>
        <p:nvSpPr>
          <p:cNvPr id="49" name="Shape 47"/>
          <p:cNvSpPr/>
          <p:nvPr/>
        </p:nvSpPr>
        <p:spPr>
          <a:xfrm>
            <a:off x="9470429" y="2089404"/>
            <a:ext cx="109728" cy="109728"/>
          </a:xfrm>
          <a:prstGeom prst="ellipse">
            <a:avLst/>
          </a:prstGeom>
          <a:solidFill>
            <a:srgbClr val="22D3EE"/>
          </a:solidFill>
          <a:ln/>
        </p:spPr>
      </p:sp>
      <p:sp>
        <p:nvSpPr>
          <p:cNvPr id="50" name="Text 48"/>
          <p:cNvSpPr/>
          <p:nvPr/>
        </p:nvSpPr>
        <p:spPr>
          <a:xfrm>
            <a:off x="8238744" y="2926080"/>
            <a:ext cx="3364992" cy="548640"/>
          </a:xfrm>
          <a:prstGeom prst="rect">
            <a:avLst/>
          </a:prstGeom>
          <a:noFill/>
          <a:ln/>
        </p:spPr>
        <p:txBody>
          <a:bodyPr wrap="square" lIns="0" tIns="0" rIns="0" bIns="0" rtlCol="0" anchor="t"/>
          <a:lstStyle/>
          <a:p>
            <a:pPr marL="0" indent="0">
              <a:lnSpc>
                <a:spcPct val="110000"/>
              </a:lnSpc>
              <a:buNone/>
            </a:pPr>
            <a:r>
              <a:rPr lang="en-US" b="1" dirty="0">
                <a:solidFill>
                  <a:srgbClr val="34D399"/>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Even data flow, no collisions
</a:t>
            </a:r>
            <a:r>
              <a:rPr lang="en-US" sz="950" b="1" dirty="0">
                <a:solidFill>
                  <a:srgbClr val="F87171"/>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One failure can break the loop</a:t>
            </a:r>
            <a:endParaRPr lang="en-US" sz="950" dirty="0"/>
          </a:p>
        </p:txBody>
      </p:sp>
      <p:sp>
        <p:nvSpPr>
          <p:cNvPr id="51" name="Text 49"/>
          <p:cNvSpPr/>
          <p:nvPr/>
        </p:nvSpPr>
        <p:spPr>
          <a:xfrm>
            <a:off x="8238744" y="3429000"/>
            <a:ext cx="3364992" cy="256032"/>
          </a:xfrm>
          <a:prstGeom prst="rect">
            <a:avLst/>
          </a:prstGeom>
          <a:noFill/>
          <a:ln/>
        </p:spPr>
        <p:txBody>
          <a:bodyPr wrap="square" lIns="0" tIns="0" rIns="0" bIns="0" rtlCol="0" anchor="ctr"/>
          <a:lstStyle/>
          <a:p>
            <a:pPr marL="0" indent="0">
              <a:buNone/>
            </a:pPr>
            <a:r>
              <a:rPr lang="en-US" sz="900" i="1" dirty="0">
                <a:solidFill>
                  <a:srgbClr val="22D3EE"/>
                </a:solidFill>
                <a:latin typeface="Calibri" pitchFamily="34" charset="0"/>
                <a:ea typeface="Calibri" pitchFamily="34" charset="-122"/>
                <a:cs typeface="Calibri" pitchFamily="34" charset="-120"/>
              </a:rPr>
              <a:t>Legacy token-ring/MANs</a:t>
            </a:r>
            <a:endParaRPr lang="en-US" sz="900" dirty="0"/>
          </a:p>
        </p:txBody>
      </p:sp>
      <p:sp>
        <p:nvSpPr>
          <p:cNvPr id="52" name="Shape 50"/>
          <p:cNvSpPr/>
          <p:nvPr/>
        </p:nvSpPr>
        <p:spPr>
          <a:xfrm>
            <a:off x="548640" y="3886200"/>
            <a:ext cx="3639312" cy="2148840"/>
          </a:xfrm>
          <a:prstGeom prst="roundRect">
            <a:avLst>
              <a:gd name="adj" fmla="val 3404"/>
            </a:avLst>
          </a:prstGeom>
          <a:solidFill>
            <a:srgbClr val="13294B"/>
          </a:solidFill>
          <a:ln/>
        </p:spPr>
      </p:sp>
      <p:sp>
        <p:nvSpPr>
          <p:cNvPr id="53" name="Text 51"/>
          <p:cNvSpPr/>
          <p:nvPr/>
        </p:nvSpPr>
        <p:spPr>
          <a:xfrm>
            <a:off x="685800" y="3959352"/>
            <a:ext cx="336499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Mesh</a:t>
            </a:r>
            <a:endParaRPr lang="en-US" sz="1300" dirty="0"/>
          </a:p>
        </p:txBody>
      </p:sp>
      <p:sp>
        <p:nvSpPr>
          <p:cNvPr id="54" name="Shape 52"/>
          <p:cNvSpPr/>
          <p:nvPr/>
        </p:nvSpPr>
        <p:spPr>
          <a:xfrm>
            <a:off x="1819656" y="4320540"/>
            <a:ext cx="1097280" cy="9144"/>
          </a:xfrm>
          <a:prstGeom prst="line">
            <a:avLst/>
          </a:prstGeom>
          <a:noFill/>
          <a:ln w="15875">
            <a:solidFill>
              <a:srgbClr val="0891B2"/>
            </a:solidFill>
            <a:prstDash val="solid"/>
          </a:ln>
        </p:spPr>
      </p:sp>
      <p:sp>
        <p:nvSpPr>
          <p:cNvPr id="55" name="Shape 53"/>
          <p:cNvSpPr/>
          <p:nvPr/>
        </p:nvSpPr>
        <p:spPr>
          <a:xfrm>
            <a:off x="1819656" y="4320540"/>
            <a:ext cx="9144" cy="731520"/>
          </a:xfrm>
          <a:prstGeom prst="line">
            <a:avLst/>
          </a:prstGeom>
          <a:noFill/>
          <a:ln w="15875">
            <a:solidFill>
              <a:srgbClr val="0891B2"/>
            </a:solidFill>
            <a:prstDash val="solid"/>
          </a:ln>
        </p:spPr>
      </p:sp>
      <p:sp>
        <p:nvSpPr>
          <p:cNvPr id="56" name="Shape 54"/>
          <p:cNvSpPr/>
          <p:nvPr/>
        </p:nvSpPr>
        <p:spPr>
          <a:xfrm>
            <a:off x="1819656" y="4320540"/>
            <a:ext cx="1097280" cy="731520"/>
          </a:xfrm>
          <a:prstGeom prst="line">
            <a:avLst/>
          </a:prstGeom>
          <a:noFill/>
          <a:ln w="15875">
            <a:solidFill>
              <a:srgbClr val="0891B2"/>
            </a:solidFill>
            <a:prstDash val="solid"/>
          </a:ln>
        </p:spPr>
      </p:sp>
      <p:sp>
        <p:nvSpPr>
          <p:cNvPr id="57" name="Shape 55"/>
          <p:cNvSpPr/>
          <p:nvPr/>
        </p:nvSpPr>
        <p:spPr>
          <a:xfrm>
            <a:off x="1819656" y="4320540"/>
            <a:ext cx="548640" cy="365760"/>
          </a:xfrm>
          <a:prstGeom prst="line">
            <a:avLst/>
          </a:prstGeom>
          <a:noFill/>
          <a:ln w="15875">
            <a:solidFill>
              <a:srgbClr val="0891B2"/>
            </a:solidFill>
            <a:prstDash val="solid"/>
          </a:ln>
        </p:spPr>
      </p:sp>
      <p:sp>
        <p:nvSpPr>
          <p:cNvPr id="58" name="Shape 56"/>
          <p:cNvSpPr/>
          <p:nvPr/>
        </p:nvSpPr>
        <p:spPr>
          <a:xfrm>
            <a:off x="1819656" y="4320540"/>
            <a:ext cx="1097280" cy="731520"/>
          </a:xfrm>
          <a:prstGeom prst="line">
            <a:avLst/>
          </a:prstGeom>
          <a:noFill/>
          <a:ln w="15875">
            <a:solidFill>
              <a:srgbClr val="0891B2"/>
            </a:solidFill>
            <a:prstDash val="solid"/>
          </a:ln>
        </p:spPr>
      </p:sp>
      <p:sp>
        <p:nvSpPr>
          <p:cNvPr id="59" name="Shape 57"/>
          <p:cNvSpPr/>
          <p:nvPr/>
        </p:nvSpPr>
        <p:spPr>
          <a:xfrm>
            <a:off x="2916936" y="4320540"/>
            <a:ext cx="9144" cy="731520"/>
          </a:xfrm>
          <a:prstGeom prst="line">
            <a:avLst/>
          </a:prstGeom>
          <a:noFill/>
          <a:ln w="15875">
            <a:solidFill>
              <a:srgbClr val="0891B2"/>
            </a:solidFill>
            <a:prstDash val="solid"/>
          </a:ln>
        </p:spPr>
      </p:sp>
      <p:sp>
        <p:nvSpPr>
          <p:cNvPr id="60" name="Shape 58"/>
          <p:cNvSpPr/>
          <p:nvPr/>
        </p:nvSpPr>
        <p:spPr>
          <a:xfrm>
            <a:off x="2368296" y="4320540"/>
            <a:ext cx="548640" cy="365760"/>
          </a:xfrm>
          <a:prstGeom prst="line">
            <a:avLst/>
          </a:prstGeom>
          <a:noFill/>
          <a:ln w="15875">
            <a:solidFill>
              <a:srgbClr val="0891B2"/>
            </a:solidFill>
            <a:prstDash val="solid"/>
          </a:ln>
        </p:spPr>
      </p:sp>
      <p:sp>
        <p:nvSpPr>
          <p:cNvPr id="61" name="Shape 59"/>
          <p:cNvSpPr/>
          <p:nvPr/>
        </p:nvSpPr>
        <p:spPr>
          <a:xfrm>
            <a:off x="1819656" y="5052060"/>
            <a:ext cx="1097280" cy="9144"/>
          </a:xfrm>
          <a:prstGeom prst="line">
            <a:avLst/>
          </a:prstGeom>
          <a:noFill/>
          <a:ln w="15875">
            <a:solidFill>
              <a:srgbClr val="0891B2"/>
            </a:solidFill>
            <a:prstDash val="solid"/>
          </a:ln>
        </p:spPr>
      </p:sp>
      <p:sp>
        <p:nvSpPr>
          <p:cNvPr id="62" name="Shape 60"/>
          <p:cNvSpPr/>
          <p:nvPr/>
        </p:nvSpPr>
        <p:spPr>
          <a:xfrm flipV="1">
            <a:off x="1819656" y="4686300"/>
            <a:ext cx="548640" cy="365760"/>
          </a:xfrm>
          <a:prstGeom prst="line">
            <a:avLst/>
          </a:prstGeom>
          <a:noFill/>
          <a:ln w="15875">
            <a:solidFill>
              <a:srgbClr val="0891B2"/>
            </a:solidFill>
            <a:prstDash val="solid"/>
          </a:ln>
        </p:spPr>
      </p:sp>
      <p:sp>
        <p:nvSpPr>
          <p:cNvPr id="63" name="Shape 61"/>
          <p:cNvSpPr/>
          <p:nvPr/>
        </p:nvSpPr>
        <p:spPr>
          <a:xfrm flipV="1">
            <a:off x="2368296" y="4686300"/>
            <a:ext cx="548640" cy="365760"/>
          </a:xfrm>
          <a:prstGeom prst="line">
            <a:avLst/>
          </a:prstGeom>
          <a:noFill/>
          <a:ln w="15875">
            <a:solidFill>
              <a:srgbClr val="0891B2"/>
            </a:solidFill>
            <a:prstDash val="solid"/>
          </a:ln>
        </p:spPr>
      </p:sp>
      <p:sp>
        <p:nvSpPr>
          <p:cNvPr id="64" name="Shape 62"/>
          <p:cNvSpPr/>
          <p:nvPr/>
        </p:nvSpPr>
        <p:spPr>
          <a:xfrm>
            <a:off x="1764792" y="4265676"/>
            <a:ext cx="109728" cy="109728"/>
          </a:xfrm>
          <a:prstGeom prst="ellipse">
            <a:avLst/>
          </a:prstGeom>
          <a:solidFill>
            <a:srgbClr val="22D3EE"/>
          </a:solidFill>
          <a:ln/>
        </p:spPr>
      </p:sp>
      <p:sp>
        <p:nvSpPr>
          <p:cNvPr id="65" name="Shape 63"/>
          <p:cNvSpPr/>
          <p:nvPr/>
        </p:nvSpPr>
        <p:spPr>
          <a:xfrm>
            <a:off x="2862072" y="4265676"/>
            <a:ext cx="109728" cy="109728"/>
          </a:xfrm>
          <a:prstGeom prst="ellipse">
            <a:avLst/>
          </a:prstGeom>
          <a:solidFill>
            <a:srgbClr val="22D3EE"/>
          </a:solidFill>
          <a:ln/>
        </p:spPr>
      </p:sp>
      <p:sp>
        <p:nvSpPr>
          <p:cNvPr id="66" name="Shape 64"/>
          <p:cNvSpPr/>
          <p:nvPr/>
        </p:nvSpPr>
        <p:spPr>
          <a:xfrm>
            <a:off x="1764792" y="4997196"/>
            <a:ext cx="109728" cy="109728"/>
          </a:xfrm>
          <a:prstGeom prst="ellipse">
            <a:avLst/>
          </a:prstGeom>
          <a:solidFill>
            <a:srgbClr val="22D3EE"/>
          </a:solidFill>
          <a:ln/>
        </p:spPr>
      </p:sp>
      <p:sp>
        <p:nvSpPr>
          <p:cNvPr id="67" name="Shape 65"/>
          <p:cNvSpPr/>
          <p:nvPr/>
        </p:nvSpPr>
        <p:spPr>
          <a:xfrm>
            <a:off x="2862072" y="4997196"/>
            <a:ext cx="109728" cy="109728"/>
          </a:xfrm>
          <a:prstGeom prst="ellipse">
            <a:avLst/>
          </a:prstGeom>
          <a:solidFill>
            <a:srgbClr val="22D3EE"/>
          </a:solidFill>
          <a:ln/>
        </p:spPr>
      </p:sp>
      <p:sp>
        <p:nvSpPr>
          <p:cNvPr id="68" name="Shape 66"/>
          <p:cNvSpPr/>
          <p:nvPr/>
        </p:nvSpPr>
        <p:spPr>
          <a:xfrm>
            <a:off x="2313432" y="4631436"/>
            <a:ext cx="109728" cy="109728"/>
          </a:xfrm>
          <a:prstGeom prst="ellipse">
            <a:avLst/>
          </a:prstGeom>
          <a:solidFill>
            <a:srgbClr val="22D3EE"/>
          </a:solidFill>
          <a:ln/>
        </p:spPr>
      </p:sp>
      <p:sp>
        <p:nvSpPr>
          <p:cNvPr id="69" name="Text 67"/>
          <p:cNvSpPr/>
          <p:nvPr/>
        </p:nvSpPr>
        <p:spPr>
          <a:xfrm>
            <a:off x="685800" y="5239512"/>
            <a:ext cx="3364992" cy="548640"/>
          </a:xfrm>
          <a:prstGeom prst="rect">
            <a:avLst/>
          </a:prstGeom>
          <a:noFill/>
          <a:ln/>
        </p:spPr>
        <p:txBody>
          <a:bodyPr wrap="square" lIns="0" tIns="0" rIns="0" bIns="0" rtlCol="0" anchor="t"/>
          <a:lstStyle/>
          <a:p>
            <a:pPr marL="0" indent="0">
              <a:lnSpc>
                <a:spcPct val="110000"/>
              </a:lnSpc>
              <a:buNone/>
            </a:pPr>
            <a:r>
              <a:rPr lang="en-US" b="1" dirty="0">
                <a:solidFill>
                  <a:srgbClr val="34D399"/>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Highly redundant &amp; reliable
</a:t>
            </a:r>
            <a:r>
              <a:rPr lang="en-US" sz="950" b="1" dirty="0">
                <a:solidFill>
                  <a:srgbClr val="F87171"/>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Expensive, complex cabling</a:t>
            </a:r>
            <a:endParaRPr lang="en-US" sz="950" dirty="0"/>
          </a:p>
        </p:txBody>
      </p:sp>
      <p:sp>
        <p:nvSpPr>
          <p:cNvPr id="70" name="Text 68"/>
          <p:cNvSpPr/>
          <p:nvPr/>
        </p:nvSpPr>
        <p:spPr>
          <a:xfrm>
            <a:off x="685800" y="5742432"/>
            <a:ext cx="3364992" cy="256032"/>
          </a:xfrm>
          <a:prstGeom prst="rect">
            <a:avLst/>
          </a:prstGeom>
          <a:noFill/>
          <a:ln/>
        </p:spPr>
        <p:txBody>
          <a:bodyPr wrap="square" lIns="0" tIns="0" rIns="0" bIns="0" rtlCol="0" anchor="ctr"/>
          <a:lstStyle/>
          <a:p>
            <a:pPr marL="0" indent="0">
              <a:buNone/>
            </a:pPr>
            <a:r>
              <a:rPr lang="en-US" sz="900" i="1" dirty="0">
                <a:solidFill>
                  <a:srgbClr val="22D3EE"/>
                </a:solidFill>
                <a:latin typeface="Calibri" pitchFamily="34" charset="0"/>
                <a:ea typeface="Calibri" pitchFamily="34" charset="-122"/>
                <a:cs typeface="Calibri" pitchFamily="34" charset="-120"/>
              </a:rPr>
              <a:t>Backbone/military networks</a:t>
            </a:r>
            <a:endParaRPr lang="en-US" sz="900" dirty="0"/>
          </a:p>
        </p:txBody>
      </p:sp>
      <p:sp>
        <p:nvSpPr>
          <p:cNvPr id="71" name="Shape 69"/>
          <p:cNvSpPr/>
          <p:nvPr/>
        </p:nvSpPr>
        <p:spPr>
          <a:xfrm>
            <a:off x="4325112" y="3886200"/>
            <a:ext cx="3639312" cy="2148840"/>
          </a:xfrm>
          <a:prstGeom prst="roundRect">
            <a:avLst>
              <a:gd name="adj" fmla="val 3404"/>
            </a:avLst>
          </a:prstGeom>
          <a:solidFill>
            <a:srgbClr val="13294B"/>
          </a:solidFill>
          <a:ln/>
        </p:spPr>
      </p:sp>
      <p:sp>
        <p:nvSpPr>
          <p:cNvPr id="72" name="Text 70"/>
          <p:cNvSpPr/>
          <p:nvPr/>
        </p:nvSpPr>
        <p:spPr>
          <a:xfrm>
            <a:off x="4462272" y="3959352"/>
            <a:ext cx="336499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Tree</a:t>
            </a:r>
            <a:endParaRPr lang="en-US" sz="1300" dirty="0"/>
          </a:p>
        </p:txBody>
      </p:sp>
      <p:sp>
        <p:nvSpPr>
          <p:cNvPr id="73" name="Shape 71"/>
          <p:cNvSpPr/>
          <p:nvPr/>
        </p:nvSpPr>
        <p:spPr>
          <a:xfrm>
            <a:off x="6089904" y="4174236"/>
            <a:ext cx="109728" cy="109728"/>
          </a:xfrm>
          <a:prstGeom prst="ellipse">
            <a:avLst/>
          </a:prstGeom>
          <a:solidFill>
            <a:srgbClr val="22D3EE"/>
          </a:solidFill>
          <a:ln/>
        </p:spPr>
      </p:sp>
      <p:sp>
        <p:nvSpPr>
          <p:cNvPr id="74" name="Shape 72"/>
          <p:cNvSpPr/>
          <p:nvPr/>
        </p:nvSpPr>
        <p:spPr>
          <a:xfrm>
            <a:off x="5687568" y="4229100"/>
            <a:ext cx="457200" cy="457200"/>
          </a:xfrm>
          <a:prstGeom prst="line">
            <a:avLst/>
          </a:prstGeom>
          <a:noFill/>
          <a:ln w="15875">
            <a:solidFill>
              <a:srgbClr val="0891B2"/>
            </a:solidFill>
            <a:prstDash val="solid"/>
          </a:ln>
        </p:spPr>
      </p:sp>
      <p:sp>
        <p:nvSpPr>
          <p:cNvPr id="75" name="Shape 73"/>
          <p:cNvSpPr/>
          <p:nvPr/>
        </p:nvSpPr>
        <p:spPr>
          <a:xfrm>
            <a:off x="5632704" y="4631436"/>
            <a:ext cx="109728" cy="109728"/>
          </a:xfrm>
          <a:prstGeom prst="ellipse">
            <a:avLst/>
          </a:prstGeom>
          <a:solidFill>
            <a:srgbClr val="22D3EE"/>
          </a:solidFill>
          <a:ln/>
        </p:spPr>
      </p:sp>
      <p:sp>
        <p:nvSpPr>
          <p:cNvPr id="76" name="Shape 74"/>
          <p:cNvSpPr/>
          <p:nvPr/>
        </p:nvSpPr>
        <p:spPr>
          <a:xfrm>
            <a:off x="5458968" y="4686300"/>
            <a:ext cx="228600" cy="457200"/>
          </a:xfrm>
          <a:prstGeom prst="line">
            <a:avLst/>
          </a:prstGeom>
          <a:noFill/>
          <a:ln w="15875">
            <a:solidFill>
              <a:srgbClr val="0891B2"/>
            </a:solidFill>
            <a:prstDash val="solid"/>
          </a:ln>
        </p:spPr>
      </p:sp>
      <p:sp>
        <p:nvSpPr>
          <p:cNvPr id="77" name="Shape 75"/>
          <p:cNvSpPr/>
          <p:nvPr/>
        </p:nvSpPr>
        <p:spPr>
          <a:xfrm>
            <a:off x="5404104" y="5088636"/>
            <a:ext cx="109728" cy="109728"/>
          </a:xfrm>
          <a:prstGeom prst="ellipse">
            <a:avLst/>
          </a:prstGeom>
          <a:solidFill>
            <a:srgbClr val="22D3EE"/>
          </a:solidFill>
          <a:ln/>
        </p:spPr>
      </p:sp>
      <p:sp>
        <p:nvSpPr>
          <p:cNvPr id="78" name="Shape 76"/>
          <p:cNvSpPr/>
          <p:nvPr/>
        </p:nvSpPr>
        <p:spPr>
          <a:xfrm>
            <a:off x="5687568" y="4686300"/>
            <a:ext cx="228600" cy="457200"/>
          </a:xfrm>
          <a:prstGeom prst="line">
            <a:avLst/>
          </a:prstGeom>
          <a:noFill/>
          <a:ln w="15875">
            <a:solidFill>
              <a:srgbClr val="0891B2"/>
            </a:solidFill>
            <a:prstDash val="solid"/>
          </a:ln>
        </p:spPr>
      </p:sp>
      <p:sp>
        <p:nvSpPr>
          <p:cNvPr id="79" name="Shape 77"/>
          <p:cNvSpPr/>
          <p:nvPr/>
        </p:nvSpPr>
        <p:spPr>
          <a:xfrm>
            <a:off x="5861304" y="5088636"/>
            <a:ext cx="109728" cy="109728"/>
          </a:xfrm>
          <a:prstGeom prst="ellipse">
            <a:avLst/>
          </a:prstGeom>
          <a:solidFill>
            <a:srgbClr val="22D3EE"/>
          </a:solidFill>
          <a:ln/>
        </p:spPr>
      </p:sp>
      <p:sp>
        <p:nvSpPr>
          <p:cNvPr id="80" name="Shape 78"/>
          <p:cNvSpPr/>
          <p:nvPr/>
        </p:nvSpPr>
        <p:spPr>
          <a:xfrm>
            <a:off x="6144768" y="4229100"/>
            <a:ext cx="457200" cy="457200"/>
          </a:xfrm>
          <a:prstGeom prst="line">
            <a:avLst/>
          </a:prstGeom>
          <a:noFill/>
          <a:ln w="15875">
            <a:solidFill>
              <a:srgbClr val="0891B2"/>
            </a:solidFill>
            <a:prstDash val="solid"/>
          </a:ln>
        </p:spPr>
      </p:sp>
      <p:sp>
        <p:nvSpPr>
          <p:cNvPr id="81" name="Shape 79"/>
          <p:cNvSpPr/>
          <p:nvPr/>
        </p:nvSpPr>
        <p:spPr>
          <a:xfrm>
            <a:off x="6547104" y="4631436"/>
            <a:ext cx="109728" cy="109728"/>
          </a:xfrm>
          <a:prstGeom prst="ellipse">
            <a:avLst/>
          </a:prstGeom>
          <a:solidFill>
            <a:srgbClr val="22D3EE"/>
          </a:solidFill>
          <a:ln/>
        </p:spPr>
      </p:sp>
      <p:sp>
        <p:nvSpPr>
          <p:cNvPr id="82" name="Shape 80"/>
          <p:cNvSpPr/>
          <p:nvPr/>
        </p:nvSpPr>
        <p:spPr>
          <a:xfrm>
            <a:off x="6373368" y="4686300"/>
            <a:ext cx="228600" cy="457200"/>
          </a:xfrm>
          <a:prstGeom prst="line">
            <a:avLst/>
          </a:prstGeom>
          <a:noFill/>
          <a:ln w="15875">
            <a:solidFill>
              <a:srgbClr val="0891B2"/>
            </a:solidFill>
            <a:prstDash val="solid"/>
          </a:ln>
        </p:spPr>
      </p:sp>
      <p:sp>
        <p:nvSpPr>
          <p:cNvPr id="83" name="Shape 81"/>
          <p:cNvSpPr/>
          <p:nvPr/>
        </p:nvSpPr>
        <p:spPr>
          <a:xfrm>
            <a:off x="6318504" y="5088636"/>
            <a:ext cx="109728" cy="109728"/>
          </a:xfrm>
          <a:prstGeom prst="ellipse">
            <a:avLst/>
          </a:prstGeom>
          <a:solidFill>
            <a:srgbClr val="22D3EE"/>
          </a:solidFill>
          <a:ln/>
        </p:spPr>
      </p:sp>
      <p:sp>
        <p:nvSpPr>
          <p:cNvPr id="84" name="Shape 82"/>
          <p:cNvSpPr/>
          <p:nvPr/>
        </p:nvSpPr>
        <p:spPr>
          <a:xfrm>
            <a:off x="6601968" y="4686300"/>
            <a:ext cx="228600" cy="457200"/>
          </a:xfrm>
          <a:prstGeom prst="line">
            <a:avLst/>
          </a:prstGeom>
          <a:noFill/>
          <a:ln w="15875">
            <a:solidFill>
              <a:srgbClr val="0891B2"/>
            </a:solidFill>
            <a:prstDash val="solid"/>
          </a:ln>
        </p:spPr>
      </p:sp>
      <p:sp>
        <p:nvSpPr>
          <p:cNvPr id="85" name="Shape 83"/>
          <p:cNvSpPr/>
          <p:nvPr/>
        </p:nvSpPr>
        <p:spPr>
          <a:xfrm>
            <a:off x="6775704" y="5088636"/>
            <a:ext cx="109728" cy="109728"/>
          </a:xfrm>
          <a:prstGeom prst="ellipse">
            <a:avLst/>
          </a:prstGeom>
          <a:solidFill>
            <a:srgbClr val="22D3EE"/>
          </a:solidFill>
          <a:ln/>
        </p:spPr>
      </p:sp>
      <p:sp>
        <p:nvSpPr>
          <p:cNvPr id="86" name="Text 84"/>
          <p:cNvSpPr/>
          <p:nvPr/>
        </p:nvSpPr>
        <p:spPr>
          <a:xfrm>
            <a:off x="4462272" y="5239512"/>
            <a:ext cx="3364992" cy="548640"/>
          </a:xfrm>
          <a:prstGeom prst="rect">
            <a:avLst/>
          </a:prstGeom>
          <a:noFill/>
          <a:ln/>
        </p:spPr>
        <p:txBody>
          <a:bodyPr wrap="square" lIns="0" tIns="0" rIns="0" bIns="0" rtlCol="0" anchor="t"/>
          <a:lstStyle/>
          <a:p>
            <a:pPr marL="0" indent="0">
              <a:lnSpc>
                <a:spcPct val="110000"/>
              </a:lnSpc>
              <a:buNone/>
            </a:pPr>
            <a:r>
              <a:rPr lang="en-US" b="1" dirty="0">
                <a:solidFill>
                  <a:srgbClr val="34D399"/>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Scalable, hierarchical
</a:t>
            </a:r>
            <a:r>
              <a:rPr lang="en-US" sz="950" b="1" dirty="0">
                <a:solidFill>
                  <a:srgbClr val="F87171"/>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Depends heavily on root node</a:t>
            </a:r>
            <a:endParaRPr lang="en-US" sz="950" dirty="0"/>
          </a:p>
        </p:txBody>
      </p:sp>
      <p:sp>
        <p:nvSpPr>
          <p:cNvPr id="87" name="Text 85"/>
          <p:cNvSpPr/>
          <p:nvPr/>
        </p:nvSpPr>
        <p:spPr>
          <a:xfrm>
            <a:off x="4462272" y="5742432"/>
            <a:ext cx="3364992" cy="256032"/>
          </a:xfrm>
          <a:prstGeom prst="rect">
            <a:avLst/>
          </a:prstGeom>
          <a:noFill/>
          <a:ln/>
        </p:spPr>
        <p:txBody>
          <a:bodyPr wrap="square" lIns="0" tIns="0" rIns="0" bIns="0" rtlCol="0" anchor="ctr"/>
          <a:lstStyle/>
          <a:p>
            <a:pPr marL="0" indent="0">
              <a:buNone/>
            </a:pPr>
            <a:r>
              <a:rPr lang="en-US" sz="900" i="1" dirty="0">
                <a:solidFill>
                  <a:srgbClr val="22D3EE"/>
                </a:solidFill>
                <a:latin typeface="Calibri" pitchFamily="34" charset="0"/>
                <a:ea typeface="Calibri" pitchFamily="34" charset="-122"/>
                <a:cs typeface="Calibri" pitchFamily="34" charset="-120"/>
              </a:rPr>
              <a:t>Large campus networks</a:t>
            </a:r>
            <a:endParaRPr lang="en-US" sz="900" dirty="0"/>
          </a:p>
        </p:txBody>
      </p:sp>
      <p:sp>
        <p:nvSpPr>
          <p:cNvPr id="88" name="Shape 86"/>
          <p:cNvSpPr/>
          <p:nvPr/>
        </p:nvSpPr>
        <p:spPr>
          <a:xfrm>
            <a:off x="8101584" y="3886200"/>
            <a:ext cx="3639312" cy="2148840"/>
          </a:xfrm>
          <a:prstGeom prst="roundRect">
            <a:avLst>
              <a:gd name="adj" fmla="val 3404"/>
            </a:avLst>
          </a:prstGeom>
          <a:solidFill>
            <a:srgbClr val="13294B"/>
          </a:solidFill>
          <a:ln/>
        </p:spPr>
      </p:sp>
      <p:sp>
        <p:nvSpPr>
          <p:cNvPr id="89" name="Text 87"/>
          <p:cNvSpPr/>
          <p:nvPr/>
        </p:nvSpPr>
        <p:spPr>
          <a:xfrm>
            <a:off x="8238744" y="3959352"/>
            <a:ext cx="336499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Hybrid</a:t>
            </a:r>
            <a:endParaRPr lang="en-US" sz="1300" dirty="0"/>
          </a:p>
        </p:txBody>
      </p:sp>
      <p:sp>
        <p:nvSpPr>
          <p:cNvPr id="90" name="Shape 88"/>
          <p:cNvSpPr/>
          <p:nvPr/>
        </p:nvSpPr>
        <p:spPr>
          <a:xfrm>
            <a:off x="9409176" y="4631436"/>
            <a:ext cx="109728" cy="109728"/>
          </a:xfrm>
          <a:prstGeom prst="ellipse">
            <a:avLst/>
          </a:prstGeom>
          <a:solidFill>
            <a:srgbClr val="22D3EE"/>
          </a:solidFill>
          <a:ln/>
        </p:spPr>
      </p:sp>
      <p:sp>
        <p:nvSpPr>
          <p:cNvPr id="91" name="Shape 89"/>
          <p:cNvSpPr/>
          <p:nvPr/>
        </p:nvSpPr>
        <p:spPr>
          <a:xfrm>
            <a:off x="10323576" y="4631436"/>
            <a:ext cx="109728" cy="109728"/>
          </a:xfrm>
          <a:prstGeom prst="ellipse">
            <a:avLst/>
          </a:prstGeom>
          <a:solidFill>
            <a:srgbClr val="22D3EE"/>
          </a:solidFill>
          <a:ln/>
        </p:spPr>
      </p:sp>
      <p:sp>
        <p:nvSpPr>
          <p:cNvPr id="92" name="Shape 90"/>
          <p:cNvSpPr/>
          <p:nvPr/>
        </p:nvSpPr>
        <p:spPr>
          <a:xfrm>
            <a:off x="9464040" y="4686300"/>
            <a:ext cx="914400" cy="9144"/>
          </a:xfrm>
          <a:prstGeom prst="line">
            <a:avLst/>
          </a:prstGeom>
          <a:noFill/>
          <a:ln w="15875">
            <a:solidFill>
              <a:srgbClr val="0891B2"/>
            </a:solidFill>
            <a:prstDash val="solid"/>
          </a:ln>
        </p:spPr>
      </p:sp>
      <p:sp>
        <p:nvSpPr>
          <p:cNvPr id="93" name="Shape 91"/>
          <p:cNvSpPr/>
          <p:nvPr/>
        </p:nvSpPr>
        <p:spPr>
          <a:xfrm flipV="1">
            <a:off x="9464040" y="4329684"/>
            <a:ext cx="9144" cy="356616"/>
          </a:xfrm>
          <a:prstGeom prst="line">
            <a:avLst/>
          </a:prstGeom>
          <a:noFill/>
          <a:ln w="15875">
            <a:solidFill>
              <a:srgbClr val="0891B2"/>
            </a:solidFill>
            <a:prstDash val="solid"/>
          </a:ln>
        </p:spPr>
      </p:sp>
      <p:sp>
        <p:nvSpPr>
          <p:cNvPr id="94" name="Shape 92"/>
          <p:cNvSpPr/>
          <p:nvPr/>
        </p:nvSpPr>
        <p:spPr>
          <a:xfrm>
            <a:off x="9409176" y="4274820"/>
            <a:ext cx="109728" cy="109728"/>
          </a:xfrm>
          <a:prstGeom prst="ellipse">
            <a:avLst/>
          </a:prstGeom>
          <a:solidFill>
            <a:srgbClr val="22D3EE"/>
          </a:solidFill>
          <a:ln/>
        </p:spPr>
      </p:sp>
      <p:sp>
        <p:nvSpPr>
          <p:cNvPr id="95" name="Shape 93"/>
          <p:cNvSpPr/>
          <p:nvPr/>
        </p:nvSpPr>
        <p:spPr>
          <a:xfrm>
            <a:off x="9464040" y="4686300"/>
            <a:ext cx="9144" cy="356616"/>
          </a:xfrm>
          <a:prstGeom prst="line">
            <a:avLst/>
          </a:prstGeom>
          <a:noFill/>
          <a:ln w="15875">
            <a:solidFill>
              <a:srgbClr val="0891B2"/>
            </a:solidFill>
            <a:prstDash val="solid"/>
          </a:ln>
        </p:spPr>
      </p:sp>
      <p:sp>
        <p:nvSpPr>
          <p:cNvPr id="96" name="Shape 94"/>
          <p:cNvSpPr/>
          <p:nvPr/>
        </p:nvSpPr>
        <p:spPr>
          <a:xfrm>
            <a:off x="9409176" y="4988052"/>
            <a:ext cx="109728" cy="109728"/>
          </a:xfrm>
          <a:prstGeom prst="ellipse">
            <a:avLst/>
          </a:prstGeom>
          <a:solidFill>
            <a:srgbClr val="22D3EE"/>
          </a:solidFill>
          <a:ln/>
        </p:spPr>
      </p:sp>
      <p:sp>
        <p:nvSpPr>
          <p:cNvPr id="97" name="Shape 95"/>
          <p:cNvSpPr/>
          <p:nvPr/>
        </p:nvSpPr>
        <p:spPr>
          <a:xfrm flipV="1">
            <a:off x="10195560" y="4320540"/>
            <a:ext cx="182880" cy="365760"/>
          </a:xfrm>
          <a:prstGeom prst="line">
            <a:avLst/>
          </a:prstGeom>
          <a:noFill/>
          <a:ln w="15875">
            <a:solidFill>
              <a:srgbClr val="0891B2"/>
            </a:solidFill>
            <a:prstDash val="solid"/>
          </a:ln>
        </p:spPr>
      </p:sp>
      <p:sp>
        <p:nvSpPr>
          <p:cNvPr id="98" name="Shape 96"/>
          <p:cNvSpPr/>
          <p:nvPr/>
        </p:nvSpPr>
        <p:spPr>
          <a:xfrm>
            <a:off x="10140696" y="4265676"/>
            <a:ext cx="109728" cy="109728"/>
          </a:xfrm>
          <a:prstGeom prst="ellipse">
            <a:avLst/>
          </a:prstGeom>
          <a:solidFill>
            <a:srgbClr val="22D3EE"/>
          </a:solidFill>
          <a:ln/>
        </p:spPr>
      </p:sp>
      <p:sp>
        <p:nvSpPr>
          <p:cNvPr id="99" name="Shape 97"/>
          <p:cNvSpPr/>
          <p:nvPr/>
        </p:nvSpPr>
        <p:spPr>
          <a:xfrm flipV="1">
            <a:off x="10378440" y="4549140"/>
            <a:ext cx="228600" cy="137160"/>
          </a:xfrm>
          <a:prstGeom prst="line">
            <a:avLst/>
          </a:prstGeom>
          <a:noFill/>
          <a:ln w="15875">
            <a:solidFill>
              <a:srgbClr val="0891B2"/>
            </a:solidFill>
            <a:prstDash val="solid"/>
          </a:ln>
        </p:spPr>
      </p:sp>
      <p:sp>
        <p:nvSpPr>
          <p:cNvPr id="100" name="Shape 98"/>
          <p:cNvSpPr/>
          <p:nvPr/>
        </p:nvSpPr>
        <p:spPr>
          <a:xfrm>
            <a:off x="10552176" y="4494276"/>
            <a:ext cx="109728" cy="109728"/>
          </a:xfrm>
          <a:prstGeom prst="ellipse">
            <a:avLst/>
          </a:prstGeom>
          <a:solidFill>
            <a:srgbClr val="22D3EE"/>
          </a:solidFill>
          <a:ln/>
        </p:spPr>
      </p:sp>
      <p:sp>
        <p:nvSpPr>
          <p:cNvPr id="101" name="Shape 99"/>
          <p:cNvSpPr/>
          <p:nvPr/>
        </p:nvSpPr>
        <p:spPr>
          <a:xfrm>
            <a:off x="10378440" y="4686300"/>
            <a:ext cx="228600" cy="320040"/>
          </a:xfrm>
          <a:prstGeom prst="line">
            <a:avLst/>
          </a:prstGeom>
          <a:noFill/>
          <a:ln w="15875">
            <a:solidFill>
              <a:srgbClr val="0891B2"/>
            </a:solidFill>
            <a:prstDash val="solid"/>
          </a:ln>
        </p:spPr>
      </p:sp>
      <p:sp>
        <p:nvSpPr>
          <p:cNvPr id="102" name="Shape 100"/>
          <p:cNvSpPr/>
          <p:nvPr/>
        </p:nvSpPr>
        <p:spPr>
          <a:xfrm>
            <a:off x="10552176" y="4951476"/>
            <a:ext cx="109728" cy="109728"/>
          </a:xfrm>
          <a:prstGeom prst="ellipse">
            <a:avLst/>
          </a:prstGeom>
          <a:solidFill>
            <a:srgbClr val="22D3EE"/>
          </a:solidFill>
          <a:ln/>
        </p:spPr>
      </p:sp>
      <p:sp>
        <p:nvSpPr>
          <p:cNvPr id="103" name="Shape 101"/>
          <p:cNvSpPr/>
          <p:nvPr/>
        </p:nvSpPr>
        <p:spPr>
          <a:xfrm>
            <a:off x="10195560" y="4686300"/>
            <a:ext cx="182880" cy="365760"/>
          </a:xfrm>
          <a:prstGeom prst="line">
            <a:avLst/>
          </a:prstGeom>
          <a:noFill/>
          <a:ln w="15875">
            <a:solidFill>
              <a:srgbClr val="0891B2"/>
            </a:solidFill>
            <a:prstDash val="solid"/>
          </a:ln>
        </p:spPr>
      </p:sp>
      <p:sp>
        <p:nvSpPr>
          <p:cNvPr id="104" name="Shape 102"/>
          <p:cNvSpPr/>
          <p:nvPr/>
        </p:nvSpPr>
        <p:spPr>
          <a:xfrm>
            <a:off x="10140696" y="4997196"/>
            <a:ext cx="109728" cy="109728"/>
          </a:xfrm>
          <a:prstGeom prst="ellipse">
            <a:avLst/>
          </a:prstGeom>
          <a:solidFill>
            <a:srgbClr val="22D3EE"/>
          </a:solidFill>
          <a:ln/>
        </p:spPr>
      </p:sp>
      <p:sp>
        <p:nvSpPr>
          <p:cNvPr id="105" name="Text 103"/>
          <p:cNvSpPr/>
          <p:nvPr/>
        </p:nvSpPr>
        <p:spPr>
          <a:xfrm>
            <a:off x="8238744" y="5239512"/>
            <a:ext cx="3364992" cy="548640"/>
          </a:xfrm>
          <a:prstGeom prst="rect">
            <a:avLst/>
          </a:prstGeom>
          <a:noFill/>
          <a:ln/>
        </p:spPr>
        <p:txBody>
          <a:bodyPr wrap="square" lIns="0" tIns="0" rIns="0" bIns="0" rtlCol="0" anchor="t"/>
          <a:lstStyle/>
          <a:p>
            <a:pPr marL="0" indent="0">
              <a:lnSpc>
                <a:spcPct val="110000"/>
              </a:lnSpc>
              <a:buNone/>
            </a:pPr>
            <a:r>
              <a:rPr lang="en-US" b="1" dirty="0">
                <a:solidFill>
                  <a:srgbClr val="34D399"/>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Flexible, combines strengths
</a:t>
            </a:r>
            <a:r>
              <a:rPr lang="en-US" sz="950" b="1" dirty="0">
                <a:solidFill>
                  <a:srgbClr val="F87171"/>
                </a:solidFill>
                <a:latin typeface="Calibri" pitchFamily="34" charset="0"/>
                <a:ea typeface="Calibri" pitchFamily="34" charset="-122"/>
                <a:cs typeface="Calibri" pitchFamily="34" charset="-120"/>
              </a:rPr>
              <a:t>− </a:t>
            </a:r>
            <a:r>
              <a:rPr lang="en-US" sz="950" dirty="0">
                <a:solidFill>
                  <a:srgbClr val="AEC3DD"/>
                </a:solidFill>
                <a:latin typeface="Calibri" pitchFamily="34" charset="0"/>
                <a:ea typeface="Calibri" pitchFamily="34" charset="-122"/>
                <a:cs typeface="Calibri" pitchFamily="34" charset="-120"/>
              </a:rPr>
              <a:t>Complex to design &amp; maintain</a:t>
            </a:r>
            <a:endParaRPr lang="en-US" sz="950" dirty="0"/>
          </a:p>
        </p:txBody>
      </p:sp>
      <p:sp>
        <p:nvSpPr>
          <p:cNvPr id="106" name="Text 104"/>
          <p:cNvSpPr/>
          <p:nvPr/>
        </p:nvSpPr>
        <p:spPr>
          <a:xfrm>
            <a:off x="8238744" y="5742432"/>
            <a:ext cx="3364992" cy="256032"/>
          </a:xfrm>
          <a:prstGeom prst="rect">
            <a:avLst/>
          </a:prstGeom>
          <a:noFill/>
          <a:ln/>
        </p:spPr>
        <p:txBody>
          <a:bodyPr wrap="square" lIns="0" tIns="0" rIns="0" bIns="0" rtlCol="0" anchor="ctr"/>
          <a:lstStyle/>
          <a:p>
            <a:pPr marL="0" indent="0">
              <a:buNone/>
            </a:pPr>
            <a:r>
              <a:rPr lang="en-US" sz="900" i="1" dirty="0">
                <a:solidFill>
                  <a:srgbClr val="22D3EE"/>
                </a:solidFill>
                <a:latin typeface="Calibri" pitchFamily="34" charset="0"/>
                <a:ea typeface="Calibri" pitchFamily="34" charset="-122"/>
                <a:cs typeface="Calibri" pitchFamily="34" charset="-120"/>
              </a:rPr>
              <a:t>Enterprise networks</a:t>
            </a:r>
            <a:endParaRPr lang="en-US" sz="900" dirty="0"/>
          </a:p>
        </p:txBody>
      </p:sp>
      <p:sp>
        <p:nvSpPr>
          <p:cNvPr id="107" name="Text 10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06</a:t>
            </a:r>
            <a:endParaRPr lang="en-US" sz="1000" dirty="0"/>
          </a:p>
        </p:txBody>
      </p:sp>
      <p:sp>
        <p:nvSpPr>
          <p:cNvPr id="108" name="Text 106"/>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Data Transmission (Casting)</a:t>
            </a:r>
            <a:endParaRPr lang="en-US" sz="3200" dirty="0"/>
          </a:p>
        </p:txBody>
      </p:sp>
      <p:sp>
        <p:nvSpPr>
          <p:cNvPr id="4" name="Shape 2"/>
          <p:cNvSpPr/>
          <p:nvPr/>
        </p:nvSpPr>
        <p:spPr>
          <a:xfrm>
            <a:off x="548640" y="1645920"/>
            <a:ext cx="5440680" cy="2148840"/>
          </a:xfrm>
          <a:prstGeom prst="roundRect">
            <a:avLst>
              <a:gd name="adj" fmla="val 3404"/>
            </a:avLst>
          </a:prstGeom>
          <a:solidFill>
            <a:srgbClr val="13294B"/>
          </a:solidFill>
          <a:ln/>
        </p:spPr>
      </p:sp>
      <p:sp>
        <p:nvSpPr>
          <p:cNvPr id="5" name="Text 3"/>
          <p:cNvSpPr/>
          <p:nvPr/>
        </p:nvSpPr>
        <p:spPr>
          <a:xfrm>
            <a:off x="777240" y="1783080"/>
            <a:ext cx="49834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Unicast</a:t>
            </a:r>
            <a:endParaRPr lang="en-US" sz="1500" dirty="0"/>
          </a:p>
        </p:txBody>
      </p:sp>
      <p:sp>
        <p:nvSpPr>
          <p:cNvPr id="6" name="Shape 4"/>
          <p:cNvSpPr/>
          <p:nvPr/>
        </p:nvSpPr>
        <p:spPr>
          <a:xfrm>
            <a:off x="1014984" y="2409444"/>
            <a:ext cx="256032" cy="256032"/>
          </a:xfrm>
          <a:prstGeom prst="ellipse">
            <a:avLst/>
          </a:prstGeom>
          <a:solidFill>
            <a:srgbClr val="22D3EE"/>
          </a:solidFill>
          <a:ln/>
        </p:spPr>
      </p:sp>
      <p:sp>
        <p:nvSpPr>
          <p:cNvPr id="7" name="Shape 5"/>
          <p:cNvSpPr/>
          <p:nvPr/>
        </p:nvSpPr>
        <p:spPr>
          <a:xfrm>
            <a:off x="1143000" y="2537460"/>
            <a:ext cx="4069080" cy="9144"/>
          </a:xfrm>
          <a:prstGeom prst="line">
            <a:avLst/>
          </a:prstGeom>
          <a:noFill/>
          <a:ln w="19050">
            <a:solidFill>
              <a:srgbClr val="0891B2"/>
            </a:solidFill>
            <a:prstDash val="solid"/>
          </a:ln>
        </p:spPr>
      </p:sp>
      <p:sp>
        <p:nvSpPr>
          <p:cNvPr id="8" name="Shape 6"/>
          <p:cNvSpPr/>
          <p:nvPr/>
        </p:nvSpPr>
        <p:spPr>
          <a:xfrm>
            <a:off x="5111496" y="2436876"/>
            <a:ext cx="201168" cy="201168"/>
          </a:xfrm>
          <a:prstGeom prst="ellipse">
            <a:avLst/>
          </a:prstGeom>
          <a:solidFill>
            <a:srgbClr val="0891B2"/>
          </a:solidFill>
          <a:ln w="12700">
            <a:solidFill>
              <a:srgbClr val="7E93B3"/>
            </a:solidFill>
            <a:prstDash val="solid"/>
          </a:ln>
        </p:spPr>
      </p:sp>
      <p:sp>
        <p:nvSpPr>
          <p:cNvPr id="9" name="Text 7"/>
          <p:cNvSpPr/>
          <p:nvPr/>
        </p:nvSpPr>
        <p:spPr>
          <a:xfrm>
            <a:off x="777240" y="2944368"/>
            <a:ext cx="4983480" cy="365760"/>
          </a:xfrm>
          <a:prstGeom prst="rect">
            <a:avLst/>
          </a:prstGeom>
          <a:noFill/>
          <a:ln/>
        </p:spPr>
        <p:txBody>
          <a:bodyPr wrap="square" lIns="0" tIns="0" rIns="0" bIns="0" rtlCol="0" anchor="ctr"/>
          <a:lstStyle/>
          <a:p>
            <a:pPr marL="0" indent="0">
              <a:buNone/>
            </a:pPr>
            <a:r>
              <a:rPr lang="en-US" sz="1150" dirty="0">
                <a:solidFill>
                  <a:srgbClr val="AEC3DD"/>
                </a:solidFill>
                <a:latin typeface="Calibri" pitchFamily="34" charset="0"/>
                <a:ea typeface="Calibri" pitchFamily="34" charset="-122"/>
                <a:cs typeface="Calibri" pitchFamily="34" charset="-120"/>
              </a:rPr>
              <a:t>One sender → one receiver</a:t>
            </a:r>
            <a:endParaRPr lang="en-US" sz="1150" dirty="0"/>
          </a:p>
        </p:txBody>
      </p:sp>
      <p:sp>
        <p:nvSpPr>
          <p:cNvPr id="10" name="Text 8"/>
          <p:cNvSpPr/>
          <p:nvPr/>
        </p:nvSpPr>
        <p:spPr>
          <a:xfrm>
            <a:off x="777240" y="3337560"/>
            <a:ext cx="4983480" cy="365760"/>
          </a:xfrm>
          <a:prstGeom prst="rect">
            <a:avLst/>
          </a:prstGeom>
          <a:noFill/>
          <a:ln/>
        </p:spPr>
        <p:txBody>
          <a:bodyPr wrap="square" lIns="0" tIns="0" rIns="0" bIns="0" rtlCol="0" anchor="ctr"/>
          <a:lstStyle/>
          <a:p>
            <a:pPr marL="0" indent="0">
              <a:buNone/>
            </a:pPr>
            <a:r>
              <a:rPr lang="en-US" sz="1000" i="1" dirty="0">
                <a:solidFill>
                  <a:srgbClr val="22D3EE"/>
                </a:solidFill>
                <a:latin typeface="Calibri" pitchFamily="34" charset="0"/>
                <a:ea typeface="Calibri" pitchFamily="34" charset="-122"/>
                <a:cs typeface="Calibri" pitchFamily="34" charset="-120"/>
              </a:rPr>
              <a:t>EXAMPLE  Loading a single website page</a:t>
            </a:r>
            <a:endParaRPr lang="en-US" sz="1000" dirty="0"/>
          </a:p>
        </p:txBody>
      </p:sp>
      <p:sp>
        <p:nvSpPr>
          <p:cNvPr id="11" name="Shape 9"/>
          <p:cNvSpPr/>
          <p:nvPr/>
        </p:nvSpPr>
        <p:spPr>
          <a:xfrm>
            <a:off x="6172200" y="1645920"/>
            <a:ext cx="5440680" cy="2148840"/>
          </a:xfrm>
          <a:prstGeom prst="roundRect">
            <a:avLst>
              <a:gd name="adj" fmla="val 3404"/>
            </a:avLst>
          </a:prstGeom>
          <a:solidFill>
            <a:srgbClr val="13294B"/>
          </a:solidFill>
          <a:ln/>
        </p:spPr>
      </p:sp>
      <p:sp>
        <p:nvSpPr>
          <p:cNvPr id="12" name="Text 10"/>
          <p:cNvSpPr/>
          <p:nvPr/>
        </p:nvSpPr>
        <p:spPr>
          <a:xfrm>
            <a:off x="6400800" y="1783080"/>
            <a:ext cx="49834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Broadcast</a:t>
            </a:r>
            <a:endParaRPr lang="en-US" sz="1500" dirty="0"/>
          </a:p>
        </p:txBody>
      </p:sp>
      <p:sp>
        <p:nvSpPr>
          <p:cNvPr id="13" name="Shape 11"/>
          <p:cNvSpPr/>
          <p:nvPr/>
        </p:nvSpPr>
        <p:spPr>
          <a:xfrm>
            <a:off x="6638544" y="2409444"/>
            <a:ext cx="256032" cy="256032"/>
          </a:xfrm>
          <a:prstGeom prst="ellipse">
            <a:avLst/>
          </a:prstGeom>
          <a:solidFill>
            <a:srgbClr val="22D3EE"/>
          </a:solidFill>
          <a:ln/>
        </p:spPr>
      </p:sp>
      <p:sp>
        <p:nvSpPr>
          <p:cNvPr id="14" name="Shape 12"/>
          <p:cNvSpPr/>
          <p:nvPr/>
        </p:nvSpPr>
        <p:spPr>
          <a:xfrm flipV="1">
            <a:off x="6766560" y="2377440"/>
            <a:ext cx="4023360" cy="160020"/>
          </a:xfrm>
          <a:prstGeom prst="line">
            <a:avLst/>
          </a:prstGeom>
          <a:noFill/>
          <a:ln w="19050">
            <a:solidFill>
              <a:srgbClr val="0891B2"/>
            </a:solidFill>
            <a:prstDash val="solid"/>
          </a:ln>
        </p:spPr>
      </p:sp>
      <p:sp>
        <p:nvSpPr>
          <p:cNvPr id="15" name="Shape 13"/>
          <p:cNvSpPr/>
          <p:nvPr/>
        </p:nvSpPr>
        <p:spPr>
          <a:xfrm>
            <a:off x="10689336" y="2276856"/>
            <a:ext cx="201168" cy="201168"/>
          </a:xfrm>
          <a:prstGeom prst="ellipse">
            <a:avLst/>
          </a:prstGeom>
          <a:solidFill>
            <a:srgbClr val="0891B2"/>
          </a:solidFill>
          <a:ln w="12700">
            <a:solidFill>
              <a:srgbClr val="7E93B3"/>
            </a:solidFill>
            <a:prstDash val="solid"/>
          </a:ln>
        </p:spPr>
      </p:sp>
      <p:sp>
        <p:nvSpPr>
          <p:cNvPr id="16" name="Shape 14"/>
          <p:cNvSpPr/>
          <p:nvPr/>
        </p:nvSpPr>
        <p:spPr>
          <a:xfrm>
            <a:off x="6766560" y="2537460"/>
            <a:ext cx="4023360" cy="9144"/>
          </a:xfrm>
          <a:prstGeom prst="line">
            <a:avLst/>
          </a:prstGeom>
          <a:noFill/>
          <a:ln w="19050">
            <a:solidFill>
              <a:srgbClr val="0891B2"/>
            </a:solidFill>
            <a:prstDash val="solid"/>
          </a:ln>
        </p:spPr>
      </p:sp>
      <p:sp>
        <p:nvSpPr>
          <p:cNvPr id="17" name="Shape 15"/>
          <p:cNvSpPr/>
          <p:nvPr/>
        </p:nvSpPr>
        <p:spPr>
          <a:xfrm>
            <a:off x="10689336" y="2436876"/>
            <a:ext cx="201168" cy="201168"/>
          </a:xfrm>
          <a:prstGeom prst="ellipse">
            <a:avLst/>
          </a:prstGeom>
          <a:solidFill>
            <a:srgbClr val="0891B2"/>
          </a:solidFill>
          <a:ln w="12700">
            <a:solidFill>
              <a:srgbClr val="7E93B3"/>
            </a:solidFill>
            <a:prstDash val="solid"/>
          </a:ln>
        </p:spPr>
      </p:sp>
      <p:sp>
        <p:nvSpPr>
          <p:cNvPr id="18" name="Shape 16"/>
          <p:cNvSpPr/>
          <p:nvPr/>
        </p:nvSpPr>
        <p:spPr>
          <a:xfrm>
            <a:off x="6766560" y="2537460"/>
            <a:ext cx="4023360" cy="160020"/>
          </a:xfrm>
          <a:prstGeom prst="line">
            <a:avLst/>
          </a:prstGeom>
          <a:noFill/>
          <a:ln w="19050">
            <a:solidFill>
              <a:srgbClr val="0891B2"/>
            </a:solidFill>
            <a:prstDash val="solid"/>
          </a:ln>
        </p:spPr>
      </p:sp>
      <p:sp>
        <p:nvSpPr>
          <p:cNvPr id="19" name="Shape 17"/>
          <p:cNvSpPr/>
          <p:nvPr/>
        </p:nvSpPr>
        <p:spPr>
          <a:xfrm>
            <a:off x="10689336" y="2596896"/>
            <a:ext cx="201168" cy="201168"/>
          </a:xfrm>
          <a:prstGeom prst="ellipse">
            <a:avLst/>
          </a:prstGeom>
          <a:solidFill>
            <a:srgbClr val="0891B2"/>
          </a:solidFill>
          <a:ln w="12700">
            <a:solidFill>
              <a:srgbClr val="7E93B3"/>
            </a:solidFill>
            <a:prstDash val="solid"/>
          </a:ln>
        </p:spPr>
      </p:sp>
      <p:sp>
        <p:nvSpPr>
          <p:cNvPr id="20" name="Text 18"/>
          <p:cNvSpPr/>
          <p:nvPr/>
        </p:nvSpPr>
        <p:spPr>
          <a:xfrm>
            <a:off x="6400800" y="2944368"/>
            <a:ext cx="4983480" cy="365760"/>
          </a:xfrm>
          <a:prstGeom prst="rect">
            <a:avLst/>
          </a:prstGeom>
          <a:noFill/>
          <a:ln/>
        </p:spPr>
        <p:txBody>
          <a:bodyPr wrap="square" lIns="0" tIns="0" rIns="0" bIns="0" rtlCol="0" anchor="ctr"/>
          <a:lstStyle/>
          <a:p>
            <a:pPr marL="0" indent="0">
              <a:buNone/>
            </a:pPr>
            <a:r>
              <a:rPr lang="en-US" sz="1150" dirty="0">
                <a:solidFill>
                  <a:srgbClr val="AEC3DD"/>
                </a:solidFill>
                <a:latin typeface="Calibri" pitchFamily="34" charset="0"/>
                <a:ea typeface="Calibri" pitchFamily="34" charset="-122"/>
                <a:cs typeface="Calibri" pitchFamily="34" charset="-120"/>
              </a:rPr>
              <a:t>One sender → all devices on the network</a:t>
            </a:r>
            <a:endParaRPr lang="en-US" sz="1150" dirty="0"/>
          </a:p>
        </p:txBody>
      </p:sp>
      <p:sp>
        <p:nvSpPr>
          <p:cNvPr id="21" name="Text 19"/>
          <p:cNvSpPr/>
          <p:nvPr/>
        </p:nvSpPr>
        <p:spPr>
          <a:xfrm>
            <a:off x="6400800" y="3337560"/>
            <a:ext cx="4983480" cy="365760"/>
          </a:xfrm>
          <a:prstGeom prst="rect">
            <a:avLst/>
          </a:prstGeom>
          <a:noFill/>
          <a:ln/>
        </p:spPr>
        <p:txBody>
          <a:bodyPr wrap="square" lIns="0" tIns="0" rIns="0" bIns="0" rtlCol="0" anchor="ctr"/>
          <a:lstStyle/>
          <a:p>
            <a:pPr marL="0" indent="0">
              <a:buNone/>
            </a:pPr>
            <a:r>
              <a:rPr lang="en-US" sz="1000" i="1" dirty="0">
                <a:solidFill>
                  <a:srgbClr val="22D3EE"/>
                </a:solidFill>
                <a:latin typeface="Calibri" pitchFamily="34" charset="0"/>
                <a:ea typeface="Calibri" pitchFamily="34" charset="-122"/>
                <a:cs typeface="Calibri" pitchFamily="34" charset="-120"/>
              </a:rPr>
              <a:t>EXAMPLE  ARP request finding a MAC address</a:t>
            </a:r>
            <a:endParaRPr lang="en-US" sz="1000" dirty="0"/>
          </a:p>
        </p:txBody>
      </p:sp>
      <p:sp>
        <p:nvSpPr>
          <p:cNvPr id="22" name="Shape 20"/>
          <p:cNvSpPr/>
          <p:nvPr/>
        </p:nvSpPr>
        <p:spPr>
          <a:xfrm>
            <a:off x="548640" y="3977640"/>
            <a:ext cx="5440680" cy="2148840"/>
          </a:xfrm>
          <a:prstGeom prst="roundRect">
            <a:avLst>
              <a:gd name="adj" fmla="val 3404"/>
            </a:avLst>
          </a:prstGeom>
          <a:solidFill>
            <a:srgbClr val="13294B"/>
          </a:solidFill>
          <a:ln/>
        </p:spPr>
      </p:sp>
      <p:sp>
        <p:nvSpPr>
          <p:cNvPr id="23" name="Text 21"/>
          <p:cNvSpPr/>
          <p:nvPr/>
        </p:nvSpPr>
        <p:spPr>
          <a:xfrm>
            <a:off x="777240" y="4114800"/>
            <a:ext cx="49834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Multicast</a:t>
            </a:r>
            <a:endParaRPr lang="en-US" sz="1500" dirty="0"/>
          </a:p>
        </p:txBody>
      </p:sp>
      <p:sp>
        <p:nvSpPr>
          <p:cNvPr id="24" name="Shape 22"/>
          <p:cNvSpPr/>
          <p:nvPr/>
        </p:nvSpPr>
        <p:spPr>
          <a:xfrm>
            <a:off x="1014984" y="4741164"/>
            <a:ext cx="256032" cy="256032"/>
          </a:xfrm>
          <a:prstGeom prst="ellipse">
            <a:avLst/>
          </a:prstGeom>
          <a:solidFill>
            <a:srgbClr val="22D3EE"/>
          </a:solidFill>
          <a:ln/>
        </p:spPr>
      </p:sp>
      <p:sp>
        <p:nvSpPr>
          <p:cNvPr id="25" name="Shape 23"/>
          <p:cNvSpPr/>
          <p:nvPr/>
        </p:nvSpPr>
        <p:spPr>
          <a:xfrm flipV="1">
            <a:off x="1143000" y="4754880"/>
            <a:ext cx="4023360" cy="114300"/>
          </a:xfrm>
          <a:prstGeom prst="line">
            <a:avLst/>
          </a:prstGeom>
          <a:noFill/>
          <a:ln w="19050">
            <a:solidFill>
              <a:srgbClr val="0891B2"/>
            </a:solidFill>
            <a:prstDash val="solid"/>
          </a:ln>
        </p:spPr>
      </p:sp>
      <p:sp>
        <p:nvSpPr>
          <p:cNvPr id="26" name="Shape 24"/>
          <p:cNvSpPr/>
          <p:nvPr/>
        </p:nvSpPr>
        <p:spPr>
          <a:xfrm>
            <a:off x="5065776" y="4654296"/>
            <a:ext cx="201168" cy="201168"/>
          </a:xfrm>
          <a:prstGeom prst="ellipse">
            <a:avLst/>
          </a:prstGeom>
          <a:solidFill>
            <a:srgbClr val="0891B2"/>
          </a:solidFill>
          <a:ln w="12700">
            <a:solidFill>
              <a:srgbClr val="7E93B3"/>
            </a:solidFill>
            <a:prstDash val="solid"/>
          </a:ln>
        </p:spPr>
      </p:sp>
      <p:sp>
        <p:nvSpPr>
          <p:cNvPr id="27" name="Shape 25"/>
          <p:cNvSpPr/>
          <p:nvPr/>
        </p:nvSpPr>
        <p:spPr>
          <a:xfrm>
            <a:off x="1143000" y="4869180"/>
            <a:ext cx="4023360" cy="137160"/>
          </a:xfrm>
          <a:prstGeom prst="line">
            <a:avLst/>
          </a:prstGeom>
          <a:noFill/>
          <a:ln w="19050">
            <a:solidFill>
              <a:srgbClr val="0891B2"/>
            </a:solidFill>
            <a:prstDash val="solid"/>
          </a:ln>
        </p:spPr>
      </p:sp>
      <p:sp>
        <p:nvSpPr>
          <p:cNvPr id="28" name="Shape 26"/>
          <p:cNvSpPr/>
          <p:nvPr/>
        </p:nvSpPr>
        <p:spPr>
          <a:xfrm>
            <a:off x="5065776" y="4905756"/>
            <a:ext cx="201168" cy="201168"/>
          </a:xfrm>
          <a:prstGeom prst="ellipse">
            <a:avLst/>
          </a:prstGeom>
          <a:solidFill>
            <a:srgbClr val="0891B2"/>
          </a:solidFill>
          <a:ln w="12700">
            <a:solidFill>
              <a:srgbClr val="7E93B3"/>
            </a:solidFill>
            <a:prstDash val="solid"/>
          </a:ln>
        </p:spPr>
      </p:sp>
      <p:sp>
        <p:nvSpPr>
          <p:cNvPr id="29" name="Text 27"/>
          <p:cNvSpPr/>
          <p:nvPr/>
        </p:nvSpPr>
        <p:spPr>
          <a:xfrm>
            <a:off x="777240" y="5276088"/>
            <a:ext cx="4983480" cy="365760"/>
          </a:xfrm>
          <a:prstGeom prst="rect">
            <a:avLst/>
          </a:prstGeom>
          <a:noFill/>
          <a:ln/>
        </p:spPr>
        <p:txBody>
          <a:bodyPr wrap="square" lIns="0" tIns="0" rIns="0" bIns="0" rtlCol="0" anchor="ctr"/>
          <a:lstStyle/>
          <a:p>
            <a:pPr marL="0" indent="0">
              <a:buNone/>
            </a:pPr>
            <a:r>
              <a:rPr lang="en-US" sz="1150" dirty="0">
                <a:solidFill>
                  <a:srgbClr val="AEC3DD"/>
                </a:solidFill>
                <a:latin typeface="Calibri" pitchFamily="34" charset="0"/>
                <a:ea typeface="Calibri" pitchFamily="34" charset="-122"/>
                <a:cs typeface="Calibri" pitchFamily="34" charset="-120"/>
              </a:rPr>
              <a:t>One sender → a specific group</a:t>
            </a:r>
            <a:endParaRPr lang="en-US" sz="1150" dirty="0"/>
          </a:p>
        </p:txBody>
      </p:sp>
      <p:sp>
        <p:nvSpPr>
          <p:cNvPr id="30" name="Text 28"/>
          <p:cNvSpPr/>
          <p:nvPr/>
        </p:nvSpPr>
        <p:spPr>
          <a:xfrm>
            <a:off x="777240" y="5669280"/>
            <a:ext cx="4983480" cy="365760"/>
          </a:xfrm>
          <a:prstGeom prst="rect">
            <a:avLst/>
          </a:prstGeom>
          <a:noFill/>
          <a:ln/>
        </p:spPr>
        <p:txBody>
          <a:bodyPr wrap="square" lIns="0" tIns="0" rIns="0" bIns="0" rtlCol="0" anchor="ctr"/>
          <a:lstStyle/>
          <a:p>
            <a:pPr marL="0" indent="0">
              <a:buNone/>
            </a:pPr>
            <a:r>
              <a:rPr lang="en-US" sz="1000" i="1" dirty="0">
                <a:solidFill>
                  <a:srgbClr val="22D3EE"/>
                </a:solidFill>
                <a:latin typeface="Calibri" pitchFamily="34" charset="0"/>
                <a:ea typeface="Calibri" pitchFamily="34" charset="-122"/>
                <a:cs typeface="Calibri" pitchFamily="34" charset="-120"/>
              </a:rPr>
              <a:t>EXAMPLE  IPTV / video conference stream</a:t>
            </a:r>
            <a:endParaRPr lang="en-US" sz="1000" dirty="0"/>
          </a:p>
        </p:txBody>
      </p:sp>
      <p:sp>
        <p:nvSpPr>
          <p:cNvPr id="31" name="Shape 29"/>
          <p:cNvSpPr/>
          <p:nvPr/>
        </p:nvSpPr>
        <p:spPr>
          <a:xfrm>
            <a:off x="6172200" y="3977640"/>
            <a:ext cx="5440680" cy="2148840"/>
          </a:xfrm>
          <a:prstGeom prst="roundRect">
            <a:avLst>
              <a:gd name="adj" fmla="val 3404"/>
            </a:avLst>
          </a:prstGeom>
          <a:solidFill>
            <a:srgbClr val="13294B"/>
          </a:solidFill>
          <a:ln/>
        </p:spPr>
      </p:sp>
      <p:sp>
        <p:nvSpPr>
          <p:cNvPr id="32" name="Text 30"/>
          <p:cNvSpPr/>
          <p:nvPr/>
        </p:nvSpPr>
        <p:spPr>
          <a:xfrm>
            <a:off x="6400800" y="4114800"/>
            <a:ext cx="49834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Anycast</a:t>
            </a:r>
            <a:endParaRPr lang="en-US" sz="1500" dirty="0"/>
          </a:p>
        </p:txBody>
      </p:sp>
      <p:sp>
        <p:nvSpPr>
          <p:cNvPr id="33" name="Shape 31"/>
          <p:cNvSpPr/>
          <p:nvPr/>
        </p:nvSpPr>
        <p:spPr>
          <a:xfrm>
            <a:off x="6638544" y="4741164"/>
            <a:ext cx="256032" cy="256032"/>
          </a:xfrm>
          <a:prstGeom prst="ellipse">
            <a:avLst/>
          </a:prstGeom>
          <a:solidFill>
            <a:srgbClr val="22D3EE"/>
          </a:solidFill>
          <a:ln/>
        </p:spPr>
      </p:sp>
      <p:sp>
        <p:nvSpPr>
          <p:cNvPr id="34" name="Shape 32"/>
          <p:cNvSpPr/>
          <p:nvPr/>
        </p:nvSpPr>
        <p:spPr>
          <a:xfrm flipV="1">
            <a:off x="6766560" y="4709160"/>
            <a:ext cx="4023360" cy="160020"/>
          </a:xfrm>
          <a:prstGeom prst="line">
            <a:avLst/>
          </a:prstGeom>
          <a:noFill/>
          <a:ln w="19050">
            <a:solidFill>
              <a:srgbClr val="FBBF24"/>
            </a:solidFill>
            <a:prstDash val="dash"/>
          </a:ln>
        </p:spPr>
      </p:sp>
      <p:sp>
        <p:nvSpPr>
          <p:cNvPr id="35" name="Shape 33"/>
          <p:cNvSpPr/>
          <p:nvPr/>
        </p:nvSpPr>
        <p:spPr>
          <a:xfrm>
            <a:off x="10689336" y="4608576"/>
            <a:ext cx="201168" cy="201168"/>
          </a:xfrm>
          <a:prstGeom prst="ellipse">
            <a:avLst/>
          </a:prstGeom>
          <a:solidFill>
            <a:srgbClr val="0891B2"/>
          </a:solidFill>
          <a:ln w="12700">
            <a:solidFill>
              <a:srgbClr val="7E93B3"/>
            </a:solidFill>
            <a:prstDash val="solid"/>
          </a:ln>
        </p:spPr>
      </p:sp>
      <p:sp>
        <p:nvSpPr>
          <p:cNvPr id="36" name="Shape 34"/>
          <p:cNvSpPr/>
          <p:nvPr/>
        </p:nvSpPr>
        <p:spPr>
          <a:xfrm>
            <a:off x="6766560" y="4869180"/>
            <a:ext cx="4023360" cy="160020"/>
          </a:xfrm>
          <a:prstGeom prst="line">
            <a:avLst/>
          </a:prstGeom>
          <a:noFill/>
          <a:ln w="19050">
            <a:solidFill>
              <a:srgbClr val="FBBF24"/>
            </a:solidFill>
            <a:prstDash val="dash"/>
          </a:ln>
        </p:spPr>
      </p:sp>
      <p:sp>
        <p:nvSpPr>
          <p:cNvPr id="37" name="Shape 35"/>
          <p:cNvSpPr/>
          <p:nvPr/>
        </p:nvSpPr>
        <p:spPr>
          <a:xfrm>
            <a:off x="10689336" y="4928616"/>
            <a:ext cx="201168" cy="201168"/>
          </a:xfrm>
          <a:prstGeom prst="ellipse">
            <a:avLst/>
          </a:prstGeom>
          <a:solidFill>
            <a:srgbClr val="0F2140"/>
          </a:solidFill>
          <a:ln w="12700">
            <a:solidFill>
              <a:srgbClr val="7E93B3"/>
            </a:solidFill>
            <a:prstDash val="solid"/>
          </a:ln>
        </p:spPr>
      </p:sp>
      <p:sp>
        <p:nvSpPr>
          <p:cNvPr id="38" name="Text 36"/>
          <p:cNvSpPr/>
          <p:nvPr/>
        </p:nvSpPr>
        <p:spPr>
          <a:xfrm>
            <a:off x="10378440" y="4526280"/>
            <a:ext cx="822960" cy="182880"/>
          </a:xfrm>
          <a:prstGeom prst="rect">
            <a:avLst/>
          </a:prstGeom>
          <a:noFill/>
          <a:ln/>
        </p:spPr>
        <p:txBody>
          <a:bodyPr wrap="square" rtlCol="0" anchor="ctr"/>
          <a:lstStyle/>
          <a:p>
            <a:pPr marL="0" indent="0" algn="ctr">
              <a:buNone/>
            </a:pPr>
            <a:r>
              <a:rPr lang="en-US" sz="800" dirty="0">
                <a:solidFill>
                  <a:srgbClr val="FBBF24"/>
                </a:solidFill>
                <a:latin typeface="Calibri" pitchFamily="34" charset="0"/>
                <a:ea typeface="Calibri" pitchFamily="34" charset="-122"/>
                <a:cs typeface="Calibri" pitchFamily="34" charset="-120"/>
              </a:rPr>
              <a:t>nearest</a:t>
            </a:r>
            <a:endParaRPr lang="en-US" sz="800" dirty="0"/>
          </a:p>
        </p:txBody>
      </p:sp>
      <p:sp>
        <p:nvSpPr>
          <p:cNvPr id="39" name="Text 37"/>
          <p:cNvSpPr/>
          <p:nvPr/>
        </p:nvSpPr>
        <p:spPr>
          <a:xfrm>
            <a:off x="6400800" y="5276088"/>
            <a:ext cx="4983480" cy="365760"/>
          </a:xfrm>
          <a:prstGeom prst="rect">
            <a:avLst/>
          </a:prstGeom>
          <a:noFill/>
          <a:ln/>
        </p:spPr>
        <p:txBody>
          <a:bodyPr wrap="square" lIns="0" tIns="0" rIns="0" bIns="0" rtlCol="0" anchor="ctr"/>
          <a:lstStyle/>
          <a:p>
            <a:pPr marL="0" indent="0">
              <a:buNone/>
            </a:pPr>
            <a:r>
              <a:rPr lang="en-US" sz="1150" dirty="0">
                <a:solidFill>
                  <a:srgbClr val="AEC3DD"/>
                </a:solidFill>
                <a:latin typeface="Calibri" pitchFamily="34" charset="0"/>
                <a:ea typeface="Calibri" pitchFamily="34" charset="-122"/>
                <a:cs typeface="Calibri" pitchFamily="34" charset="-120"/>
              </a:rPr>
              <a:t>One sender → nearest of several receivers</a:t>
            </a:r>
            <a:endParaRPr lang="en-US" sz="1150" dirty="0"/>
          </a:p>
        </p:txBody>
      </p:sp>
      <p:sp>
        <p:nvSpPr>
          <p:cNvPr id="40" name="Text 38"/>
          <p:cNvSpPr/>
          <p:nvPr/>
        </p:nvSpPr>
        <p:spPr>
          <a:xfrm>
            <a:off x="6400800" y="5669280"/>
            <a:ext cx="4983480" cy="365760"/>
          </a:xfrm>
          <a:prstGeom prst="rect">
            <a:avLst/>
          </a:prstGeom>
          <a:noFill/>
          <a:ln/>
        </p:spPr>
        <p:txBody>
          <a:bodyPr wrap="square" lIns="0" tIns="0" rIns="0" bIns="0" rtlCol="0" anchor="ctr"/>
          <a:lstStyle/>
          <a:p>
            <a:pPr marL="0" indent="0">
              <a:buNone/>
            </a:pPr>
            <a:r>
              <a:rPr lang="en-US" sz="1000" i="1" dirty="0">
                <a:solidFill>
                  <a:srgbClr val="22D3EE"/>
                </a:solidFill>
                <a:latin typeface="Calibri" pitchFamily="34" charset="0"/>
                <a:ea typeface="Calibri" pitchFamily="34" charset="-122"/>
                <a:cs typeface="Calibri" pitchFamily="34" charset="-120"/>
              </a:rPr>
              <a:t>EXAMPLE  DNS root servers, CDNs</a:t>
            </a:r>
            <a:endParaRPr lang="en-US" sz="1000" dirty="0"/>
          </a:p>
        </p:txBody>
      </p:sp>
      <p:sp>
        <p:nvSpPr>
          <p:cNvPr id="41" name="Text 3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07</a:t>
            </a:r>
            <a:endParaRPr lang="en-US" sz="1000" dirty="0"/>
          </a:p>
        </p:txBody>
      </p:sp>
      <p:sp>
        <p:nvSpPr>
          <p:cNvPr id="42" name="Text 40"/>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Network Devices (Part 1)</a:t>
            </a:r>
            <a:endParaRPr lang="en-US" sz="3200" dirty="0"/>
          </a:p>
        </p:txBody>
      </p:sp>
      <p:sp>
        <p:nvSpPr>
          <p:cNvPr id="4" name="Shape 2"/>
          <p:cNvSpPr/>
          <p:nvPr/>
        </p:nvSpPr>
        <p:spPr>
          <a:xfrm>
            <a:off x="548640" y="1572768"/>
            <a:ext cx="3639312" cy="2148840"/>
          </a:xfrm>
          <a:prstGeom prst="roundRect">
            <a:avLst>
              <a:gd name="adj" fmla="val 3404"/>
            </a:avLst>
          </a:prstGeom>
          <a:solidFill>
            <a:srgbClr val="13294B"/>
          </a:solidFill>
          <a:ln/>
        </p:spPr>
      </p:sp>
      <p:sp>
        <p:nvSpPr>
          <p:cNvPr id="5" name="Shape 3"/>
          <p:cNvSpPr/>
          <p:nvPr/>
        </p:nvSpPr>
        <p:spPr>
          <a:xfrm>
            <a:off x="722376" y="1746504"/>
            <a:ext cx="566928" cy="566928"/>
          </a:xfrm>
          <a:prstGeom prst="ellipse">
            <a:avLst/>
          </a:prstGeom>
          <a:solidFill>
            <a:srgbClr val="0891B2"/>
          </a:solidFill>
          <a:ln/>
        </p:spPr>
      </p:sp>
      <p:sp>
        <p:nvSpPr>
          <p:cNvPr id="6" name="Text 4"/>
          <p:cNvSpPr/>
          <p:nvPr/>
        </p:nvSpPr>
        <p:spPr>
          <a:xfrm>
            <a:off x="722376" y="1746504"/>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HUB</a:t>
            </a:r>
            <a:endParaRPr lang="en-US" sz="1300" dirty="0"/>
          </a:p>
        </p:txBody>
      </p:sp>
      <p:sp>
        <p:nvSpPr>
          <p:cNvPr id="7" name="Text 5"/>
          <p:cNvSpPr/>
          <p:nvPr/>
        </p:nvSpPr>
        <p:spPr>
          <a:xfrm>
            <a:off x="1463040" y="1755648"/>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Hub</a:t>
            </a:r>
            <a:endParaRPr lang="en-US" sz="1400" dirty="0"/>
          </a:p>
        </p:txBody>
      </p:sp>
      <p:sp>
        <p:nvSpPr>
          <p:cNvPr id="8" name="Text 6"/>
          <p:cNvSpPr/>
          <p:nvPr/>
        </p:nvSpPr>
        <p:spPr>
          <a:xfrm>
            <a:off x="1463040" y="2075688"/>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1 (Physical)</a:t>
            </a:r>
            <a:endParaRPr lang="en-US" sz="950" dirty="0"/>
          </a:p>
        </p:txBody>
      </p:sp>
      <p:sp>
        <p:nvSpPr>
          <p:cNvPr id="9" name="Text 7"/>
          <p:cNvSpPr/>
          <p:nvPr/>
        </p:nvSpPr>
        <p:spPr>
          <a:xfrm>
            <a:off x="731520" y="2468880"/>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Broadcasts incoming data to every connected port — no intelligence.</a:t>
            </a:r>
            <a:endParaRPr lang="en-US" sz="1050" dirty="0"/>
          </a:p>
        </p:txBody>
      </p:sp>
      <p:sp>
        <p:nvSpPr>
          <p:cNvPr id="10" name="Text 8"/>
          <p:cNvSpPr/>
          <p:nvPr/>
        </p:nvSpPr>
        <p:spPr>
          <a:xfrm>
            <a:off x="731520" y="3410712"/>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Legacy Ethernet hub</a:t>
            </a:r>
            <a:endParaRPr lang="en-US" sz="900" dirty="0"/>
          </a:p>
        </p:txBody>
      </p:sp>
      <p:sp>
        <p:nvSpPr>
          <p:cNvPr id="11" name="Shape 9"/>
          <p:cNvSpPr/>
          <p:nvPr/>
        </p:nvSpPr>
        <p:spPr>
          <a:xfrm>
            <a:off x="4325112" y="1572768"/>
            <a:ext cx="3639312" cy="2148840"/>
          </a:xfrm>
          <a:prstGeom prst="roundRect">
            <a:avLst>
              <a:gd name="adj" fmla="val 3404"/>
            </a:avLst>
          </a:prstGeom>
          <a:solidFill>
            <a:srgbClr val="13294B"/>
          </a:solidFill>
          <a:ln/>
        </p:spPr>
      </p:sp>
      <p:sp>
        <p:nvSpPr>
          <p:cNvPr id="12" name="Shape 10"/>
          <p:cNvSpPr/>
          <p:nvPr/>
        </p:nvSpPr>
        <p:spPr>
          <a:xfrm>
            <a:off x="4498848" y="1746504"/>
            <a:ext cx="566928" cy="566928"/>
          </a:xfrm>
          <a:prstGeom prst="ellipse">
            <a:avLst/>
          </a:prstGeom>
          <a:solidFill>
            <a:srgbClr val="0891B2"/>
          </a:solidFill>
          <a:ln/>
        </p:spPr>
      </p:sp>
      <p:sp>
        <p:nvSpPr>
          <p:cNvPr id="13" name="Text 11"/>
          <p:cNvSpPr/>
          <p:nvPr/>
        </p:nvSpPr>
        <p:spPr>
          <a:xfrm>
            <a:off x="4498848" y="1746504"/>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SW</a:t>
            </a:r>
            <a:endParaRPr lang="en-US" sz="1300" dirty="0"/>
          </a:p>
        </p:txBody>
      </p:sp>
      <p:sp>
        <p:nvSpPr>
          <p:cNvPr id="14" name="Text 12"/>
          <p:cNvSpPr/>
          <p:nvPr/>
        </p:nvSpPr>
        <p:spPr>
          <a:xfrm>
            <a:off x="5239512" y="1755648"/>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Switch</a:t>
            </a:r>
            <a:endParaRPr lang="en-US" sz="1400" dirty="0"/>
          </a:p>
        </p:txBody>
      </p:sp>
      <p:sp>
        <p:nvSpPr>
          <p:cNvPr id="15" name="Text 13"/>
          <p:cNvSpPr/>
          <p:nvPr/>
        </p:nvSpPr>
        <p:spPr>
          <a:xfrm>
            <a:off x="5239512" y="2075688"/>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2 (Data Link)</a:t>
            </a:r>
            <a:endParaRPr lang="en-US" sz="950" dirty="0"/>
          </a:p>
        </p:txBody>
      </p:sp>
      <p:sp>
        <p:nvSpPr>
          <p:cNvPr id="16" name="Text 14"/>
          <p:cNvSpPr/>
          <p:nvPr/>
        </p:nvSpPr>
        <p:spPr>
          <a:xfrm>
            <a:off x="4507992" y="2468880"/>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Forwards data only to the intended device using MAC addresses.</a:t>
            </a:r>
            <a:endParaRPr lang="en-US" sz="1050" dirty="0"/>
          </a:p>
        </p:txBody>
      </p:sp>
      <p:sp>
        <p:nvSpPr>
          <p:cNvPr id="17" name="Text 15"/>
          <p:cNvSpPr/>
          <p:nvPr/>
        </p:nvSpPr>
        <p:spPr>
          <a:xfrm>
            <a:off x="4507992" y="3410712"/>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Cisco Catalyst switch</a:t>
            </a:r>
            <a:endParaRPr lang="en-US" sz="900" dirty="0"/>
          </a:p>
        </p:txBody>
      </p:sp>
      <p:sp>
        <p:nvSpPr>
          <p:cNvPr id="18" name="Shape 16"/>
          <p:cNvSpPr/>
          <p:nvPr/>
        </p:nvSpPr>
        <p:spPr>
          <a:xfrm>
            <a:off x="8101584" y="1572768"/>
            <a:ext cx="3639312" cy="2148840"/>
          </a:xfrm>
          <a:prstGeom prst="roundRect">
            <a:avLst>
              <a:gd name="adj" fmla="val 3404"/>
            </a:avLst>
          </a:prstGeom>
          <a:solidFill>
            <a:srgbClr val="13294B"/>
          </a:solidFill>
          <a:ln/>
        </p:spPr>
      </p:sp>
      <p:sp>
        <p:nvSpPr>
          <p:cNvPr id="19" name="Shape 17"/>
          <p:cNvSpPr/>
          <p:nvPr/>
        </p:nvSpPr>
        <p:spPr>
          <a:xfrm>
            <a:off x="8275320" y="1746504"/>
            <a:ext cx="566928" cy="566928"/>
          </a:xfrm>
          <a:prstGeom prst="ellipse">
            <a:avLst/>
          </a:prstGeom>
          <a:solidFill>
            <a:srgbClr val="0891B2"/>
          </a:solidFill>
          <a:ln/>
        </p:spPr>
      </p:sp>
      <p:sp>
        <p:nvSpPr>
          <p:cNvPr id="20" name="Text 18"/>
          <p:cNvSpPr/>
          <p:nvPr/>
        </p:nvSpPr>
        <p:spPr>
          <a:xfrm>
            <a:off x="8275320" y="1746504"/>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RT</a:t>
            </a:r>
            <a:endParaRPr lang="en-US" sz="1300" dirty="0"/>
          </a:p>
        </p:txBody>
      </p:sp>
      <p:sp>
        <p:nvSpPr>
          <p:cNvPr id="21" name="Text 19"/>
          <p:cNvSpPr/>
          <p:nvPr/>
        </p:nvSpPr>
        <p:spPr>
          <a:xfrm>
            <a:off x="9015984" y="1755648"/>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22" name="Text 20"/>
          <p:cNvSpPr/>
          <p:nvPr/>
        </p:nvSpPr>
        <p:spPr>
          <a:xfrm>
            <a:off x="9015984" y="2075688"/>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3 (Network)</a:t>
            </a:r>
            <a:endParaRPr lang="en-US" sz="950" dirty="0"/>
          </a:p>
        </p:txBody>
      </p:sp>
      <p:sp>
        <p:nvSpPr>
          <p:cNvPr id="23" name="Text 21"/>
          <p:cNvSpPr/>
          <p:nvPr/>
        </p:nvSpPr>
        <p:spPr>
          <a:xfrm>
            <a:off x="8284464" y="2468880"/>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Connects different networks and directs traffic using IP addresses.</a:t>
            </a:r>
            <a:endParaRPr lang="en-US" sz="1050" dirty="0"/>
          </a:p>
        </p:txBody>
      </p:sp>
      <p:sp>
        <p:nvSpPr>
          <p:cNvPr id="24" name="Text 22"/>
          <p:cNvSpPr/>
          <p:nvPr/>
        </p:nvSpPr>
        <p:spPr>
          <a:xfrm>
            <a:off x="8284464" y="3410712"/>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Home Wi-Fi router</a:t>
            </a:r>
            <a:endParaRPr lang="en-US" sz="900" dirty="0"/>
          </a:p>
        </p:txBody>
      </p:sp>
      <p:sp>
        <p:nvSpPr>
          <p:cNvPr id="25" name="Shape 23"/>
          <p:cNvSpPr/>
          <p:nvPr/>
        </p:nvSpPr>
        <p:spPr>
          <a:xfrm>
            <a:off x="548640" y="3886200"/>
            <a:ext cx="3639312" cy="2148840"/>
          </a:xfrm>
          <a:prstGeom prst="roundRect">
            <a:avLst>
              <a:gd name="adj" fmla="val 3404"/>
            </a:avLst>
          </a:prstGeom>
          <a:solidFill>
            <a:srgbClr val="13294B"/>
          </a:solidFill>
          <a:ln/>
        </p:spPr>
      </p:sp>
      <p:sp>
        <p:nvSpPr>
          <p:cNvPr id="26" name="Shape 24"/>
          <p:cNvSpPr/>
          <p:nvPr/>
        </p:nvSpPr>
        <p:spPr>
          <a:xfrm>
            <a:off x="722376" y="4059936"/>
            <a:ext cx="566928" cy="566928"/>
          </a:xfrm>
          <a:prstGeom prst="ellipse">
            <a:avLst/>
          </a:prstGeom>
          <a:solidFill>
            <a:srgbClr val="0891B2"/>
          </a:solidFill>
          <a:ln/>
        </p:spPr>
      </p:sp>
      <p:sp>
        <p:nvSpPr>
          <p:cNvPr id="27" name="Text 25"/>
          <p:cNvSpPr/>
          <p:nvPr/>
        </p:nvSpPr>
        <p:spPr>
          <a:xfrm>
            <a:off x="722376" y="405993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RP</a:t>
            </a:r>
            <a:endParaRPr lang="en-US" sz="1300" dirty="0"/>
          </a:p>
        </p:txBody>
      </p:sp>
      <p:sp>
        <p:nvSpPr>
          <p:cNvPr id="28" name="Text 26"/>
          <p:cNvSpPr/>
          <p:nvPr/>
        </p:nvSpPr>
        <p:spPr>
          <a:xfrm>
            <a:off x="1463040" y="4069080"/>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Repeater</a:t>
            </a:r>
            <a:endParaRPr lang="en-US" sz="1400" dirty="0"/>
          </a:p>
        </p:txBody>
      </p:sp>
      <p:sp>
        <p:nvSpPr>
          <p:cNvPr id="29" name="Text 27"/>
          <p:cNvSpPr/>
          <p:nvPr/>
        </p:nvSpPr>
        <p:spPr>
          <a:xfrm>
            <a:off x="1463040" y="4389120"/>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1 (Physical)</a:t>
            </a:r>
            <a:endParaRPr lang="en-US" sz="950" dirty="0"/>
          </a:p>
        </p:txBody>
      </p:sp>
      <p:sp>
        <p:nvSpPr>
          <p:cNvPr id="30" name="Text 28"/>
          <p:cNvSpPr/>
          <p:nvPr/>
        </p:nvSpPr>
        <p:spPr>
          <a:xfrm>
            <a:off x="731520" y="4782312"/>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Regenerates and amplifies weak signals over long distances.</a:t>
            </a:r>
            <a:endParaRPr lang="en-US" sz="1050" dirty="0"/>
          </a:p>
        </p:txBody>
      </p:sp>
      <p:sp>
        <p:nvSpPr>
          <p:cNvPr id="31" name="Text 29"/>
          <p:cNvSpPr/>
          <p:nvPr/>
        </p:nvSpPr>
        <p:spPr>
          <a:xfrm>
            <a:off x="731520" y="5724144"/>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Wi-Fi range extender</a:t>
            </a:r>
            <a:endParaRPr lang="en-US" sz="900" dirty="0"/>
          </a:p>
        </p:txBody>
      </p:sp>
      <p:sp>
        <p:nvSpPr>
          <p:cNvPr id="32" name="Shape 30"/>
          <p:cNvSpPr/>
          <p:nvPr/>
        </p:nvSpPr>
        <p:spPr>
          <a:xfrm>
            <a:off x="4325112" y="3886200"/>
            <a:ext cx="3639312" cy="2148840"/>
          </a:xfrm>
          <a:prstGeom prst="roundRect">
            <a:avLst>
              <a:gd name="adj" fmla="val 3404"/>
            </a:avLst>
          </a:prstGeom>
          <a:solidFill>
            <a:srgbClr val="13294B"/>
          </a:solidFill>
          <a:ln/>
        </p:spPr>
      </p:sp>
      <p:sp>
        <p:nvSpPr>
          <p:cNvPr id="33" name="Shape 31"/>
          <p:cNvSpPr/>
          <p:nvPr/>
        </p:nvSpPr>
        <p:spPr>
          <a:xfrm>
            <a:off x="4498848" y="4059936"/>
            <a:ext cx="566928" cy="566928"/>
          </a:xfrm>
          <a:prstGeom prst="ellipse">
            <a:avLst/>
          </a:prstGeom>
          <a:solidFill>
            <a:srgbClr val="0891B2"/>
          </a:solidFill>
          <a:ln/>
        </p:spPr>
      </p:sp>
      <p:sp>
        <p:nvSpPr>
          <p:cNvPr id="34" name="Text 32"/>
          <p:cNvSpPr/>
          <p:nvPr/>
        </p:nvSpPr>
        <p:spPr>
          <a:xfrm>
            <a:off x="4498848" y="405993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BR</a:t>
            </a:r>
            <a:endParaRPr lang="en-US" sz="1300" dirty="0"/>
          </a:p>
        </p:txBody>
      </p:sp>
      <p:sp>
        <p:nvSpPr>
          <p:cNvPr id="35" name="Text 33"/>
          <p:cNvSpPr/>
          <p:nvPr/>
        </p:nvSpPr>
        <p:spPr>
          <a:xfrm>
            <a:off x="5239512" y="4069080"/>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Bridge</a:t>
            </a:r>
            <a:endParaRPr lang="en-US" sz="1400" dirty="0"/>
          </a:p>
        </p:txBody>
      </p:sp>
      <p:sp>
        <p:nvSpPr>
          <p:cNvPr id="36" name="Text 34"/>
          <p:cNvSpPr/>
          <p:nvPr/>
        </p:nvSpPr>
        <p:spPr>
          <a:xfrm>
            <a:off x="5239512" y="4389120"/>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2 (Data Link)</a:t>
            </a:r>
            <a:endParaRPr lang="en-US" sz="950" dirty="0"/>
          </a:p>
        </p:txBody>
      </p:sp>
      <p:sp>
        <p:nvSpPr>
          <p:cNvPr id="37" name="Text 35"/>
          <p:cNvSpPr/>
          <p:nvPr/>
        </p:nvSpPr>
        <p:spPr>
          <a:xfrm>
            <a:off x="4507992" y="4782312"/>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Joins two network segments and filters traffic between them.</a:t>
            </a:r>
            <a:endParaRPr lang="en-US" sz="1050" dirty="0"/>
          </a:p>
        </p:txBody>
      </p:sp>
      <p:sp>
        <p:nvSpPr>
          <p:cNvPr id="38" name="Text 36"/>
          <p:cNvSpPr/>
          <p:nvPr/>
        </p:nvSpPr>
        <p:spPr>
          <a:xfrm>
            <a:off x="4507992" y="5724144"/>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Wireless bridge</a:t>
            </a:r>
            <a:endParaRPr lang="en-US" sz="900" dirty="0"/>
          </a:p>
        </p:txBody>
      </p:sp>
      <p:sp>
        <p:nvSpPr>
          <p:cNvPr id="39" name="Shape 37"/>
          <p:cNvSpPr/>
          <p:nvPr/>
        </p:nvSpPr>
        <p:spPr>
          <a:xfrm>
            <a:off x="8101584" y="3886200"/>
            <a:ext cx="3639312" cy="2148840"/>
          </a:xfrm>
          <a:prstGeom prst="roundRect">
            <a:avLst>
              <a:gd name="adj" fmla="val 3404"/>
            </a:avLst>
          </a:prstGeom>
          <a:solidFill>
            <a:srgbClr val="13294B"/>
          </a:solidFill>
          <a:ln/>
        </p:spPr>
      </p:sp>
      <p:sp>
        <p:nvSpPr>
          <p:cNvPr id="40" name="Shape 38"/>
          <p:cNvSpPr/>
          <p:nvPr/>
        </p:nvSpPr>
        <p:spPr>
          <a:xfrm>
            <a:off x="8275320" y="4059936"/>
            <a:ext cx="566928" cy="566928"/>
          </a:xfrm>
          <a:prstGeom prst="ellipse">
            <a:avLst/>
          </a:prstGeom>
          <a:solidFill>
            <a:srgbClr val="0891B2"/>
          </a:solidFill>
          <a:ln/>
        </p:spPr>
      </p:sp>
      <p:sp>
        <p:nvSpPr>
          <p:cNvPr id="41" name="Text 39"/>
          <p:cNvSpPr/>
          <p:nvPr/>
        </p:nvSpPr>
        <p:spPr>
          <a:xfrm>
            <a:off x="8275320" y="405993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GW</a:t>
            </a:r>
            <a:endParaRPr lang="en-US" sz="1300" dirty="0"/>
          </a:p>
        </p:txBody>
      </p:sp>
      <p:sp>
        <p:nvSpPr>
          <p:cNvPr id="42" name="Text 40"/>
          <p:cNvSpPr/>
          <p:nvPr/>
        </p:nvSpPr>
        <p:spPr>
          <a:xfrm>
            <a:off x="9015984" y="4069080"/>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Gateway</a:t>
            </a:r>
            <a:endParaRPr lang="en-US" sz="1400" dirty="0"/>
          </a:p>
        </p:txBody>
      </p:sp>
      <p:sp>
        <p:nvSpPr>
          <p:cNvPr id="43" name="Text 41"/>
          <p:cNvSpPr/>
          <p:nvPr/>
        </p:nvSpPr>
        <p:spPr>
          <a:xfrm>
            <a:off x="9015984" y="4389120"/>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All (1-7)</a:t>
            </a:r>
            <a:endParaRPr lang="en-US" sz="950" dirty="0"/>
          </a:p>
        </p:txBody>
      </p:sp>
      <p:sp>
        <p:nvSpPr>
          <p:cNvPr id="44" name="Text 42"/>
          <p:cNvSpPr/>
          <p:nvPr/>
        </p:nvSpPr>
        <p:spPr>
          <a:xfrm>
            <a:off x="8284464" y="4782312"/>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Translates between two different network protocols/architectures.</a:t>
            </a:r>
            <a:endParaRPr lang="en-US" sz="1050" dirty="0"/>
          </a:p>
        </p:txBody>
      </p:sp>
      <p:sp>
        <p:nvSpPr>
          <p:cNvPr id="45" name="Text 43"/>
          <p:cNvSpPr/>
          <p:nvPr/>
        </p:nvSpPr>
        <p:spPr>
          <a:xfrm>
            <a:off x="8284464" y="5724144"/>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VoIP gateway</a:t>
            </a:r>
            <a:endParaRPr lang="en-US" sz="900" dirty="0"/>
          </a:p>
        </p:txBody>
      </p:sp>
      <p:sp>
        <p:nvSpPr>
          <p:cNvPr id="46" name="Text 4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08</a:t>
            </a:r>
            <a:endParaRPr lang="en-US" sz="1000" dirty="0"/>
          </a:p>
        </p:txBody>
      </p:sp>
      <p:sp>
        <p:nvSpPr>
          <p:cNvPr id="47" name="Text 45"/>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Network Devices (Part 2)</a:t>
            </a:r>
            <a:endParaRPr lang="en-US" sz="3200" dirty="0"/>
          </a:p>
        </p:txBody>
      </p:sp>
      <p:sp>
        <p:nvSpPr>
          <p:cNvPr id="4" name="Shape 2"/>
          <p:cNvSpPr/>
          <p:nvPr/>
        </p:nvSpPr>
        <p:spPr>
          <a:xfrm>
            <a:off x="548640" y="1572768"/>
            <a:ext cx="3639312" cy="2148840"/>
          </a:xfrm>
          <a:prstGeom prst="roundRect">
            <a:avLst>
              <a:gd name="adj" fmla="val 3404"/>
            </a:avLst>
          </a:prstGeom>
          <a:solidFill>
            <a:srgbClr val="13294B"/>
          </a:solidFill>
          <a:ln/>
        </p:spPr>
      </p:sp>
      <p:sp>
        <p:nvSpPr>
          <p:cNvPr id="5" name="Shape 3"/>
          <p:cNvSpPr/>
          <p:nvPr/>
        </p:nvSpPr>
        <p:spPr>
          <a:xfrm>
            <a:off x="722376" y="1746504"/>
            <a:ext cx="566928" cy="566928"/>
          </a:xfrm>
          <a:prstGeom prst="ellipse">
            <a:avLst/>
          </a:prstGeom>
          <a:solidFill>
            <a:srgbClr val="0891B2"/>
          </a:solidFill>
          <a:ln/>
        </p:spPr>
      </p:sp>
      <p:sp>
        <p:nvSpPr>
          <p:cNvPr id="6" name="Text 4"/>
          <p:cNvSpPr/>
          <p:nvPr/>
        </p:nvSpPr>
        <p:spPr>
          <a:xfrm>
            <a:off x="722376" y="1746504"/>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FW</a:t>
            </a:r>
            <a:endParaRPr lang="en-US" sz="1300" dirty="0"/>
          </a:p>
        </p:txBody>
      </p:sp>
      <p:sp>
        <p:nvSpPr>
          <p:cNvPr id="7" name="Text 5"/>
          <p:cNvSpPr/>
          <p:nvPr/>
        </p:nvSpPr>
        <p:spPr>
          <a:xfrm>
            <a:off x="1463040" y="1755648"/>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Firewall</a:t>
            </a:r>
            <a:endParaRPr lang="en-US" sz="1400" dirty="0"/>
          </a:p>
        </p:txBody>
      </p:sp>
      <p:sp>
        <p:nvSpPr>
          <p:cNvPr id="8" name="Text 6"/>
          <p:cNvSpPr/>
          <p:nvPr/>
        </p:nvSpPr>
        <p:spPr>
          <a:xfrm>
            <a:off x="1463040" y="2075688"/>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3-7</a:t>
            </a:r>
            <a:endParaRPr lang="en-US" sz="950" dirty="0"/>
          </a:p>
        </p:txBody>
      </p:sp>
      <p:sp>
        <p:nvSpPr>
          <p:cNvPr id="9" name="Text 7"/>
          <p:cNvSpPr/>
          <p:nvPr/>
        </p:nvSpPr>
        <p:spPr>
          <a:xfrm>
            <a:off x="731520" y="2468880"/>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Filters traffic based on security rules to block unauthorized access.</a:t>
            </a:r>
            <a:endParaRPr lang="en-US" sz="1050" dirty="0"/>
          </a:p>
        </p:txBody>
      </p:sp>
      <p:sp>
        <p:nvSpPr>
          <p:cNvPr id="10" name="Text 8"/>
          <p:cNvSpPr/>
          <p:nvPr/>
        </p:nvSpPr>
        <p:spPr>
          <a:xfrm>
            <a:off x="731520" y="3410712"/>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pfSense, Windows Firewall</a:t>
            </a:r>
            <a:endParaRPr lang="en-US" sz="900" dirty="0"/>
          </a:p>
        </p:txBody>
      </p:sp>
      <p:sp>
        <p:nvSpPr>
          <p:cNvPr id="11" name="Shape 9"/>
          <p:cNvSpPr/>
          <p:nvPr/>
        </p:nvSpPr>
        <p:spPr>
          <a:xfrm>
            <a:off x="4325112" y="1572768"/>
            <a:ext cx="3639312" cy="2148840"/>
          </a:xfrm>
          <a:prstGeom prst="roundRect">
            <a:avLst>
              <a:gd name="adj" fmla="val 3404"/>
            </a:avLst>
          </a:prstGeom>
          <a:solidFill>
            <a:srgbClr val="13294B"/>
          </a:solidFill>
          <a:ln/>
        </p:spPr>
      </p:sp>
      <p:sp>
        <p:nvSpPr>
          <p:cNvPr id="12" name="Shape 10"/>
          <p:cNvSpPr/>
          <p:nvPr/>
        </p:nvSpPr>
        <p:spPr>
          <a:xfrm>
            <a:off x="4498848" y="1746504"/>
            <a:ext cx="566928" cy="566928"/>
          </a:xfrm>
          <a:prstGeom prst="ellipse">
            <a:avLst/>
          </a:prstGeom>
          <a:solidFill>
            <a:srgbClr val="0891B2"/>
          </a:solidFill>
          <a:ln/>
        </p:spPr>
      </p:sp>
      <p:sp>
        <p:nvSpPr>
          <p:cNvPr id="13" name="Text 11"/>
          <p:cNvSpPr/>
          <p:nvPr/>
        </p:nvSpPr>
        <p:spPr>
          <a:xfrm>
            <a:off x="4498848" y="1746504"/>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a:t>
            </a:r>
            <a:endParaRPr lang="en-US" sz="1300" dirty="0"/>
          </a:p>
        </p:txBody>
      </p:sp>
      <p:sp>
        <p:nvSpPr>
          <p:cNvPr id="14" name="Text 12"/>
          <p:cNvSpPr/>
          <p:nvPr/>
        </p:nvSpPr>
        <p:spPr>
          <a:xfrm>
            <a:off x="5239512" y="1755648"/>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Access Point</a:t>
            </a:r>
            <a:endParaRPr lang="en-US" sz="1400" dirty="0"/>
          </a:p>
        </p:txBody>
      </p:sp>
      <p:sp>
        <p:nvSpPr>
          <p:cNvPr id="15" name="Text 13"/>
          <p:cNvSpPr/>
          <p:nvPr/>
        </p:nvSpPr>
        <p:spPr>
          <a:xfrm>
            <a:off x="5239512" y="2075688"/>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1-2</a:t>
            </a:r>
            <a:endParaRPr lang="en-US" sz="950" dirty="0"/>
          </a:p>
        </p:txBody>
      </p:sp>
      <p:sp>
        <p:nvSpPr>
          <p:cNvPr id="16" name="Text 14"/>
          <p:cNvSpPr/>
          <p:nvPr/>
        </p:nvSpPr>
        <p:spPr>
          <a:xfrm>
            <a:off x="4507992" y="2468880"/>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Extends a wired network by broadcasting a Wi-Fi signal.</a:t>
            </a:r>
            <a:endParaRPr lang="en-US" sz="1050" dirty="0"/>
          </a:p>
        </p:txBody>
      </p:sp>
      <p:sp>
        <p:nvSpPr>
          <p:cNvPr id="17" name="Text 15"/>
          <p:cNvSpPr/>
          <p:nvPr/>
        </p:nvSpPr>
        <p:spPr>
          <a:xfrm>
            <a:off x="4507992" y="3410712"/>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Ubiquiti UniFi AP</a:t>
            </a:r>
            <a:endParaRPr lang="en-US" sz="900" dirty="0"/>
          </a:p>
        </p:txBody>
      </p:sp>
      <p:sp>
        <p:nvSpPr>
          <p:cNvPr id="18" name="Shape 16"/>
          <p:cNvSpPr/>
          <p:nvPr/>
        </p:nvSpPr>
        <p:spPr>
          <a:xfrm>
            <a:off x="8101584" y="1572768"/>
            <a:ext cx="3639312" cy="2148840"/>
          </a:xfrm>
          <a:prstGeom prst="roundRect">
            <a:avLst>
              <a:gd name="adj" fmla="val 3404"/>
            </a:avLst>
          </a:prstGeom>
          <a:solidFill>
            <a:srgbClr val="13294B"/>
          </a:solidFill>
          <a:ln/>
        </p:spPr>
      </p:sp>
      <p:sp>
        <p:nvSpPr>
          <p:cNvPr id="19" name="Shape 17"/>
          <p:cNvSpPr/>
          <p:nvPr/>
        </p:nvSpPr>
        <p:spPr>
          <a:xfrm>
            <a:off x="8275320" y="1746504"/>
            <a:ext cx="566928" cy="566928"/>
          </a:xfrm>
          <a:prstGeom prst="ellipse">
            <a:avLst/>
          </a:prstGeom>
          <a:solidFill>
            <a:srgbClr val="0891B2"/>
          </a:solidFill>
          <a:ln/>
        </p:spPr>
      </p:sp>
      <p:sp>
        <p:nvSpPr>
          <p:cNvPr id="20" name="Text 18"/>
          <p:cNvSpPr/>
          <p:nvPr/>
        </p:nvSpPr>
        <p:spPr>
          <a:xfrm>
            <a:off x="8275320" y="1746504"/>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MD</a:t>
            </a:r>
            <a:endParaRPr lang="en-US" sz="1300" dirty="0"/>
          </a:p>
        </p:txBody>
      </p:sp>
      <p:sp>
        <p:nvSpPr>
          <p:cNvPr id="21" name="Text 19"/>
          <p:cNvSpPr/>
          <p:nvPr/>
        </p:nvSpPr>
        <p:spPr>
          <a:xfrm>
            <a:off x="9015984" y="1755648"/>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Modem</a:t>
            </a:r>
            <a:endParaRPr lang="en-US" sz="1400" dirty="0"/>
          </a:p>
        </p:txBody>
      </p:sp>
      <p:sp>
        <p:nvSpPr>
          <p:cNvPr id="22" name="Text 20"/>
          <p:cNvSpPr/>
          <p:nvPr/>
        </p:nvSpPr>
        <p:spPr>
          <a:xfrm>
            <a:off x="9015984" y="2075688"/>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1 (Physical)</a:t>
            </a:r>
            <a:endParaRPr lang="en-US" sz="950" dirty="0"/>
          </a:p>
        </p:txBody>
      </p:sp>
      <p:sp>
        <p:nvSpPr>
          <p:cNvPr id="23" name="Text 21"/>
          <p:cNvSpPr/>
          <p:nvPr/>
        </p:nvSpPr>
        <p:spPr>
          <a:xfrm>
            <a:off x="8284464" y="2468880"/>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Converts digital signals to analog (and back) for ISP lines.</a:t>
            </a:r>
            <a:endParaRPr lang="en-US" sz="1050" dirty="0"/>
          </a:p>
        </p:txBody>
      </p:sp>
      <p:sp>
        <p:nvSpPr>
          <p:cNvPr id="24" name="Text 22"/>
          <p:cNvSpPr/>
          <p:nvPr/>
        </p:nvSpPr>
        <p:spPr>
          <a:xfrm>
            <a:off x="8284464" y="3410712"/>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Cable/DSL modem</a:t>
            </a:r>
            <a:endParaRPr lang="en-US" sz="900" dirty="0"/>
          </a:p>
        </p:txBody>
      </p:sp>
      <p:sp>
        <p:nvSpPr>
          <p:cNvPr id="25" name="Shape 23"/>
          <p:cNvSpPr/>
          <p:nvPr/>
        </p:nvSpPr>
        <p:spPr>
          <a:xfrm>
            <a:off x="548640" y="3886200"/>
            <a:ext cx="3639312" cy="2148840"/>
          </a:xfrm>
          <a:prstGeom prst="roundRect">
            <a:avLst>
              <a:gd name="adj" fmla="val 3404"/>
            </a:avLst>
          </a:prstGeom>
          <a:solidFill>
            <a:srgbClr val="13294B"/>
          </a:solidFill>
          <a:ln/>
        </p:spPr>
      </p:sp>
      <p:sp>
        <p:nvSpPr>
          <p:cNvPr id="26" name="Shape 24"/>
          <p:cNvSpPr/>
          <p:nvPr/>
        </p:nvSpPr>
        <p:spPr>
          <a:xfrm>
            <a:off x="722376" y="4059936"/>
            <a:ext cx="566928" cy="566928"/>
          </a:xfrm>
          <a:prstGeom prst="ellipse">
            <a:avLst/>
          </a:prstGeom>
          <a:solidFill>
            <a:srgbClr val="0891B2"/>
          </a:solidFill>
          <a:ln/>
        </p:spPr>
      </p:sp>
      <p:sp>
        <p:nvSpPr>
          <p:cNvPr id="27" name="Text 25"/>
          <p:cNvSpPr/>
          <p:nvPr/>
        </p:nvSpPr>
        <p:spPr>
          <a:xfrm>
            <a:off x="722376" y="405993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LB</a:t>
            </a:r>
            <a:endParaRPr lang="en-US" sz="1300" dirty="0"/>
          </a:p>
        </p:txBody>
      </p:sp>
      <p:sp>
        <p:nvSpPr>
          <p:cNvPr id="28" name="Text 26"/>
          <p:cNvSpPr/>
          <p:nvPr/>
        </p:nvSpPr>
        <p:spPr>
          <a:xfrm>
            <a:off x="1463040" y="4069080"/>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Load Balancer</a:t>
            </a:r>
            <a:endParaRPr lang="en-US" sz="1400" dirty="0"/>
          </a:p>
        </p:txBody>
      </p:sp>
      <p:sp>
        <p:nvSpPr>
          <p:cNvPr id="29" name="Text 27"/>
          <p:cNvSpPr/>
          <p:nvPr/>
        </p:nvSpPr>
        <p:spPr>
          <a:xfrm>
            <a:off x="1463040" y="4389120"/>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4-7</a:t>
            </a:r>
            <a:endParaRPr lang="en-US" sz="950" dirty="0"/>
          </a:p>
        </p:txBody>
      </p:sp>
      <p:sp>
        <p:nvSpPr>
          <p:cNvPr id="30" name="Text 28"/>
          <p:cNvSpPr/>
          <p:nvPr/>
        </p:nvSpPr>
        <p:spPr>
          <a:xfrm>
            <a:off x="731520" y="4782312"/>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Distributes traffic across multiple servers for reliability.</a:t>
            </a:r>
            <a:endParaRPr lang="en-US" sz="1050" dirty="0"/>
          </a:p>
        </p:txBody>
      </p:sp>
      <p:sp>
        <p:nvSpPr>
          <p:cNvPr id="31" name="Text 29"/>
          <p:cNvSpPr/>
          <p:nvPr/>
        </p:nvSpPr>
        <p:spPr>
          <a:xfrm>
            <a:off x="731520" y="5724144"/>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NGINX, F5 Big-IP</a:t>
            </a:r>
            <a:endParaRPr lang="en-US" sz="900" dirty="0"/>
          </a:p>
        </p:txBody>
      </p:sp>
      <p:sp>
        <p:nvSpPr>
          <p:cNvPr id="32" name="Shape 30"/>
          <p:cNvSpPr/>
          <p:nvPr/>
        </p:nvSpPr>
        <p:spPr>
          <a:xfrm>
            <a:off x="4325112" y="3886200"/>
            <a:ext cx="3639312" cy="2148840"/>
          </a:xfrm>
          <a:prstGeom prst="roundRect">
            <a:avLst>
              <a:gd name="adj" fmla="val 3404"/>
            </a:avLst>
          </a:prstGeom>
          <a:solidFill>
            <a:srgbClr val="13294B"/>
          </a:solidFill>
          <a:ln/>
        </p:spPr>
      </p:sp>
      <p:sp>
        <p:nvSpPr>
          <p:cNvPr id="33" name="Shape 31"/>
          <p:cNvSpPr/>
          <p:nvPr/>
        </p:nvSpPr>
        <p:spPr>
          <a:xfrm>
            <a:off x="4498848" y="4059936"/>
            <a:ext cx="566928" cy="566928"/>
          </a:xfrm>
          <a:prstGeom prst="ellipse">
            <a:avLst/>
          </a:prstGeom>
          <a:solidFill>
            <a:srgbClr val="0891B2"/>
          </a:solidFill>
          <a:ln/>
        </p:spPr>
      </p:sp>
      <p:sp>
        <p:nvSpPr>
          <p:cNvPr id="34" name="Text 32"/>
          <p:cNvSpPr/>
          <p:nvPr/>
        </p:nvSpPr>
        <p:spPr>
          <a:xfrm>
            <a:off x="4498848" y="405993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IDS</a:t>
            </a:r>
            <a:endParaRPr lang="en-US" sz="1300" dirty="0"/>
          </a:p>
        </p:txBody>
      </p:sp>
      <p:sp>
        <p:nvSpPr>
          <p:cNvPr id="35" name="Text 33"/>
          <p:cNvSpPr/>
          <p:nvPr/>
        </p:nvSpPr>
        <p:spPr>
          <a:xfrm>
            <a:off x="5239512" y="4069080"/>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IDS</a:t>
            </a:r>
            <a:endParaRPr lang="en-US" sz="1400" dirty="0"/>
          </a:p>
        </p:txBody>
      </p:sp>
      <p:sp>
        <p:nvSpPr>
          <p:cNvPr id="36" name="Text 34"/>
          <p:cNvSpPr/>
          <p:nvPr/>
        </p:nvSpPr>
        <p:spPr>
          <a:xfrm>
            <a:off x="5239512" y="4389120"/>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3-7</a:t>
            </a:r>
            <a:endParaRPr lang="en-US" sz="950" dirty="0"/>
          </a:p>
        </p:txBody>
      </p:sp>
      <p:sp>
        <p:nvSpPr>
          <p:cNvPr id="37" name="Text 35"/>
          <p:cNvSpPr/>
          <p:nvPr/>
        </p:nvSpPr>
        <p:spPr>
          <a:xfrm>
            <a:off x="4507992" y="4782312"/>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Monitors traffic and alerts on suspicious/malicious activity.</a:t>
            </a:r>
            <a:endParaRPr lang="en-US" sz="1050" dirty="0"/>
          </a:p>
        </p:txBody>
      </p:sp>
      <p:sp>
        <p:nvSpPr>
          <p:cNvPr id="38" name="Text 36"/>
          <p:cNvSpPr/>
          <p:nvPr/>
        </p:nvSpPr>
        <p:spPr>
          <a:xfrm>
            <a:off x="4507992" y="5724144"/>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Snort, Suricata</a:t>
            </a:r>
            <a:endParaRPr lang="en-US" sz="900" dirty="0"/>
          </a:p>
        </p:txBody>
      </p:sp>
      <p:sp>
        <p:nvSpPr>
          <p:cNvPr id="39" name="Shape 37"/>
          <p:cNvSpPr/>
          <p:nvPr/>
        </p:nvSpPr>
        <p:spPr>
          <a:xfrm>
            <a:off x="8101584" y="3886200"/>
            <a:ext cx="3639312" cy="2148840"/>
          </a:xfrm>
          <a:prstGeom prst="roundRect">
            <a:avLst>
              <a:gd name="adj" fmla="val 3404"/>
            </a:avLst>
          </a:prstGeom>
          <a:solidFill>
            <a:srgbClr val="13294B"/>
          </a:solidFill>
          <a:ln/>
        </p:spPr>
      </p:sp>
      <p:sp>
        <p:nvSpPr>
          <p:cNvPr id="40" name="Shape 38"/>
          <p:cNvSpPr/>
          <p:nvPr/>
        </p:nvSpPr>
        <p:spPr>
          <a:xfrm>
            <a:off x="8275320" y="4059936"/>
            <a:ext cx="566928" cy="566928"/>
          </a:xfrm>
          <a:prstGeom prst="ellipse">
            <a:avLst/>
          </a:prstGeom>
          <a:solidFill>
            <a:srgbClr val="0891B2"/>
          </a:solidFill>
          <a:ln/>
        </p:spPr>
      </p:sp>
      <p:sp>
        <p:nvSpPr>
          <p:cNvPr id="41" name="Text 39"/>
          <p:cNvSpPr/>
          <p:nvPr/>
        </p:nvSpPr>
        <p:spPr>
          <a:xfrm>
            <a:off x="8275320" y="4059936"/>
            <a:ext cx="566928"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IPS</a:t>
            </a:r>
            <a:endParaRPr lang="en-US" sz="1300" dirty="0"/>
          </a:p>
        </p:txBody>
      </p:sp>
      <p:sp>
        <p:nvSpPr>
          <p:cNvPr id="42" name="Text 40"/>
          <p:cNvSpPr/>
          <p:nvPr/>
        </p:nvSpPr>
        <p:spPr>
          <a:xfrm>
            <a:off x="9015984" y="4069080"/>
            <a:ext cx="2587752"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IPS</a:t>
            </a:r>
            <a:endParaRPr lang="en-US" sz="1400" dirty="0"/>
          </a:p>
        </p:txBody>
      </p:sp>
      <p:sp>
        <p:nvSpPr>
          <p:cNvPr id="43" name="Text 41"/>
          <p:cNvSpPr/>
          <p:nvPr/>
        </p:nvSpPr>
        <p:spPr>
          <a:xfrm>
            <a:off x="9015984" y="4389120"/>
            <a:ext cx="2587752" cy="274320"/>
          </a:xfrm>
          <a:prstGeom prst="rect">
            <a:avLst/>
          </a:prstGeom>
          <a:noFill/>
          <a:ln/>
        </p:spPr>
        <p:txBody>
          <a:bodyPr wrap="square" lIns="0" tIns="0" rIns="0" bIns="0" rtlCol="0" anchor="ctr"/>
          <a:lstStyle/>
          <a:p>
            <a:pPr marL="0" indent="0">
              <a:buNone/>
            </a:pPr>
            <a:r>
              <a:rPr lang="en-US" sz="950" dirty="0">
                <a:solidFill>
                  <a:srgbClr val="22D3EE"/>
                </a:solidFill>
                <a:latin typeface="Calibri" pitchFamily="34" charset="0"/>
                <a:ea typeface="Calibri" pitchFamily="34" charset="-122"/>
                <a:cs typeface="Calibri" pitchFamily="34" charset="-120"/>
              </a:rPr>
              <a:t>OSI Layer: 3-7</a:t>
            </a:r>
            <a:endParaRPr lang="en-US" sz="950" dirty="0"/>
          </a:p>
        </p:txBody>
      </p:sp>
      <p:sp>
        <p:nvSpPr>
          <p:cNvPr id="44" name="Text 42"/>
          <p:cNvSpPr/>
          <p:nvPr/>
        </p:nvSpPr>
        <p:spPr>
          <a:xfrm>
            <a:off x="8284464" y="4782312"/>
            <a:ext cx="3273552" cy="777240"/>
          </a:xfrm>
          <a:prstGeom prst="rect">
            <a:avLst/>
          </a:prstGeom>
          <a:noFill/>
          <a:ln/>
        </p:spPr>
        <p:txBody>
          <a:bodyPr wrap="square" lIns="0" tIns="0" rIns="0" bIns="0" rtlCol="0" anchor="t"/>
          <a:lstStyle/>
          <a:p>
            <a:pPr marL="0" indent="0">
              <a:buNone/>
            </a:pPr>
            <a:r>
              <a:rPr lang="en-US" sz="1050" dirty="0">
                <a:solidFill>
                  <a:srgbClr val="AEC3DD"/>
                </a:solidFill>
                <a:latin typeface="Calibri" pitchFamily="34" charset="0"/>
                <a:ea typeface="Calibri" pitchFamily="34" charset="-122"/>
                <a:cs typeface="Calibri" pitchFamily="34" charset="-120"/>
              </a:rPr>
              <a:t>Detects AND actively blocks malicious traffic in real time.</a:t>
            </a:r>
            <a:endParaRPr lang="en-US" sz="1050" dirty="0"/>
          </a:p>
        </p:txBody>
      </p:sp>
      <p:sp>
        <p:nvSpPr>
          <p:cNvPr id="45" name="Text 43"/>
          <p:cNvSpPr/>
          <p:nvPr/>
        </p:nvSpPr>
        <p:spPr>
          <a:xfrm>
            <a:off x="8284464" y="5724144"/>
            <a:ext cx="3273552" cy="256032"/>
          </a:xfrm>
          <a:prstGeom prst="rect">
            <a:avLst/>
          </a:prstGeom>
          <a:noFill/>
          <a:ln/>
        </p:spPr>
        <p:txBody>
          <a:bodyPr wrap="square" lIns="0" tIns="0" rIns="0" bIns="0" rtlCol="0" anchor="ctr"/>
          <a:lstStyle/>
          <a:p>
            <a:pPr marL="0" indent="0">
              <a:buNone/>
            </a:pPr>
            <a:r>
              <a:rPr lang="en-US" sz="900" i="1" dirty="0">
                <a:solidFill>
                  <a:srgbClr val="7E93B3"/>
                </a:solidFill>
                <a:latin typeface="Calibri" pitchFamily="34" charset="0"/>
                <a:ea typeface="Calibri" pitchFamily="34" charset="-122"/>
                <a:cs typeface="Calibri" pitchFamily="34" charset="-120"/>
              </a:rPr>
              <a:t>e.g. Cisco Firepower</a:t>
            </a:r>
            <a:endParaRPr lang="en-US" sz="900" dirty="0"/>
          </a:p>
        </p:txBody>
      </p:sp>
      <p:sp>
        <p:nvSpPr>
          <p:cNvPr id="46" name="Text 4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09</a:t>
            </a:r>
            <a:endParaRPr lang="en-US" sz="1000" dirty="0"/>
          </a:p>
        </p:txBody>
      </p:sp>
      <p:sp>
        <p:nvSpPr>
          <p:cNvPr id="47" name="Text 45"/>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ADDRESSING</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IP Addressing</a:t>
            </a:r>
            <a:endParaRPr lang="en-US" sz="3200" dirty="0"/>
          </a:p>
        </p:txBody>
      </p:sp>
      <p:sp>
        <p:nvSpPr>
          <p:cNvPr id="4" name="Text 2"/>
          <p:cNvSpPr/>
          <p:nvPr/>
        </p:nvSpPr>
        <p:spPr>
          <a:xfrm>
            <a:off x="548640" y="164592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IP Address</a:t>
            </a:r>
            <a:endParaRPr lang="en-US" sz="1150" dirty="0"/>
          </a:p>
        </p:txBody>
      </p:sp>
      <p:sp>
        <p:nvSpPr>
          <p:cNvPr id="5" name="Text 3"/>
          <p:cNvSpPr/>
          <p:nvPr/>
        </p:nvSpPr>
        <p:spPr>
          <a:xfrm>
            <a:off x="548640" y="192024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Unique logical address identifying a device on a network</a:t>
            </a:r>
            <a:endParaRPr lang="en-US" sz="950" dirty="0"/>
          </a:p>
        </p:txBody>
      </p:sp>
      <p:sp>
        <p:nvSpPr>
          <p:cNvPr id="6" name="Text 4"/>
          <p:cNvSpPr/>
          <p:nvPr/>
        </p:nvSpPr>
        <p:spPr>
          <a:xfrm>
            <a:off x="2395728" y="164592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Host</a:t>
            </a:r>
            <a:endParaRPr lang="en-US" sz="1150" dirty="0"/>
          </a:p>
        </p:txBody>
      </p:sp>
      <p:sp>
        <p:nvSpPr>
          <p:cNvPr id="7" name="Text 5"/>
          <p:cNvSpPr/>
          <p:nvPr/>
        </p:nvSpPr>
        <p:spPr>
          <a:xfrm>
            <a:off x="2395728" y="192024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Any device connected to the network (PC, printer, phone)</a:t>
            </a:r>
            <a:endParaRPr lang="en-US" sz="950" dirty="0"/>
          </a:p>
        </p:txBody>
      </p:sp>
      <p:sp>
        <p:nvSpPr>
          <p:cNvPr id="8" name="Text 6"/>
          <p:cNvSpPr/>
          <p:nvPr/>
        </p:nvSpPr>
        <p:spPr>
          <a:xfrm>
            <a:off x="4242816" y="164592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Network ID</a:t>
            </a:r>
            <a:endParaRPr lang="en-US" sz="1150" dirty="0"/>
          </a:p>
        </p:txBody>
      </p:sp>
      <p:sp>
        <p:nvSpPr>
          <p:cNvPr id="9" name="Text 7"/>
          <p:cNvSpPr/>
          <p:nvPr/>
        </p:nvSpPr>
        <p:spPr>
          <a:xfrm>
            <a:off x="4242816" y="192024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Portion of the IP identifying which network a host belongs to</a:t>
            </a:r>
            <a:endParaRPr lang="en-US" sz="950" dirty="0"/>
          </a:p>
        </p:txBody>
      </p:sp>
      <p:sp>
        <p:nvSpPr>
          <p:cNvPr id="10" name="Text 8"/>
          <p:cNvSpPr/>
          <p:nvPr/>
        </p:nvSpPr>
        <p:spPr>
          <a:xfrm>
            <a:off x="548640" y="269748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Subnet</a:t>
            </a:r>
            <a:endParaRPr lang="en-US" sz="1150" dirty="0"/>
          </a:p>
        </p:txBody>
      </p:sp>
      <p:sp>
        <p:nvSpPr>
          <p:cNvPr id="11" name="Text 9"/>
          <p:cNvSpPr/>
          <p:nvPr/>
        </p:nvSpPr>
        <p:spPr>
          <a:xfrm>
            <a:off x="548640" y="297180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A smaller, logically segmented section of a larger network</a:t>
            </a:r>
            <a:endParaRPr lang="en-US" sz="950" dirty="0"/>
          </a:p>
        </p:txBody>
      </p:sp>
      <p:sp>
        <p:nvSpPr>
          <p:cNvPr id="12" name="Text 10"/>
          <p:cNvSpPr/>
          <p:nvPr/>
        </p:nvSpPr>
        <p:spPr>
          <a:xfrm>
            <a:off x="2395728" y="269748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Default Gateway</a:t>
            </a:r>
            <a:endParaRPr lang="en-US" sz="1150" dirty="0"/>
          </a:p>
        </p:txBody>
      </p:sp>
      <p:sp>
        <p:nvSpPr>
          <p:cNvPr id="13" name="Text 11"/>
          <p:cNvSpPr/>
          <p:nvPr/>
        </p:nvSpPr>
        <p:spPr>
          <a:xfrm>
            <a:off x="2395728" y="297180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The router address a device uses to reach other networks</a:t>
            </a:r>
            <a:endParaRPr lang="en-US" sz="950" dirty="0"/>
          </a:p>
        </p:txBody>
      </p:sp>
      <p:sp>
        <p:nvSpPr>
          <p:cNvPr id="14" name="Text 12"/>
          <p:cNvSpPr/>
          <p:nvPr/>
        </p:nvSpPr>
        <p:spPr>
          <a:xfrm>
            <a:off x="4242816" y="269748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CIDR</a:t>
            </a:r>
            <a:endParaRPr lang="en-US" sz="1150" dirty="0"/>
          </a:p>
        </p:txBody>
      </p:sp>
      <p:sp>
        <p:nvSpPr>
          <p:cNvPr id="15" name="Text 13"/>
          <p:cNvSpPr/>
          <p:nvPr/>
        </p:nvSpPr>
        <p:spPr>
          <a:xfrm>
            <a:off x="4242816" y="297180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Notation (e.g. /24) expressing the subnet mask length</a:t>
            </a:r>
            <a:endParaRPr lang="en-US" sz="950" dirty="0"/>
          </a:p>
        </p:txBody>
      </p:sp>
      <p:sp>
        <p:nvSpPr>
          <p:cNvPr id="16" name="Text 14"/>
          <p:cNvSpPr/>
          <p:nvPr/>
        </p:nvSpPr>
        <p:spPr>
          <a:xfrm>
            <a:off x="548640" y="374904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Private / Public IP</a:t>
            </a:r>
            <a:endParaRPr lang="en-US" sz="1150" dirty="0"/>
          </a:p>
        </p:txBody>
      </p:sp>
      <p:sp>
        <p:nvSpPr>
          <p:cNvPr id="17" name="Text 15"/>
          <p:cNvSpPr/>
          <p:nvPr/>
        </p:nvSpPr>
        <p:spPr>
          <a:xfrm>
            <a:off x="548640" y="402336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Internal-only address vs. globally routable address</a:t>
            </a:r>
            <a:endParaRPr lang="en-US" sz="950" dirty="0"/>
          </a:p>
        </p:txBody>
      </p:sp>
      <p:sp>
        <p:nvSpPr>
          <p:cNvPr id="18" name="Text 16"/>
          <p:cNvSpPr/>
          <p:nvPr/>
        </p:nvSpPr>
        <p:spPr>
          <a:xfrm>
            <a:off x="2395728" y="374904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Loopback</a:t>
            </a:r>
            <a:endParaRPr lang="en-US" sz="1150" dirty="0"/>
          </a:p>
        </p:txBody>
      </p:sp>
      <p:sp>
        <p:nvSpPr>
          <p:cNvPr id="19" name="Text 17"/>
          <p:cNvSpPr/>
          <p:nvPr/>
        </p:nvSpPr>
        <p:spPr>
          <a:xfrm>
            <a:off x="2395728" y="402336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127.0.0.1 — address a device uses to refer to itself</a:t>
            </a:r>
            <a:endParaRPr lang="en-US" sz="950" dirty="0"/>
          </a:p>
        </p:txBody>
      </p:sp>
      <p:sp>
        <p:nvSpPr>
          <p:cNvPr id="20" name="Text 18"/>
          <p:cNvSpPr/>
          <p:nvPr/>
        </p:nvSpPr>
        <p:spPr>
          <a:xfrm>
            <a:off x="4242816" y="3749040"/>
            <a:ext cx="178308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APIPA</a:t>
            </a:r>
            <a:endParaRPr lang="en-US" sz="1150" dirty="0"/>
          </a:p>
        </p:txBody>
      </p:sp>
      <p:sp>
        <p:nvSpPr>
          <p:cNvPr id="21" name="Text 19"/>
          <p:cNvSpPr/>
          <p:nvPr/>
        </p:nvSpPr>
        <p:spPr>
          <a:xfrm>
            <a:off x="4242816" y="4023360"/>
            <a:ext cx="1783080" cy="731520"/>
          </a:xfrm>
          <a:prstGeom prst="rect">
            <a:avLst/>
          </a:prstGeom>
          <a:noFill/>
          <a:ln/>
        </p:spPr>
        <p:txBody>
          <a:bodyPr wrap="square" lIns="0" tIns="0" rIns="0" bIns="0" rtlCol="0" anchor="t"/>
          <a:lstStyle/>
          <a:p>
            <a:pPr marL="0" indent="0">
              <a:buNone/>
            </a:pPr>
            <a:r>
              <a:rPr lang="en-US" sz="950" dirty="0">
                <a:solidFill>
                  <a:srgbClr val="AEC3DD"/>
                </a:solidFill>
                <a:latin typeface="Calibri" pitchFamily="34" charset="0"/>
                <a:ea typeface="Calibri" pitchFamily="34" charset="-122"/>
                <a:cs typeface="Calibri" pitchFamily="34" charset="-120"/>
              </a:rPr>
              <a:t>169.254.x.x — auto-assigned when no DHCP server responds</a:t>
            </a:r>
            <a:endParaRPr lang="en-US" sz="950" dirty="0"/>
          </a:p>
        </p:txBody>
      </p:sp>
      <p:sp>
        <p:nvSpPr>
          <p:cNvPr id="22" name="Shape 20"/>
          <p:cNvSpPr/>
          <p:nvPr/>
        </p:nvSpPr>
        <p:spPr>
          <a:xfrm>
            <a:off x="6309360" y="1600200"/>
            <a:ext cx="5349240" cy="2148840"/>
          </a:xfrm>
          <a:prstGeom prst="roundRect">
            <a:avLst>
              <a:gd name="adj" fmla="val 3404"/>
            </a:avLst>
          </a:prstGeom>
          <a:solidFill>
            <a:srgbClr val="13294B"/>
          </a:solidFill>
          <a:ln/>
        </p:spPr>
      </p:sp>
      <p:sp>
        <p:nvSpPr>
          <p:cNvPr id="23" name="Text 21"/>
          <p:cNvSpPr/>
          <p:nvPr/>
        </p:nvSpPr>
        <p:spPr>
          <a:xfrm>
            <a:off x="6537960" y="1764792"/>
            <a:ext cx="4892040" cy="274320"/>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CIDR BREAKDOWN — 192.168.1.10 / 24</a:t>
            </a:r>
            <a:endParaRPr lang="en-US" sz="1100" dirty="0"/>
          </a:p>
        </p:txBody>
      </p:sp>
      <p:sp>
        <p:nvSpPr>
          <p:cNvPr id="24" name="Shape 22"/>
          <p:cNvSpPr/>
          <p:nvPr/>
        </p:nvSpPr>
        <p:spPr>
          <a:xfrm>
            <a:off x="6675120" y="2286000"/>
            <a:ext cx="2331720" cy="594360"/>
          </a:xfrm>
          <a:prstGeom prst="roundRect">
            <a:avLst>
              <a:gd name="adj" fmla="val 9231"/>
            </a:avLst>
          </a:prstGeom>
          <a:solidFill>
            <a:srgbClr val="0891B2"/>
          </a:solidFill>
          <a:ln/>
        </p:spPr>
      </p:sp>
      <p:sp>
        <p:nvSpPr>
          <p:cNvPr id="25" name="Text 23"/>
          <p:cNvSpPr/>
          <p:nvPr/>
        </p:nvSpPr>
        <p:spPr>
          <a:xfrm>
            <a:off x="6675120" y="2286000"/>
            <a:ext cx="233172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192.168.1</a:t>
            </a:r>
            <a:endParaRPr lang="en-US" sz="1500" dirty="0"/>
          </a:p>
        </p:txBody>
      </p:sp>
      <p:sp>
        <p:nvSpPr>
          <p:cNvPr id="26" name="Shape 24"/>
          <p:cNvSpPr/>
          <p:nvPr/>
        </p:nvSpPr>
        <p:spPr>
          <a:xfrm>
            <a:off x="9070848" y="2286000"/>
            <a:ext cx="777240" cy="594360"/>
          </a:xfrm>
          <a:prstGeom prst="roundRect">
            <a:avLst>
              <a:gd name="adj" fmla="val 9231"/>
            </a:avLst>
          </a:prstGeom>
          <a:solidFill>
            <a:srgbClr val="0F2140"/>
          </a:solidFill>
          <a:ln w="15875">
            <a:solidFill>
              <a:srgbClr val="22D3EE"/>
            </a:solidFill>
            <a:prstDash val="solid"/>
          </a:ln>
        </p:spPr>
      </p:sp>
      <p:sp>
        <p:nvSpPr>
          <p:cNvPr id="27" name="Text 25"/>
          <p:cNvSpPr/>
          <p:nvPr/>
        </p:nvSpPr>
        <p:spPr>
          <a:xfrm>
            <a:off x="9070848" y="2286000"/>
            <a:ext cx="77724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28" name="Text 26"/>
          <p:cNvSpPr/>
          <p:nvPr/>
        </p:nvSpPr>
        <p:spPr>
          <a:xfrm>
            <a:off x="6675120" y="2898648"/>
            <a:ext cx="2331720" cy="228600"/>
          </a:xfrm>
          <a:prstGeom prst="rect">
            <a:avLst/>
          </a:prstGeom>
          <a:noFill/>
          <a:ln/>
        </p:spPr>
        <p:txBody>
          <a:bodyPr wrap="square" lIns="0" tIns="0" rIns="0" bIns="0" rtlCol="0" anchor="ctr"/>
          <a:lstStyle/>
          <a:p>
            <a:pPr marL="0" indent="0" algn="ctr">
              <a:buNone/>
            </a:pPr>
            <a:r>
              <a:rPr lang="en-US" sz="900" dirty="0">
                <a:solidFill>
                  <a:srgbClr val="22D3EE"/>
                </a:solidFill>
                <a:latin typeface="Calibri" pitchFamily="34" charset="0"/>
                <a:ea typeface="Calibri" pitchFamily="34" charset="-122"/>
                <a:cs typeface="Calibri" pitchFamily="34" charset="-120"/>
              </a:rPr>
              <a:t>NETWORK ID</a:t>
            </a:r>
            <a:endParaRPr lang="en-US" sz="900" dirty="0"/>
          </a:p>
        </p:txBody>
      </p:sp>
      <p:sp>
        <p:nvSpPr>
          <p:cNvPr id="29" name="Text 27"/>
          <p:cNvSpPr/>
          <p:nvPr/>
        </p:nvSpPr>
        <p:spPr>
          <a:xfrm>
            <a:off x="9070848" y="2898648"/>
            <a:ext cx="777240" cy="228600"/>
          </a:xfrm>
          <a:prstGeom prst="rect">
            <a:avLst/>
          </a:prstGeom>
          <a:noFill/>
          <a:ln/>
        </p:spPr>
        <p:txBody>
          <a:bodyPr wrap="square" lIns="0" tIns="0" rIns="0" bIns="0" rtlCol="0" anchor="ctr"/>
          <a:lstStyle/>
          <a:p>
            <a:pPr marL="0" indent="0" algn="ctr">
              <a:buNone/>
            </a:pPr>
            <a:r>
              <a:rPr lang="en-US" sz="900" dirty="0">
                <a:solidFill>
                  <a:srgbClr val="AEC3DD"/>
                </a:solidFill>
                <a:latin typeface="Calibri" pitchFamily="34" charset="0"/>
                <a:ea typeface="Calibri" pitchFamily="34" charset="-122"/>
                <a:cs typeface="Calibri" pitchFamily="34" charset="-120"/>
              </a:rPr>
              <a:t>HOST ID</a:t>
            </a:r>
            <a:endParaRPr lang="en-US" sz="900" dirty="0"/>
          </a:p>
        </p:txBody>
      </p:sp>
      <p:sp>
        <p:nvSpPr>
          <p:cNvPr id="30" name="Text 28"/>
          <p:cNvSpPr/>
          <p:nvPr/>
        </p:nvSpPr>
        <p:spPr>
          <a:xfrm>
            <a:off x="6537960" y="3200400"/>
            <a:ext cx="4892040" cy="457200"/>
          </a:xfrm>
          <a:prstGeom prst="rect">
            <a:avLst/>
          </a:prstGeom>
          <a:noFill/>
          <a:ln/>
        </p:spPr>
        <p:txBody>
          <a:bodyPr wrap="square" lIns="0" tIns="0" rIns="0" bIns="0" rtlCol="0" anchor="ctr"/>
          <a:lstStyle/>
          <a:p>
            <a:pPr marL="0" indent="0">
              <a:buNone/>
            </a:pPr>
            <a:r>
              <a:rPr lang="en-US" sz="950" dirty="0">
                <a:solidFill>
                  <a:srgbClr val="AEC3DD"/>
                </a:solidFill>
                <a:latin typeface="Calibri" pitchFamily="34" charset="0"/>
                <a:ea typeface="Calibri" pitchFamily="34" charset="-122"/>
                <a:cs typeface="Calibri" pitchFamily="34" charset="-120"/>
              </a:rPr>
              <a:t>/24 = first 24 bits (3 octets) identify the network; the remaining 8 bits identify the host on that network.</a:t>
            </a:r>
            <a:endParaRPr lang="en-US" sz="950" dirty="0"/>
          </a:p>
        </p:txBody>
      </p:sp>
      <p:sp>
        <p:nvSpPr>
          <p:cNvPr id="31" name="Shape 29"/>
          <p:cNvSpPr/>
          <p:nvPr/>
        </p:nvSpPr>
        <p:spPr>
          <a:xfrm>
            <a:off x="548640" y="5806440"/>
            <a:ext cx="11091672" cy="566928"/>
          </a:xfrm>
          <a:prstGeom prst="roundRect">
            <a:avLst>
              <a:gd name="adj" fmla="val 12903"/>
            </a:avLst>
          </a:prstGeom>
          <a:solidFill>
            <a:srgbClr val="0F2140"/>
          </a:solidFill>
          <a:ln w="12700">
            <a:solidFill>
              <a:srgbClr val="0891B2"/>
            </a:solidFill>
            <a:prstDash val="solid"/>
          </a:ln>
        </p:spPr>
      </p:sp>
      <p:sp>
        <p:nvSpPr>
          <p:cNvPr id="32" name="Text 30"/>
          <p:cNvSpPr/>
          <p:nvPr/>
        </p:nvSpPr>
        <p:spPr>
          <a:xfrm>
            <a:off x="777240" y="580644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An IP address has two parts — Network ID and Host ID — and CIDR notation tells you exactly where the split happens.</a:t>
            </a:r>
            <a:endParaRPr lang="en-US" sz="1100" dirty="0"/>
          </a:p>
        </p:txBody>
      </p:sp>
      <p:sp>
        <p:nvSpPr>
          <p:cNvPr id="33" name="Text 31"/>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10</a:t>
            </a:r>
            <a:endParaRPr lang="en-US" sz="1000" dirty="0"/>
          </a:p>
        </p:txBody>
      </p:sp>
      <p:sp>
        <p:nvSpPr>
          <p:cNvPr id="34" name="Text 32"/>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ADDRESSING</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IPv4 vs IPv6</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2331720"/>
        </p:xfrm>
        <a:graphic>
          <a:graphicData uri="http://schemas.openxmlformats.org/drawingml/2006/table">
            <a:tbl>
              <a:tblPr/>
              <a:tblGrid>
                <a:gridCol w="2377440">
                  <a:extLst>
                    <a:ext uri="{9D8B030D-6E8A-4147-A177-3AD203B41FA5}">
                      <a16:colId xmlns:a16="http://schemas.microsoft.com/office/drawing/2014/main" val="20000"/>
                    </a:ext>
                  </a:extLst>
                </a:gridCol>
                <a:gridCol w="4352544">
                  <a:extLst>
                    <a:ext uri="{9D8B030D-6E8A-4147-A177-3AD203B41FA5}">
                      <a16:colId xmlns:a16="http://schemas.microsoft.com/office/drawing/2014/main" val="20001"/>
                    </a:ext>
                  </a:extLst>
                </a:gridCol>
                <a:gridCol w="4361688">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IPv4</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IPv6</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Address Size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32-bit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128-bit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Address Space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~4.3 billion addresses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340 undecillion addresses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Decimal, dotted (192.168.1.1)</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Hexadecimal, colon (2001:db8::1)</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Header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Complex, variable length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Simplified, fixed length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Optional (IPSec add-on)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Built-in (IPSec mandatory)</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Broadcast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Supported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Not used — multicast/anycast instead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Manual or DHCP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Supports auto-configuration (SLAAC)</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203.0.113.5</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2001:0db8:85a3::8a2e:0370:7334</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8"/>
                  </a:ext>
                </a:extLst>
              </a:tr>
            </a:tbl>
          </a:graphicData>
        </a:graphic>
      </p:graphicFrame>
      <p:sp>
        <p:nvSpPr>
          <p:cNvPr id="5" name="Shape 2"/>
          <p:cNvSpPr/>
          <p:nvPr/>
        </p:nvSpPr>
        <p:spPr>
          <a:xfrm>
            <a:off x="548640" y="5806440"/>
            <a:ext cx="11091672" cy="566928"/>
          </a:xfrm>
          <a:prstGeom prst="roundRect">
            <a:avLst>
              <a:gd name="adj" fmla="val 12903"/>
            </a:avLst>
          </a:prstGeom>
          <a:solidFill>
            <a:srgbClr val="0F2140"/>
          </a:solidFill>
          <a:ln w="12700">
            <a:solidFill>
              <a:srgbClr val="0891B2"/>
            </a:solidFill>
            <a:prstDash val="solid"/>
          </a:ln>
        </p:spPr>
      </p:sp>
      <p:sp>
        <p:nvSpPr>
          <p:cNvPr id="6" name="Text 3"/>
          <p:cNvSpPr/>
          <p:nvPr/>
        </p:nvSpPr>
        <p:spPr>
          <a:xfrm>
            <a:off x="777240" y="580644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IPv6 was created because the world ran out of IPv4 addresses — but IPv4 remains dominant, so cybersecurity pros must know both.</a:t>
            </a:r>
            <a:endParaRPr lang="en-US" sz="1100" dirty="0"/>
          </a:p>
        </p:txBody>
      </p:sp>
      <p:sp>
        <p:nvSpPr>
          <p:cNvPr id="7" name="Text 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11</a:t>
            </a:r>
            <a:endParaRPr lang="en-US" sz="1000" dirty="0"/>
          </a:p>
        </p:txBody>
      </p:sp>
      <p:sp>
        <p:nvSpPr>
          <p:cNvPr id="8" name="Text 5"/>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ADDRESSING</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MAC Address</a:t>
            </a:r>
            <a:endParaRPr lang="en-US" sz="3200" dirty="0"/>
          </a:p>
        </p:txBody>
      </p:sp>
      <p:sp>
        <p:nvSpPr>
          <p:cNvPr id="4" name="Text 2"/>
          <p:cNvSpPr/>
          <p:nvPr/>
        </p:nvSpPr>
        <p:spPr>
          <a:xfrm>
            <a:off x="548640" y="1645920"/>
            <a:ext cx="5394960" cy="2377440"/>
          </a:xfrm>
          <a:prstGeom prst="rect">
            <a:avLst/>
          </a:prstGeom>
          <a:noFill/>
          <a:ln/>
        </p:spPr>
        <p:txBody>
          <a:bodyPr wrap="square" rtlCol="0" anchor="t"/>
          <a:lstStyle/>
          <a:p>
            <a:pPr marL="0" indent="0">
              <a:lnSpc>
                <a:spcPct val="130000"/>
              </a:lnSpc>
              <a:buNone/>
            </a:pPr>
            <a:r>
              <a:rPr lang="en-US" sz="1350" dirty="0">
                <a:solidFill>
                  <a:srgbClr val="AEC3DD"/>
                </a:solidFill>
                <a:latin typeface="Calibri" pitchFamily="34" charset="0"/>
                <a:ea typeface="Calibri" pitchFamily="34" charset="-122"/>
                <a:cs typeface="Calibri" pitchFamily="34" charset="-120"/>
              </a:rPr>
              <a:t>A MAC (Media Access Control) address is a </a:t>
            </a:r>
            <a:r>
              <a:rPr lang="en-US" sz="1350" b="1" dirty="0">
                <a:solidFill>
                  <a:srgbClr val="FFFFFF"/>
                </a:solidFill>
                <a:latin typeface="Calibri" pitchFamily="34" charset="0"/>
                <a:ea typeface="Calibri" pitchFamily="34" charset="-122"/>
                <a:cs typeface="Calibri" pitchFamily="34" charset="-120"/>
              </a:rPr>
              <a:t>physical, hardware-burned-in address</a:t>
            </a:r>
            <a:r>
              <a:rPr lang="en-US" sz="1350" dirty="0">
                <a:solidFill>
                  <a:srgbClr val="AEC3DD"/>
                </a:solidFill>
                <a:latin typeface="Calibri" pitchFamily="34" charset="0"/>
                <a:ea typeface="Calibri" pitchFamily="34" charset="-122"/>
                <a:cs typeface="Calibri" pitchFamily="34" charset="-120"/>
              </a:rPr>
              <a:t> assigned to a device's Network Interface Card (NIC) by its manufacturer.
Unlike an IP address, a MAC address doesn't change when a device moves to a different network — it uniquely identifies the physical hardware itself, and operates at Layer 2 (Data Link) of the OSI model.</a:t>
            </a:r>
            <a:endParaRPr lang="en-US" sz="1350" dirty="0"/>
          </a:p>
        </p:txBody>
      </p:sp>
      <p:sp>
        <p:nvSpPr>
          <p:cNvPr id="5" name="Shape 3"/>
          <p:cNvSpPr/>
          <p:nvPr/>
        </p:nvSpPr>
        <p:spPr>
          <a:xfrm>
            <a:off x="6309360" y="1645920"/>
            <a:ext cx="5349240" cy="914400"/>
          </a:xfrm>
          <a:prstGeom prst="roundRect">
            <a:avLst>
              <a:gd name="adj" fmla="val 8000"/>
            </a:avLst>
          </a:prstGeom>
          <a:solidFill>
            <a:srgbClr val="13294B"/>
          </a:solidFill>
          <a:ln/>
        </p:spPr>
      </p:sp>
      <p:sp>
        <p:nvSpPr>
          <p:cNvPr id="6" name="Shape 4"/>
          <p:cNvSpPr/>
          <p:nvPr/>
        </p:nvSpPr>
        <p:spPr>
          <a:xfrm>
            <a:off x="6606540" y="1805940"/>
            <a:ext cx="594360" cy="594360"/>
          </a:xfrm>
          <a:prstGeom prst="ellipse">
            <a:avLst/>
          </a:prstGeom>
          <a:solidFill>
            <a:srgbClr val="0891B2"/>
          </a:solidFill>
          <a:ln/>
        </p:spPr>
      </p:sp>
      <p:sp>
        <p:nvSpPr>
          <p:cNvPr id="7" name="Text 5"/>
          <p:cNvSpPr/>
          <p:nvPr/>
        </p:nvSpPr>
        <p:spPr>
          <a:xfrm>
            <a:off x="6606540" y="1805940"/>
            <a:ext cx="5943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NIC</a:t>
            </a:r>
            <a:endParaRPr lang="en-US" sz="1200" dirty="0"/>
          </a:p>
        </p:txBody>
      </p:sp>
      <p:sp>
        <p:nvSpPr>
          <p:cNvPr id="8" name="Text 6"/>
          <p:cNvSpPr/>
          <p:nvPr/>
        </p:nvSpPr>
        <p:spPr>
          <a:xfrm>
            <a:off x="7360920" y="1810512"/>
            <a:ext cx="4023360" cy="594360"/>
          </a:xfrm>
          <a:prstGeom prst="rect">
            <a:avLst/>
          </a:prstGeom>
          <a:noFill/>
          <a:ln/>
        </p:spPr>
        <p:txBody>
          <a:bodyPr wrap="square" lIns="0" tIns="0" rIns="0" bIns="0" rtlCol="0" anchor="ctr"/>
          <a:lstStyle/>
          <a:p>
            <a:pPr marL="0" indent="0">
              <a:buNone/>
            </a:pPr>
            <a:r>
              <a:rPr lang="en-US" sz="1150" dirty="0">
                <a:solidFill>
                  <a:srgbClr val="AEC3DD"/>
                </a:solidFill>
                <a:latin typeface="Calibri" pitchFamily="34" charset="0"/>
                <a:ea typeface="Calibri" pitchFamily="34" charset="-122"/>
                <a:cs typeface="Calibri" pitchFamily="34" charset="-120"/>
              </a:rPr>
              <a:t>Network Interface Card</a:t>
            </a:r>
            <a:endParaRPr lang="en-US" sz="1150" dirty="0"/>
          </a:p>
          <a:p>
            <a:pPr marL="0" indent="0">
              <a:buNone/>
            </a:pPr>
            <a:r>
              <a:rPr lang="en-US" sz="1150" dirty="0">
                <a:solidFill>
                  <a:srgbClr val="AEC3DD"/>
                </a:solidFill>
                <a:latin typeface="Calibri" pitchFamily="34" charset="0"/>
                <a:ea typeface="Calibri" pitchFamily="34" charset="-122"/>
                <a:cs typeface="Calibri" pitchFamily="34" charset="-120"/>
              </a:rPr>
              <a:t>Burned into hardware at the factory</a:t>
            </a:r>
            <a:endParaRPr lang="en-US" sz="1150" dirty="0"/>
          </a:p>
        </p:txBody>
      </p:sp>
      <p:sp>
        <p:nvSpPr>
          <p:cNvPr id="9" name="Text 7"/>
          <p:cNvSpPr/>
          <p:nvPr/>
        </p:nvSpPr>
        <p:spPr>
          <a:xfrm>
            <a:off x="6309360" y="2880360"/>
            <a:ext cx="2514600" cy="685800"/>
          </a:xfrm>
          <a:prstGeom prst="rect">
            <a:avLst/>
          </a:prstGeom>
          <a:solidFill>
            <a:srgbClr val="0F2140"/>
          </a:solidFill>
          <a:ln/>
        </p:spPr>
        <p:txBody>
          <a:bodyPr wrap="square" rtlCol="0" anchor="ctr"/>
          <a:lstStyle/>
          <a:p>
            <a:pPr marL="0" indent="0" algn="ctr">
              <a:buNone/>
            </a:pPr>
            <a:r>
              <a:rPr lang="en-US" sz="2000" b="1" dirty="0">
                <a:solidFill>
                  <a:srgbClr val="22D3EE"/>
                </a:solidFill>
                <a:latin typeface="Courier New" pitchFamily="34" charset="0"/>
                <a:ea typeface="Courier New" pitchFamily="34" charset="-122"/>
                <a:cs typeface="Courier New" pitchFamily="34" charset="-120"/>
              </a:rPr>
              <a:t>00:1A:2B</a:t>
            </a:r>
            <a:endParaRPr lang="en-US" sz="2000" dirty="0"/>
          </a:p>
        </p:txBody>
      </p:sp>
      <p:sp>
        <p:nvSpPr>
          <p:cNvPr id="10" name="Text 8"/>
          <p:cNvSpPr/>
          <p:nvPr/>
        </p:nvSpPr>
        <p:spPr>
          <a:xfrm>
            <a:off x="8961120" y="2880360"/>
            <a:ext cx="2514600" cy="685800"/>
          </a:xfrm>
          <a:prstGeom prst="rect">
            <a:avLst/>
          </a:prstGeom>
          <a:solidFill>
            <a:srgbClr val="13294B"/>
          </a:solidFill>
          <a:ln/>
        </p:spPr>
        <p:txBody>
          <a:bodyPr wrap="square"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3C:4D:5E</a:t>
            </a:r>
            <a:endParaRPr lang="en-US" sz="2000" dirty="0"/>
          </a:p>
        </p:txBody>
      </p:sp>
      <p:sp>
        <p:nvSpPr>
          <p:cNvPr id="11" name="Text 9"/>
          <p:cNvSpPr/>
          <p:nvPr/>
        </p:nvSpPr>
        <p:spPr>
          <a:xfrm>
            <a:off x="6309360" y="3611880"/>
            <a:ext cx="2514600" cy="274320"/>
          </a:xfrm>
          <a:prstGeom prst="rect">
            <a:avLst/>
          </a:prstGeom>
          <a:noFill/>
          <a:ln/>
        </p:spPr>
        <p:txBody>
          <a:bodyPr wrap="square" lIns="0" tIns="0" rIns="0" bIns="0" rtlCol="0" anchor="ctr"/>
          <a:lstStyle/>
          <a:p>
            <a:pPr marL="0" indent="0" algn="ctr">
              <a:buNone/>
            </a:pPr>
            <a:r>
              <a:rPr lang="en-US" sz="950" dirty="0">
                <a:solidFill>
                  <a:srgbClr val="22D3EE"/>
                </a:solidFill>
                <a:latin typeface="Calibri" pitchFamily="34" charset="0"/>
                <a:ea typeface="Calibri" pitchFamily="34" charset="-122"/>
                <a:cs typeface="Calibri" pitchFamily="34" charset="-120"/>
              </a:rPr>
              <a:t>OUI — MANUFACTURER ID</a:t>
            </a:r>
            <a:endParaRPr lang="en-US" sz="950" dirty="0"/>
          </a:p>
        </p:txBody>
      </p:sp>
      <p:sp>
        <p:nvSpPr>
          <p:cNvPr id="12" name="Text 10"/>
          <p:cNvSpPr/>
          <p:nvPr/>
        </p:nvSpPr>
        <p:spPr>
          <a:xfrm>
            <a:off x="8961120" y="3611880"/>
            <a:ext cx="2514600" cy="274320"/>
          </a:xfrm>
          <a:prstGeom prst="rect">
            <a:avLst/>
          </a:prstGeom>
          <a:noFill/>
          <a:ln/>
        </p:spPr>
        <p:txBody>
          <a:bodyPr wrap="square" lIns="0" tIns="0" rIns="0" bIns="0" rtlCol="0" anchor="ctr"/>
          <a:lstStyle/>
          <a:p>
            <a:pPr marL="0" indent="0" algn="ctr">
              <a:buNone/>
            </a:pPr>
            <a:r>
              <a:rPr lang="en-US" sz="950" dirty="0">
                <a:solidFill>
                  <a:srgbClr val="7E93B3"/>
                </a:solidFill>
                <a:latin typeface="Calibri" pitchFamily="34" charset="0"/>
                <a:ea typeface="Calibri" pitchFamily="34" charset="-122"/>
                <a:cs typeface="Calibri" pitchFamily="34" charset="-120"/>
              </a:rPr>
              <a:t>DEVICE-SPECIFIC ID</a:t>
            </a:r>
            <a:endParaRPr lang="en-US" sz="950" dirty="0"/>
          </a:p>
        </p:txBody>
      </p:sp>
      <p:sp>
        <p:nvSpPr>
          <p:cNvPr id="13" name="Shape 11"/>
          <p:cNvSpPr/>
          <p:nvPr/>
        </p:nvSpPr>
        <p:spPr>
          <a:xfrm>
            <a:off x="548640" y="5806440"/>
            <a:ext cx="11091672" cy="566928"/>
          </a:xfrm>
          <a:prstGeom prst="roundRect">
            <a:avLst>
              <a:gd name="adj" fmla="val 12903"/>
            </a:avLst>
          </a:prstGeom>
          <a:solidFill>
            <a:srgbClr val="0F2140"/>
          </a:solidFill>
          <a:ln w="12700">
            <a:solidFill>
              <a:srgbClr val="0891B2"/>
            </a:solidFill>
            <a:prstDash val="solid"/>
          </a:ln>
        </p:spPr>
      </p:sp>
      <p:sp>
        <p:nvSpPr>
          <p:cNvPr id="14" name="Text 12"/>
          <p:cNvSpPr/>
          <p:nvPr/>
        </p:nvSpPr>
        <p:spPr>
          <a:xfrm>
            <a:off x="777240" y="580644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MAC = 'who' (physical hardware), IP = 'where' (logical location on a network) — both are needed to deliver data correctly.</a:t>
            </a:r>
            <a:endParaRPr lang="en-US" sz="1100" dirty="0"/>
          </a:p>
        </p:txBody>
      </p:sp>
      <p:sp>
        <p:nvSpPr>
          <p:cNvPr id="15" name="Text 1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12</a:t>
            </a:r>
            <a:endParaRPr lang="en-US" sz="1000" dirty="0"/>
          </a:p>
        </p:txBody>
      </p:sp>
      <p:sp>
        <p:nvSpPr>
          <p:cNvPr id="16" name="Text 14"/>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ADDRESSING</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Address Comparisons</a:t>
            </a:r>
            <a:endParaRPr lang="en-US" sz="3200" dirty="0"/>
          </a:p>
        </p:txBody>
      </p:sp>
      <p:sp>
        <p:nvSpPr>
          <p:cNvPr id="4" name="Shape 2"/>
          <p:cNvSpPr/>
          <p:nvPr/>
        </p:nvSpPr>
        <p:spPr>
          <a:xfrm>
            <a:off x="548640" y="1600200"/>
            <a:ext cx="3639312" cy="1417320"/>
          </a:xfrm>
          <a:prstGeom prst="roundRect">
            <a:avLst>
              <a:gd name="adj" fmla="val 5161"/>
            </a:avLst>
          </a:prstGeom>
          <a:solidFill>
            <a:srgbClr val="13294B"/>
          </a:solidFill>
          <a:ln/>
        </p:spPr>
      </p:sp>
      <p:sp>
        <p:nvSpPr>
          <p:cNvPr id="5" name="Shape 3"/>
          <p:cNvSpPr/>
          <p:nvPr/>
        </p:nvSpPr>
        <p:spPr>
          <a:xfrm>
            <a:off x="548640" y="1600200"/>
            <a:ext cx="1792224" cy="1417320"/>
          </a:xfrm>
          <a:prstGeom prst="roundRect">
            <a:avLst>
              <a:gd name="adj" fmla="val 5161"/>
            </a:avLst>
          </a:prstGeom>
          <a:solidFill>
            <a:srgbClr val="0891B2"/>
          </a:solidFill>
          <a:ln/>
        </p:spPr>
      </p:sp>
      <p:sp>
        <p:nvSpPr>
          <p:cNvPr id="6" name="Text 4"/>
          <p:cNvSpPr/>
          <p:nvPr/>
        </p:nvSpPr>
        <p:spPr>
          <a:xfrm>
            <a:off x="548640" y="1709928"/>
            <a:ext cx="1792224"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IPv4</a:t>
            </a:r>
            <a:endParaRPr lang="en-US" sz="1250" dirty="0"/>
          </a:p>
        </p:txBody>
      </p:sp>
      <p:sp>
        <p:nvSpPr>
          <p:cNvPr id="7" name="Text 5"/>
          <p:cNvSpPr/>
          <p:nvPr/>
        </p:nvSpPr>
        <p:spPr>
          <a:xfrm>
            <a:off x="2395728" y="1709928"/>
            <a:ext cx="1792224" cy="292608"/>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IPv6</a:t>
            </a:r>
            <a:endParaRPr lang="en-US" sz="1250" dirty="0"/>
          </a:p>
        </p:txBody>
      </p:sp>
      <p:sp>
        <p:nvSpPr>
          <p:cNvPr id="8" name="Text 6"/>
          <p:cNvSpPr/>
          <p:nvPr/>
        </p:nvSpPr>
        <p:spPr>
          <a:xfrm>
            <a:off x="621792" y="2075688"/>
            <a:ext cx="1673352" cy="82296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32-bit, decimal</a:t>
            </a:r>
            <a:endParaRPr lang="en-US" sz="900" dirty="0"/>
          </a:p>
        </p:txBody>
      </p:sp>
      <p:sp>
        <p:nvSpPr>
          <p:cNvPr id="9" name="Text 7"/>
          <p:cNvSpPr/>
          <p:nvPr/>
        </p:nvSpPr>
        <p:spPr>
          <a:xfrm>
            <a:off x="2468880" y="2075688"/>
            <a:ext cx="1673352" cy="822960"/>
          </a:xfrm>
          <a:prstGeom prst="rect">
            <a:avLst/>
          </a:prstGeom>
          <a:noFill/>
          <a:ln/>
        </p:spPr>
        <p:txBody>
          <a:bodyPr wrap="square" lIns="0" tIns="0" rIns="0" bIns="0" rtlCol="0" anchor="t"/>
          <a:lstStyle/>
          <a:p>
            <a:pPr marL="0" indent="0" algn="ctr">
              <a:buNone/>
            </a:pPr>
            <a:r>
              <a:rPr lang="en-US" sz="900" dirty="0">
                <a:solidFill>
                  <a:srgbClr val="AEC3DD"/>
                </a:solidFill>
                <a:latin typeface="Calibri" pitchFamily="34" charset="0"/>
                <a:ea typeface="Calibri" pitchFamily="34" charset="-122"/>
                <a:cs typeface="Calibri" pitchFamily="34" charset="-120"/>
              </a:rPr>
              <a:t>128-bit, hex</a:t>
            </a:r>
            <a:endParaRPr lang="en-US" sz="900" dirty="0"/>
          </a:p>
        </p:txBody>
      </p:sp>
      <p:sp>
        <p:nvSpPr>
          <p:cNvPr id="10" name="Shape 8"/>
          <p:cNvSpPr/>
          <p:nvPr/>
        </p:nvSpPr>
        <p:spPr>
          <a:xfrm>
            <a:off x="4325112" y="1600200"/>
            <a:ext cx="3639312" cy="1417320"/>
          </a:xfrm>
          <a:prstGeom prst="roundRect">
            <a:avLst>
              <a:gd name="adj" fmla="val 5161"/>
            </a:avLst>
          </a:prstGeom>
          <a:solidFill>
            <a:srgbClr val="13294B"/>
          </a:solidFill>
          <a:ln/>
        </p:spPr>
      </p:sp>
      <p:sp>
        <p:nvSpPr>
          <p:cNvPr id="11" name="Shape 9"/>
          <p:cNvSpPr/>
          <p:nvPr/>
        </p:nvSpPr>
        <p:spPr>
          <a:xfrm>
            <a:off x="4325112" y="1600200"/>
            <a:ext cx="1792224" cy="1417320"/>
          </a:xfrm>
          <a:prstGeom prst="roundRect">
            <a:avLst>
              <a:gd name="adj" fmla="val 5161"/>
            </a:avLst>
          </a:prstGeom>
          <a:solidFill>
            <a:srgbClr val="0891B2"/>
          </a:solidFill>
          <a:ln/>
        </p:spPr>
      </p:sp>
      <p:sp>
        <p:nvSpPr>
          <p:cNvPr id="12" name="Text 10"/>
          <p:cNvSpPr/>
          <p:nvPr/>
        </p:nvSpPr>
        <p:spPr>
          <a:xfrm>
            <a:off x="4325112" y="1709928"/>
            <a:ext cx="1792224"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Public IP</a:t>
            </a:r>
            <a:endParaRPr lang="en-US" sz="1250" dirty="0"/>
          </a:p>
        </p:txBody>
      </p:sp>
      <p:sp>
        <p:nvSpPr>
          <p:cNvPr id="13" name="Text 11"/>
          <p:cNvSpPr/>
          <p:nvPr/>
        </p:nvSpPr>
        <p:spPr>
          <a:xfrm>
            <a:off x="6172200" y="1709928"/>
            <a:ext cx="1792224" cy="292608"/>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Private IP</a:t>
            </a:r>
            <a:endParaRPr lang="en-US" sz="1250" dirty="0"/>
          </a:p>
        </p:txBody>
      </p:sp>
      <p:sp>
        <p:nvSpPr>
          <p:cNvPr id="14" name="Text 12"/>
          <p:cNvSpPr/>
          <p:nvPr/>
        </p:nvSpPr>
        <p:spPr>
          <a:xfrm>
            <a:off x="4398264" y="2075688"/>
            <a:ext cx="1673352" cy="82296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Globally routable, unique</a:t>
            </a:r>
            <a:endParaRPr lang="en-US" sz="900" dirty="0"/>
          </a:p>
        </p:txBody>
      </p:sp>
      <p:sp>
        <p:nvSpPr>
          <p:cNvPr id="15" name="Text 13"/>
          <p:cNvSpPr/>
          <p:nvPr/>
        </p:nvSpPr>
        <p:spPr>
          <a:xfrm>
            <a:off x="6245352" y="2075688"/>
            <a:ext cx="1673352" cy="822960"/>
          </a:xfrm>
          <a:prstGeom prst="rect">
            <a:avLst/>
          </a:prstGeom>
          <a:noFill/>
          <a:ln/>
        </p:spPr>
        <p:txBody>
          <a:bodyPr wrap="square" lIns="0" tIns="0" rIns="0" bIns="0" rtlCol="0" anchor="t"/>
          <a:lstStyle/>
          <a:p>
            <a:pPr marL="0" indent="0" algn="ctr">
              <a:buNone/>
            </a:pPr>
            <a:r>
              <a:rPr lang="en-US" sz="900" dirty="0">
                <a:solidFill>
                  <a:srgbClr val="AEC3DD"/>
                </a:solidFill>
                <a:latin typeface="Calibri" pitchFamily="34" charset="0"/>
                <a:ea typeface="Calibri" pitchFamily="34" charset="-122"/>
                <a:cs typeface="Calibri" pitchFamily="34" charset="-120"/>
              </a:rPr>
              <a:t>Local-only, reusable (192.168.x.x)</a:t>
            </a:r>
            <a:endParaRPr lang="en-US" sz="900" dirty="0"/>
          </a:p>
        </p:txBody>
      </p:sp>
      <p:sp>
        <p:nvSpPr>
          <p:cNvPr id="16" name="Shape 14"/>
          <p:cNvSpPr/>
          <p:nvPr/>
        </p:nvSpPr>
        <p:spPr>
          <a:xfrm>
            <a:off x="8101584" y="1600200"/>
            <a:ext cx="3639312" cy="1417320"/>
          </a:xfrm>
          <a:prstGeom prst="roundRect">
            <a:avLst>
              <a:gd name="adj" fmla="val 5161"/>
            </a:avLst>
          </a:prstGeom>
          <a:solidFill>
            <a:srgbClr val="13294B"/>
          </a:solidFill>
          <a:ln/>
        </p:spPr>
      </p:sp>
      <p:sp>
        <p:nvSpPr>
          <p:cNvPr id="17" name="Shape 15"/>
          <p:cNvSpPr/>
          <p:nvPr/>
        </p:nvSpPr>
        <p:spPr>
          <a:xfrm>
            <a:off x="8101584" y="1600200"/>
            <a:ext cx="1792224" cy="1417320"/>
          </a:xfrm>
          <a:prstGeom prst="roundRect">
            <a:avLst>
              <a:gd name="adj" fmla="val 5161"/>
            </a:avLst>
          </a:prstGeom>
          <a:solidFill>
            <a:srgbClr val="0891B2"/>
          </a:solidFill>
          <a:ln/>
        </p:spPr>
      </p:sp>
      <p:sp>
        <p:nvSpPr>
          <p:cNvPr id="18" name="Text 16"/>
          <p:cNvSpPr/>
          <p:nvPr/>
        </p:nvSpPr>
        <p:spPr>
          <a:xfrm>
            <a:off x="8101584" y="1709928"/>
            <a:ext cx="1792224"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Static IP</a:t>
            </a:r>
            <a:endParaRPr lang="en-US" sz="1250" dirty="0"/>
          </a:p>
        </p:txBody>
      </p:sp>
      <p:sp>
        <p:nvSpPr>
          <p:cNvPr id="19" name="Text 17"/>
          <p:cNvSpPr/>
          <p:nvPr/>
        </p:nvSpPr>
        <p:spPr>
          <a:xfrm>
            <a:off x="9948672" y="1709928"/>
            <a:ext cx="1792224" cy="292608"/>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Dynamic IP</a:t>
            </a:r>
            <a:endParaRPr lang="en-US" sz="1250" dirty="0"/>
          </a:p>
        </p:txBody>
      </p:sp>
      <p:sp>
        <p:nvSpPr>
          <p:cNvPr id="20" name="Text 18"/>
          <p:cNvSpPr/>
          <p:nvPr/>
        </p:nvSpPr>
        <p:spPr>
          <a:xfrm>
            <a:off x="8174736" y="2075688"/>
            <a:ext cx="1673352" cy="82296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Fixed, manually set</a:t>
            </a:r>
            <a:endParaRPr lang="en-US" sz="900" dirty="0"/>
          </a:p>
        </p:txBody>
      </p:sp>
      <p:sp>
        <p:nvSpPr>
          <p:cNvPr id="21" name="Text 19"/>
          <p:cNvSpPr/>
          <p:nvPr/>
        </p:nvSpPr>
        <p:spPr>
          <a:xfrm>
            <a:off x="10021824" y="2075688"/>
            <a:ext cx="1673352" cy="822960"/>
          </a:xfrm>
          <a:prstGeom prst="rect">
            <a:avLst/>
          </a:prstGeom>
          <a:noFill/>
          <a:ln/>
        </p:spPr>
        <p:txBody>
          <a:bodyPr wrap="square" lIns="0" tIns="0" rIns="0" bIns="0" rtlCol="0" anchor="t"/>
          <a:lstStyle/>
          <a:p>
            <a:pPr marL="0" indent="0" algn="ctr">
              <a:buNone/>
            </a:pPr>
            <a:r>
              <a:rPr lang="en-US" sz="900" dirty="0">
                <a:solidFill>
                  <a:srgbClr val="AEC3DD"/>
                </a:solidFill>
                <a:latin typeface="Calibri" pitchFamily="34" charset="0"/>
                <a:ea typeface="Calibri" pitchFamily="34" charset="-122"/>
                <a:cs typeface="Calibri" pitchFamily="34" charset="-120"/>
              </a:rPr>
              <a:t>Assigned automatically by DHCP</a:t>
            </a:r>
            <a:endParaRPr lang="en-US" sz="900" dirty="0"/>
          </a:p>
        </p:txBody>
      </p:sp>
      <p:sp>
        <p:nvSpPr>
          <p:cNvPr id="22" name="Shape 20"/>
          <p:cNvSpPr/>
          <p:nvPr/>
        </p:nvSpPr>
        <p:spPr>
          <a:xfrm>
            <a:off x="548640" y="3154680"/>
            <a:ext cx="3639312" cy="1417320"/>
          </a:xfrm>
          <a:prstGeom prst="roundRect">
            <a:avLst>
              <a:gd name="adj" fmla="val 5161"/>
            </a:avLst>
          </a:prstGeom>
          <a:solidFill>
            <a:srgbClr val="13294B"/>
          </a:solidFill>
          <a:ln/>
        </p:spPr>
      </p:sp>
      <p:sp>
        <p:nvSpPr>
          <p:cNvPr id="23" name="Shape 21"/>
          <p:cNvSpPr/>
          <p:nvPr/>
        </p:nvSpPr>
        <p:spPr>
          <a:xfrm>
            <a:off x="548640" y="3154680"/>
            <a:ext cx="1792224" cy="1417320"/>
          </a:xfrm>
          <a:prstGeom prst="roundRect">
            <a:avLst>
              <a:gd name="adj" fmla="val 5161"/>
            </a:avLst>
          </a:prstGeom>
          <a:solidFill>
            <a:srgbClr val="0891B2"/>
          </a:solidFill>
          <a:ln/>
        </p:spPr>
      </p:sp>
      <p:sp>
        <p:nvSpPr>
          <p:cNvPr id="24" name="Text 22"/>
          <p:cNvSpPr/>
          <p:nvPr/>
        </p:nvSpPr>
        <p:spPr>
          <a:xfrm>
            <a:off x="548640" y="3264408"/>
            <a:ext cx="1792224"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Logical Addr.</a:t>
            </a:r>
            <a:endParaRPr lang="en-US" sz="1250" dirty="0"/>
          </a:p>
        </p:txBody>
      </p:sp>
      <p:sp>
        <p:nvSpPr>
          <p:cNvPr id="25" name="Text 23"/>
          <p:cNvSpPr/>
          <p:nvPr/>
        </p:nvSpPr>
        <p:spPr>
          <a:xfrm>
            <a:off x="2395728" y="3264408"/>
            <a:ext cx="1792224" cy="292608"/>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Physical Addr.</a:t>
            </a:r>
            <a:endParaRPr lang="en-US" sz="1250" dirty="0"/>
          </a:p>
        </p:txBody>
      </p:sp>
      <p:sp>
        <p:nvSpPr>
          <p:cNvPr id="26" name="Text 24"/>
          <p:cNvSpPr/>
          <p:nvPr/>
        </p:nvSpPr>
        <p:spPr>
          <a:xfrm>
            <a:off x="621792" y="3630168"/>
            <a:ext cx="1673352" cy="82296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IP — changes per network</a:t>
            </a:r>
            <a:endParaRPr lang="en-US" sz="900" dirty="0"/>
          </a:p>
        </p:txBody>
      </p:sp>
      <p:sp>
        <p:nvSpPr>
          <p:cNvPr id="27" name="Text 25"/>
          <p:cNvSpPr/>
          <p:nvPr/>
        </p:nvSpPr>
        <p:spPr>
          <a:xfrm>
            <a:off x="2468880" y="3630168"/>
            <a:ext cx="1673352" cy="822960"/>
          </a:xfrm>
          <a:prstGeom prst="rect">
            <a:avLst/>
          </a:prstGeom>
          <a:noFill/>
          <a:ln/>
        </p:spPr>
        <p:txBody>
          <a:bodyPr wrap="square" lIns="0" tIns="0" rIns="0" bIns="0" rtlCol="0" anchor="t"/>
          <a:lstStyle/>
          <a:p>
            <a:pPr marL="0" indent="0" algn="ctr">
              <a:buNone/>
            </a:pPr>
            <a:r>
              <a:rPr lang="en-US" sz="900" dirty="0">
                <a:solidFill>
                  <a:srgbClr val="AEC3DD"/>
                </a:solidFill>
                <a:latin typeface="Calibri" pitchFamily="34" charset="0"/>
                <a:ea typeface="Calibri" pitchFamily="34" charset="-122"/>
                <a:cs typeface="Calibri" pitchFamily="34" charset="-120"/>
              </a:rPr>
              <a:t>MAC — fixed to hardware</a:t>
            </a:r>
            <a:endParaRPr lang="en-US" sz="900" dirty="0"/>
          </a:p>
        </p:txBody>
      </p:sp>
      <p:sp>
        <p:nvSpPr>
          <p:cNvPr id="28" name="Shape 26"/>
          <p:cNvSpPr/>
          <p:nvPr/>
        </p:nvSpPr>
        <p:spPr>
          <a:xfrm>
            <a:off x="4325112" y="3154680"/>
            <a:ext cx="3639312" cy="1417320"/>
          </a:xfrm>
          <a:prstGeom prst="roundRect">
            <a:avLst>
              <a:gd name="adj" fmla="val 5161"/>
            </a:avLst>
          </a:prstGeom>
          <a:solidFill>
            <a:srgbClr val="13294B"/>
          </a:solidFill>
          <a:ln/>
        </p:spPr>
      </p:sp>
      <p:sp>
        <p:nvSpPr>
          <p:cNvPr id="29" name="Shape 27"/>
          <p:cNvSpPr/>
          <p:nvPr/>
        </p:nvSpPr>
        <p:spPr>
          <a:xfrm>
            <a:off x="4325112" y="3154680"/>
            <a:ext cx="1792224" cy="1417320"/>
          </a:xfrm>
          <a:prstGeom prst="roundRect">
            <a:avLst>
              <a:gd name="adj" fmla="val 5161"/>
            </a:avLst>
          </a:prstGeom>
          <a:solidFill>
            <a:srgbClr val="0891B2"/>
          </a:solidFill>
          <a:ln/>
        </p:spPr>
      </p:sp>
      <p:sp>
        <p:nvSpPr>
          <p:cNvPr id="30" name="Text 28"/>
          <p:cNvSpPr/>
          <p:nvPr/>
        </p:nvSpPr>
        <p:spPr>
          <a:xfrm>
            <a:off x="4325112" y="3264408"/>
            <a:ext cx="1792224"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MAC</a:t>
            </a:r>
            <a:endParaRPr lang="en-US" sz="1250" dirty="0"/>
          </a:p>
        </p:txBody>
      </p:sp>
      <p:sp>
        <p:nvSpPr>
          <p:cNvPr id="31" name="Text 29"/>
          <p:cNvSpPr/>
          <p:nvPr/>
        </p:nvSpPr>
        <p:spPr>
          <a:xfrm>
            <a:off x="6172200" y="3264408"/>
            <a:ext cx="1792224" cy="292608"/>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IP</a:t>
            </a:r>
            <a:endParaRPr lang="en-US" sz="1250" dirty="0"/>
          </a:p>
        </p:txBody>
      </p:sp>
      <p:sp>
        <p:nvSpPr>
          <p:cNvPr id="32" name="Text 30"/>
          <p:cNvSpPr/>
          <p:nvPr/>
        </p:nvSpPr>
        <p:spPr>
          <a:xfrm>
            <a:off x="4398264" y="3630168"/>
            <a:ext cx="1673352" cy="82296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Layer 2, hardware ID</a:t>
            </a:r>
            <a:endParaRPr lang="en-US" sz="900" dirty="0"/>
          </a:p>
        </p:txBody>
      </p:sp>
      <p:sp>
        <p:nvSpPr>
          <p:cNvPr id="33" name="Text 31"/>
          <p:cNvSpPr/>
          <p:nvPr/>
        </p:nvSpPr>
        <p:spPr>
          <a:xfrm>
            <a:off x="6245352" y="3630168"/>
            <a:ext cx="1673352" cy="822960"/>
          </a:xfrm>
          <a:prstGeom prst="rect">
            <a:avLst/>
          </a:prstGeom>
          <a:noFill/>
          <a:ln/>
        </p:spPr>
        <p:txBody>
          <a:bodyPr wrap="square" lIns="0" tIns="0" rIns="0" bIns="0" rtlCol="0" anchor="t"/>
          <a:lstStyle/>
          <a:p>
            <a:pPr marL="0" indent="0" algn="ctr">
              <a:buNone/>
            </a:pPr>
            <a:r>
              <a:rPr lang="en-US" sz="900" dirty="0">
                <a:solidFill>
                  <a:srgbClr val="AEC3DD"/>
                </a:solidFill>
                <a:latin typeface="Calibri" pitchFamily="34" charset="0"/>
                <a:ea typeface="Calibri" pitchFamily="34" charset="-122"/>
                <a:cs typeface="Calibri" pitchFamily="34" charset="-120"/>
              </a:rPr>
              <a:t>Layer 3, network location</a:t>
            </a:r>
            <a:endParaRPr lang="en-US" sz="900" dirty="0"/>
          </a:p>
        </p:txBody>
      </p:sp>
      <p:sp>
        <p:nvSpPr>
          <p:cNvPr id="34" name="Shape 32"/>
          <p:cNvSpPr/>
          <p:nvPr/>
        </p:nvSpPr>
        <p:spPr>
          <a:xfrm>
            <a:off x="8101584" y="3154680"/>
            <a:ext cx="3639312" cy="1417320"/>
          </a:xfrm>
          <a:prstGeom prst="roundRect">
            <a:avLst>
              <a:gd name="adj" fmla="val 5161"/>
            </a:avLst>
          </a:prstGeom>
          <a:solidFill>
            <a:srgbClr val="13294B"/>
          </a:solidFill>
          <a:ln/>
        </p:spPr>
      </p:sp>
      <p:sp>
        <p:nvSpPr>
          <p:cNvPr id="35" name="Shape 33"/>
          <p:cNvSpPr/>
          <p:nvPr/>
        </p:nvSpPr>
        <p:spPr>
          <a:xfrm>
            <a:off x="8101584" y="3154680"/>
            <a:ext cx="1792224" cy="1417320"/>
          </a:xfrm>
          <a:prstGeom prst="roundRect">
            <a:avLst>
              <a:gd name="adj" fmla="val 5161"/>
            </a:avLst>
          </a:prstGeom>
          <a:solidFill>
            <a:srgbClr val="0891B2"/>
          </a:solidFill>
          <a:ln/>
        </p:spPr>
      </p:sp>
      <p:sp>
        <p:nvSpPr>
          <p:cNvPr id="36" name="Text 34"/>
          <p:cNvSpPr/>
          <p:nvPr/>
        </p:nvSpPr>
        <p:spPr>
          <a:xfrm>
            <a:off x="8101584" y="3264408"/>
            <a:ext cx="1792224"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Gateway</a:t>
            </a:r>
            <a:endParaRPr lang="en-US" sz="1250" dirty="0"/>
          </a:p>
        </p:txBody>
      </p:sp>
      <p:sp>
        <p:nvSpPr>
          <p:cNvPr id="37" name="Text 35"/>
          <p:cNvSpPr/>
          <p:nvPr/>
        </p:nvSpPr>
        <p:spPr>
          <a:xfrm>
            <a:off x="9948672" y="3264408"/>
            <a:ext cx="1792224" cy="292608"/>
          </a:xfrm>
          <a:prstGeom prst="rect">
            <a:avLst/>
          </a:prstGeom>
          <a:noFill/>
          <a:ln/>
        </p:spPr>
        <p:txBody>
          <a:bodyPr wrap="square" lIns="0" tIns="0" rIns="0" bIns="0" rtlCol="0" anchor="ctr"/>
          <a:lstStyle/>
          <a:p>
            <a:pPr marL="0" indent="0" algn="ctr">
              <a:buNone/>
            </a:pPr>
            <a:r>
              <a:rPr lang="en-US" sz="1250" b="1" dirty="0">
                <a:solidFill>
                  <a:srgbClr val="22D3EE"/>
                </a:solidFill>
                <a:latin typeface="Calibri" pitchFamily="34" charset="0"/>
                <a:ea typeface="Calibri" pitchFamily="34" charset="-122"/>
                <a:cs typeface="Calibri" pitchFamily="34" charset="-120"/>
              </a:rPr>
              <a:t>DNS</a:t>
            </a:r>
            <a:endParaRPr lang="en-US" sz="1250" dirty="0"/>
          </a:p>
        </p:txBody>
      </p:sp>
      <p:sp>
        <p:nvSpPr>
          <p:cNvPr id="38" name="Text 36"/>
          <p:cNvSpPr/>
          <p:nvPr/>
        </p:nvSpPr>
        <p:spPr>
          <a:xfrm>
            <a:off x="8174736" y="3630168"/>
            <a:ext cx="1673352" cy="822960"/>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Router to leave the network</a:t>
            </a:r>
            <a:endParaRPr lang="en-US" sz="900" dirty="0"/>
          </a:p>
        </p:txBody>
      </p:sp>
      <p:sp>
        <p:nvSpPr>
          <p:cNvPr id="39" name="Text 37"/>
          <p:cNvSpPr/>
          <p:nvPr/>
        </p:nvSpPr>
        <p:spPr>
          <a:xfrm>
            <a:off x="10021824" y="3630168"/>
            <a:ext cx="1673352" cy="822960"/>
          </a:xfrm>
          <a:prstGeom prst="rect">
            <a:avLst/>
          </a:prstGeom>
          <a:noFill/>
          <a:ln/>
        </p:spPr>
        <p:txBody>
          <a:bodyPr wrap="square" lIns="0" tIns="0" rIns="0" bIns="0" rtlCol="0" anchor="t"/>
          <a:lstStyle/>
          <a:p>
            <a:pPr marL="0" indent="0" algn="ctr">
              <a:buNone/>
            </a:pPr>
            <a:r>
              <a:rPr lang="en-US" sz="900" dirty="0">
                <a:solidFill>
                  <a:srgbClr val="AEC3DD"/>
                </a:solidFill>
                <a:latin typeface="Calibri" pitchFamily="34" charset="0"/>
                <a:ea typeface="Calibri" pitchFamily="34" charset="-122"/>
                <a:cs typeface="Calibri" pitchFamily="34" charset="-120"/>
              </a:rPr>
              <a:t>Server that resolves names to IPs</a:t>
            </a:r>
            <a:endParaRPr lang="en-US" sz="900" dirty="0"/>
          </a:p>
        </p:txBody>
      </p:sp>
      <p:sp>
        <p:nvSpPr>
          <p:cNvPr id="40" name="Text 3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13</a:t>
            </a:r>
            <a:endParaRPr lang="en-US" sz="1000" dirty="0"/>
          </a:p>
        </p:txBody>
      </p:sp>
      <p:sp>
        <p:nvSpPr>
          <p:cNvPr id="41" name="Text 39"/>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PROTOCOLS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Protocol Overview &amp; the TCP/IP Stack</a:t>
            </a:r>
            <a:endParaRPr lang="en-US" sz="3200" dirty="0"/>
          </a:p>
        </p:txBody>
      </p:sp>
      <p:sp>
        <p:nvSpPr>
          <p:cNvPr id="4" name="Text 2"/>
          <p:cNvSpPr/>
          <p:nvPr/>
        </p:nvSpPr>
        <p:spPr>
          <a:xfrm>
            <a:off x="548640" y="1554480"/>
            <a:ext cx="11064240" cy="685800"/>
          </a:xfrm>
          <a:prstGeom prst="rect">
            <a:avLst/>
          </a:prstGeom>
          <a:noFill/>
          <a:ln/>
        </p:spPr>
        <p:txBody>
          <a:bodyPr wrap="square" rtlCol="0" anchor="t"/>
          <a:lstStyle/>
          <a:p>
            <a:pPr marL="0" indent="0">
              <a:lnSpc>
                <a:spcPct val="125000"/>
              </a:lnSpc>
              <a:buNone/>
            </a:pPr>
            <a:r>
              <a:rPr lang="en-US" sz="1350" dirty="0">
                <a:solidFill>
                  <a:srgbClr val="AEC3DD"/>
                </a:solidFill>
                <a:latin typeface="Calibri" pitchFamily="34" charset="0"/>
                <a:ea typeface="Calibri" pitchFamily="34" charset="-122"/>
                <a:cs typeface="Calibri" pitchFamily="34" charset="-120"/>
              </a:rPr>
              <a:t>A protocol is a defined set of rules that governs how devices communicate — determining </a:t>
            </a:r>
            <a:r>
              <a:rPr lang="en-US" sz="1350" b="1" dirty="0">
                <a:solidFill>
                  <a:srgbClr val="FFFFFF"/>
                </a:solidFill>
                <a:latin typeface="Calibri" pitchFamily="34" charset="0"/>
                <a:ea typeface="Calibri" pitchFamily="34" charset="-122"/>
                <a:cs typeface="Calibri" pitchFamily="34" charset="-120"/>
              </a:rPr>
              <a:t>format, timing, sequencing, and error handling</a:t>
            </a:r>
            <a:r>
              <a:rPr lang="en-US" sz="1350" dirty="0">
                <a:solidFill>
                  <a:srgbClr val="AEC3DD"/>
                </a:solidFill>
                <a:latin typeface="Calibri" pitchFamily="34" charset="0"/>
                <a:ea typeface="Calibri" pitchFamily="34" charset="-122"/>
                <a:cs typeface="Calibri" pitchFamily="34" charset="-120"/>
              </a:rPr>
              <a:t> for data exchange. Without shared protocols, devices from different vendors couldn't understand each other.</a:t>
            </a:r>
            <a:endParaRPr lang="en-US" sz="1350" dirty="0"/>
          </a:p>
        </p:txBody>
      </p:sp>
      <p:sp>
        <p:nvSpPr>
          <p:cNvPr id="5" name="Shape 3"/>
          <p:cNvSpPr/>
          <p:nvPr/>
        </p:nvSpPr>
        <p:spPr>
          <a:xfrm>
            <a:off x="1280160" y="2423160"/>
            <a:ext cx="9601200" cy="932688"/>
          </a:xfrm>
          <a:prstGeom prst="roundRect">
            <a:avLst>
              <a:gd name="adj" fmla="val 5882"/>
            </a:avLst>
          </a:prstGeom>
          <a:solidFill>
            <a:srgbClr val="0891B2"/>
          </a:solidFill>
          <a:ln/>
        </p:spPr>
      </p:sp>
      <p:sp>
        <p:nvSpPr>
          <p:cNvPr id="6" name="Text 4"/>
          <p:cNvSpPr/>
          <p:nvPr/>
        </p:nvSpPr>
        <p:spPr>
          <a:xfrm>
            <a:off x="1554480" y="2423160"/>
            <a:ext cx="2377440" cy="9326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Application</a:t>
            </a:r>
            <a:endParaRPr lang="en-US" sz="1500" dirty="0"/>
          </a:p>
        </p:txBody>
      </p:sp>
      <p:sp>
        <p:nvSpPr>
          <p:cNvPr id="7" name="Text 5"/>
          <p:cNvSpPr/>
          <p:nvPr/>
        </p:nvSpPr>
        <p:spPr>
          <a:xfrm>
            <a:off x="4023360" y="2423160"/>
            <a:ext cx="3017520" cy="932688"/>
          </a:xfrm>
          <a:prstGeom prst="rect">
            <a:avLst/>
          </a:prstGeom>
          <a:noFill/>
          <a:ln/>
        </p:spPr>
        <p:txBody>
          <a:bodyPr wrap="square" lIns="0" tIns="0" rIns="0" bIns="0" rtlCol="0" anchor="ctr"/>
          <a:lstStyle/>
          <a:p>
            <a:pPr marL="0" indent="0">
              <a:buNone/>
            </a:pPr>
            <a:r>
              <a:rPr lang="en-US" sz="1150" dirty="0">
                <a:solidFill>
                  <a:srgbClr val="22D3EE"/>
                </a:solidFill>
                <a:latin typeface="Courier New" pitchFamily="34" charset="0"/>
                <a:ea typeface="Courier New" pitchFamily="34" charset="-122"/>
                <a:cs typeface="Courier New" pitchFamily="34" charset="-120"/>
              </a:rPr>
              <a:t>HTTP, HTTPS, DNS, FTP, SMTP</a:t>
            </a:r>
            <a:endParaRPr lang="en-US" sz="1150" dirty="0"/>
          </a:p>
        </p:txBody>
      </p:sp>
      <p:sp>
        <p:nvSpPr>
          <p:cNvPr id="8" name="Text 6"/>
          <p:cNvSpPr/>
          <p:nvPr/>
        </p:nvSpPr>
        <p:spPr>
          <a:xfrm>
            <a:off x="7132320" y="2423160"/>
            <a:ext cx="3566160" cy="932688"/>
          </a:xfrm>
          <a:prstGeom prst="rect">
            <a:avLst/>
          </a:prstGeom>
          <a:noFill/>
          <a:ln/>
        </p:spPr>
        <p:txBody>
          <a:bodyPr wrap="square" lIns="0" tIns="0" rIns="0" bIns="0" rtlCol="0" anchor="ctr"/>
          <a:lstStyle/>
          <a:p>
            <a:pPr marL="0" indent="0">
              <a:buNone/>
            </a:pPr>
            <a:r>
              <a:rPr lang="en-US" sz="1050" dirty="0">
                <a:solidFill>
                  <a:srgbClr val="AEC3DD"/>
                </a:solidFill>
                <a:latin typeface="Calibri" pitchFamily="34" charset="0"/>
                <a:ea typeface="Calibri" pitchFamily="34" charset="-122"/>
                <a:cs typeface="Calibri" pitchFamily="34" charset="-120"/>
              </a:rPr>
              <a:t>How apps talk — the data you see (web pages, emails)</a:t>
            </a:r>
            <a:endParaRPr lang="en-US" sz="1050" dirty="0"/>
          </a:p>
        </p:txBody>
      </p:sp>
      <p:sp>
        <p:nvSpPr>
          <p:cNvPr id="9" name="Shape 7"/>
          <p:cNvSpPr/>
          <p:nvPr/>
        </p:nvSpPr>
        <p:spPr>
          <a:xfrm>
            <a:off x="1280160" y="3447288"/>
            <a:ext cx="9601200" cy="932688"/>
          </a:xfrm>
          <a:prstGeom prst="roundRect">
            <a:avLst>
              <a:gd name="adj" fmla="val 5882"/>
            </a:avLst>
          </a:prstGeom>
          <a:solidFill>
            <a:srgbClr val="0F2140"/>
          </a:solidFill>
          <a:ln/>
        </p:spPr>
      </p:sp>
      <p:sp>
        <p:nvSpPr>
          <p:cNvPr id="10" name="Text 8"/>
          <p:cNvSpPr/>
          <p:nvPr/>
        </p:nvSpPr>
        <p:spPr>
          <a:xfrm>
            <a:off x="1554480" y="3447288"/>
            <a:ext cx="2377440" cy="9326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Transport</a:t>
            </a:r>
            <a:endParaRPr lang="en-US" sz="1500" dirty="0"/>
          </a:p>
        </p:txBody>
      </p:sp>
      <p:sp>
        <p:nvSpPr>
          <p:cNvPr id="11" name="Text 9"/>
          <p:cNvSpPr/>
          <p:nvPr/>
        </p:nvSpPr>
        <p:spPr>
          <a:xfrm>
            <a:off x="4023360" y="3447288"/>
            <a:ext cx="3017520" cy="932688"/>
          </a:xfrm>
          <a:prstGeom prst="rect">
            <a:avLst/>
          </a:prstGeom>
          <a:noFill/>
          <a:ln/>
        </p:spPr>
        <p:txBody>
          <a:bodyPr wrap="square" lIns="0" tIns="0" rIns="0" bIns="0" rtlCol="0" anchor="ctr"/>
          <a:lstStyle/>
          <a:p>
            <a:pPr marL="0" indent="0">
              <a:buNone/>
            </a:pPr>
            <a:r>
              <a:rPr lang="en-US" sz="1150" dirty="0">
                <a:solidFill>
                  <a:srgbClr val="22D3EE"/>
                </a:solidFill>
                <a:latin typeface="Courier New" pitchFamily="34" charset="0"/>
                <a:ea typeface="Courier New" pitchFamily="34" charset="-122"/>
                <a:cs typeface="Courier New" pitchFamily="34" charset="-120"/>
              </a:rPr>
              <a:t>TCP, UDP</a:t>
            </a:r>
            <a:endParaRPr lang="en-US" sz="1150" dirty="0"/>
          </a:p>
        </p:txBody>
      </p:sp>
      <p:sp>
        <p:nvSpPr>
          <p:cNvPr id="12" name="Text 10"/>
          <p:cNvSpPr/>
          <p:nvPr/>
        </p:nvSpPr>
        <p:spPr>
          <a:xfrm>
            <a:off x="7132320" y="3447288"/>
            <a:ext cx="3566160" cy="932688"/>
          </a:xfrm>
          <a:prstGeom prst="rect">
            <a:avLst/>
          </a:prstGeom>
          <a:noFill/>
          <a:ln/>
        </p:spPr>
        <p:txBody>
          <a:bodyPr wrap="square" lIns="0" tIns="0" rIns="0" bIns="0" rtlCol="0" anchor="ctr"/>
          <a:lstStyle/>
          <a:p>
            <a:pPr marL="0" indent="0">
              <a:buNone/>
            </a:pPr>
            <a:r>
              <a:rPr lang="en-US" sz="1050" dirty="0">
                <a:solidFill>
                  <a:srgbClr val="AEC3DD"/>
                </a:solidFill>
                <a:latin typeface="Calibri" pitchFamily="34" charset="0"/>
                <a:ea typeface="Calibri" pitchFamily="34" charset="-122"/>
                <a:cs typeface="Calibri" pitchFamily="34" charset="-120"/>
              </a:rPr>
              <a:t>End-to-end delivery — reliable (TCP) or fast (UDP)</a:t>
            </a:r>
            <a:endParaRPr lang="en-US" sz="1050" dirty="0"/>
          </a:p>
        </p:txBody>
      </p:sp>
      <p:sp>
        <p:nvSpPr>
          <p:cNvPr id="13" name="Shape 11"/>
          <p:cNvSpPr/>
          <p:nvPr/>
        </p:nvSpPr>
        <p:spPr>
          <a:xfrm>
            <a:off x="1280160" y="4471416"/>
            <a:ext cx="9601200" cy="932688"/>
          </a:xfrm>
          <a:prstGeom prst="roundRect">
            <a:avLst>
              <a:gd name="adj" fmla="val 5882"/>
            </a:avLst>
          </a:prstGeom>
          <a:solidFill>
            <a:srgbClr val="0F2140"/>
          </a:solidFill>
          <a:ln/>
        </p:spPr>
      </p:sp>
      <p:sp>
        <p:nvSpPr>
          <p:cNvPr id="14" name="Text 12"/>
          <p:cNvSpPr/>
          <p:nvPr/>
        </p:nvSpPr>
        <p:spPr>
          <a:xfrm>
            <a:off x="1554480" y="4471416"/>
            <a:ext cx="2377440" cy="9326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Internet</a:t>
            </a:r>
            <a:endParaRPr lang="en-US" sz="1500" dirty="0"/>
          </a:p>
        </p:txBody>
      </p:sp>
      <p:sp>
        <p:nvSpPr>
          <p:cNvPr id="15" name="Text 13"/>
          <p:cNvSpPr/>
          <p:nvPr/>
        </p:nvSpPr>
        <p:spPr>
          <a:xfrm>
            <a:off x="4023360" y="4471416"/>
            <a:ext cx="3017520" cy="932688"/>
          </a:xfrm>
          <a:prstGeom prst="rect">
            <a:avLst/>
          </a:prstGeom>
          <a:noFill/>
          <a:ln/>
        </p:spPr>
        <p:txBody>
          <a:bodyPr wrap="square" lIns="0" tIns="0" rIns="0" bIns="0" rtlCol="0" anchor="ctr"/>
          <a:lstStyle/>
          <a:p>
            <a:pPr marL="0" indent="0">
              <a:buNone/>
            </a:pPr>
            <a:r>
              <a:rPr lang="en-US" sz="1150" dirty="0">
                <a:solidFill>
                  <a:srgbClr val="22D3EE"/>
                </a:solidFill>
                <a:latin typeface="Courier New" pitchFamily="34" charset="0"/>
                <a:ea typeface="Courier New" pitchFamily="34" charset="-122"/>
                <a:cs typeface="Courier New" pitchFamily="34" charset="-120"/>
              </a:rPr>
              <a:t>IP, ICMP, ARP</a:t>
            </a:r>
            <a:endParaRPr lang="en-US" sz="1150" dirty="0"/>
          </a:p>
        </p:txBody>
      </p:sp>
      <p:sp>
        <p:nvSpPr>
          <p:cNvPr id="16" name="Text 14"/>
          <p:cNvSpPr/>
          <p:nvPr/>
        </p:nvSpPr>
        <p:spPr>
          <a:xfrm>
            <a:off x="7132320" y="4471416"/>
            <a:ext cx="3566160" cy="932688"/>
          </a:xfrm>
          <a:prstGeom prst="rect">
            <a:avLst/>
          </a:prstGeom>
          <a:noFill/>
          <a:ln/>
        </p:spPr>
        <p:txBody>
          <a:bodyPr wrap="square" lIns="0" tIns="0" rIns="0" bIns="0" rtlCol="0" anchor="ctr"/>
          <a:lstStyle/>
          <a:p>
            <a:pPr marL="0" indent="0">
              <a:buNone/>
            </a:pPr>
            <a:r>
              <a:rPr lang="en-US" sz="1050" dirty="0">
                <a:solidFill>
                  <a:srgbClr val="AEC3DD"/>
                </a:solidFill>
                <a:latin typeface="Calibri" pitchFamily="34" charset="0"/>
                <a:ea typeface="Calibri" pitchFamily="34" charset="-122"/>
                <a:cs typeface="Calibri" pitchFamily="34" charset="-120"/>
              </a:rPr>
              <a:t>Logical addressing &amp; routing between networks</a:t>
            </a:r>
            <a:endParaRPr lang="en-US" sz="1050" dirty="0"/>
          </a:p>
        </p:txBody>
      </p:sp>
      <p:sp>
        <p:nvSpPr>
          <p:cNvPr id="17" name="Shape 15"/>
          <p:cNvSpPr/>
          <p:nvPr/>
        </p:nvSpPr>
        <p:spPr>
          <a:xfrm>
            <a:off x="1280160" y="5495544"/>
            <a:ext cx="9601200" cy="932688"/>
          </a:xfrm>
          <a:prstGeom prst="roundRect">
            <a:avLst>
              <a:gd name="adj" fmla="val 5882"/>
            </a:avLst>
          </a:prstGeom>
          <a:solidFill>
            <a:srgbClr val="0F2140"/>
          </a:solidFill>
          <a:ln/>
        </p:spPr>
      </p:sp>
      <p:sp>
        <p:nvSpPr>
          <p:cNvPr id="18" name="Text 16"/>
          <p:cNvSpPr/>
          <p:nvPr/>
        </p:nvSpPr>
        <p:spPr>
          <a:xfrm>
            <a:off x="1554480" y="5495544"/>
            <a:ext cx="2377440" cy="9326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Network Access</a:t>
            </a:r>
            <a:endParaRPr lang="en-US" sz="1500" dirty="0"/>
          </a:p>
        </p:txBody>
      </p:sp>
      <p:sp>
        <p:nvSpPr>
          <p:cNvPr id="19" name="Text 17"/>
          <p:cNvSpPr/>
          <p:nvPr/>
        </p:nvSpPr>
        <p:spPr>
          <a:xfrm>
            <a:off x="4023360" y="5495544"/>
            <a:ext cx="3017520" cy="932688"/>
          </a:xfrm>
          <a:prstGeom prst="rect">
            <a:avLst/>
          </a:prstGeom>
          <a:noFill/>
          <a:ln/>
        </p:spPr>
        <p:txBody>
          <a:bodyPr wrap="square" lIns="0" tIns="0" rIns="0" bIns="0" rtlCol="0" anchor="ctr"/>
          <a:lstStyle/>
          <a:p>
            <a:pPr marL="0" indent="0">
              <a:buNone/>
            </a:pPr>
            <a:r>
              <a:rPr lang="en-US" sz="1150" dirty="0">
                <a:solidFill>
                  <a:srgbClr val="22D3EE"/>
                </a:solidFill>
                <a:latin typeface="Courier New" pitchFamily="34" charset="0"/>
                <a:ea typeface="Courier New" pitchFamily="34" charset="-122"/>
                <a:cs typeface="Courier New" pitchFamily="34" charset="-120"/>
              </a:rPr>
              <a:t>Ethernet, Wi-Fi</a:t>
            </a:r>
            <a:endParaRPr lang="en-US" sz="1150" dirty="0"/>
          </a:p>
        </p:txBody>
      </p:sp>
      <p:sp>
        <p:nvSpPr>
          <p:cNvPr id="20" name="Text 18"/>
          <p:cNvSpPr/>
          <p:nvPr/>
        </p:nvSpPr>
        <p:spPr>
          <a:xfrm>
            <a:off x="7132320" y="5495544"/>
            <a:ext cx="3566160" cy="932688"/>
          </a:xfrm>
          <a:prstGeom prst="rect">
            <a:avLst/>
          </a:prstGeom>
          <a:noFill/>
          <a:ln/>
        </p:spPr>
        <p:txBody>
          <a:bodyPr wrap="square" lIns="0" tIns="0" rIns="0" bIns="0" rtlCol="0" anchor="ctr"/>
          <a:lstStyle/>
          <a:p>
            <a:pPr marL="0" indent="0">
              <a:buNone/>
            </a:pPr>
            <a:r>
              <a:rPr lang="en-US" sz="1050" dirty="0">
                <a:solidFill>
                  <a:srgbClr val="AEC3DD"/>
                </a:solidFill>
                <a:latin typeface="Calibri" pitchFamily="34" charset="0"/>
                <a:ea typeface="Calibri" pitchFamily="34" charset="-122"/>
                <a:cs typeface="Calibri" pitchFamily="34" charset="-120"/>
              </a:rPr>
              <a:t>Physical transmission over cables or radio waves</a:t>
            </a:r>
            <a:endParaRPr lang="en-US" sz="1050" dirty="0"/>
          </a:p>
        </p:txBody>
      </p:sp>
      <p:sp>
        <p:nvSpPr>
          <p:cNvPr id="21" name="Text 19"/>
          <p:cNvSpPr/>
          <p:nvPr/>
        </p:nvSpPr>
        <p:spPr>
          <a:xfrm>
            <a:off x="1280160" y="6537960"/>
            <a:ext cx="9601200" cy="274320"/>
          </a:xfrm>
          <a:prstGeom prst="rect">
            <a:avLst/>
          </a:prstGeom>
          <a:noFill/>
          <a:ln/>
        </p:spPr>
        <p:txBody>
          <a:bodyPr wrap="square" lIns="0" tIns="0" rIns="0" bIns="0" rtlCol="0" anchor="ctr"/>
          <a:lstStyle/>
          <a:p>
            <a:pPr marL="0" indent="0" algn="ctr">
              <a:buNone/>
            </a:pPr>
            <a:r>
              <a:rPr lang="en-US" sz="1000" i="1" dirty="0">
                <a:solidFill>
                  <a:srgbClr val="7E93B3"/>
                </a:solidFill>
                <a:latin typeface="Calibri" pitchFamily="34" charset="0"/>
                <a:ea typeface="Calibri" pitchFamily="34" charset="-122"/>
                <a:cs typeface="Calibri" pitchFamily="34" charset="-120"/>
              </a:rPr>
              <a:t>↑ Data flows down this stack when sending, and up when receiving ↓</a:t>
            </a:r>
            <a:endParaRPr lang="en-US" sz="1000" dirty="0"/>
          </a:p>
        </p:txBody>
      </p:sp>
      <p:sp>
        <p:nvSpPr>
          <p:cNvPr id="22" name="Text 20"/>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14</a:t>
            </a:r>
            <a:endParaRPr lang="en-US" sz="1000" dirty="0"/>
          </a:p>
        </p:txBody>
      </p:sp>
      <p:sp>
        <p:nvSpPr>
          <p:cNvPr id="23" name="Text 21"/>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PROTOCOLS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Common Network Protocols (Part 1)</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2590800"/>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gridCol w="3749040">
                  <a:extLst>
                    <a:ext uri="{9D8B030D-6E8A-4147-A177-3AD203B41FA5}">
                      <a16:colId xmlns:a16="http://schemas.microsoft.com/office/drawing/2014/main" val="20004"/>
                    </a:ext>
                  </a:extLst>
                </a:gridCol>
              </a:tblGrid>
              <a:tr h="0">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Real-World Example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HTTP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Transfers web pages (unencrypted)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Browsing an old blog site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HTTPS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443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Transfers web pages, encrypted with TLS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Online banking login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FTP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20/21</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Transfers files between client &amp; server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Uploading a website's files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SFTP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Secure, encrypted file transfer over SSH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Sending confidential reports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SSH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Encrypted remote login &amp; command execution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Administering a Linux server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Telnet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Unencrypted remote login (legacy)</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Old router/switch console access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SMTP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Sends outgoing email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Gmail sending your message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POP3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Downloads email, then removes from server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Legacy desktop mail clients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8"/>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IMAP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Syncs email across multiple devices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Checking email on phone &amp; laptop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9"/>
                  </a:ext>
                </a:extLst>
              </a:tr>
            </a:tbl>
          </a:graphicData>
        </a:graphic>
      </p:graphicFrame>
      <p:sp>
        <p:nvSpPr>
          <p:cNvPr id="5" name="Text 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15</a:t>
            </a:r>
            <a:endParaRPr lang="en-US" sz="1000" dirty="0"/>
          </a:p>
        </p:txBody>
      </p:sp>
      <p:sp>
        <p:nvSpPr>
          <p:cNvPr id="6" name="Text 3"/>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PROTOCOLS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Common Network Protocols (Part 2)</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2590800"/>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gridCol w="3749040">
                  <a:extLst>
                    <a:ext uri="{9D8B030D-6E8A-4147-A177-3AD203B41FA5}">
                      <a16:colId xmlns:a16="http://schemas.microsoft.com/office/drawing/2014/main" val="20004"/>
                    </a:ext>
                  </a:extLst>
                </a:gridCol>
              </a:tblGrid>
              <a:tr h="0">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Real-World Example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DNS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TCP/UDP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Resolves domain names to IP addresses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Typing google.com in a browser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DHCP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67/68</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Automatically assigns IP addresses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Your phone joining Wi-Fi</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SNMP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161/162</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Monitors &amp; manages network devices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Dashboard showing router health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LDAP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389</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TCP/UDP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Accesses &amp; manages directory services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Corporate user login (Active Directory)</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NTP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UDP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Synchronizes device clocks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Server time staying accurate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SMB</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445</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Shares files/printers on a LAN</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Accessing a shared office drive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RDP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3389</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TCP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Remote graphical desktop access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Connecting to a work PC from home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ICMP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IP-based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Diagnostics &amp; error reporting</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The ping command</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8"/>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ARP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L2 broadcast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Maps an IP address to a MAC address</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Device finding its LAN neighbor</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9"/>
                  </a:ext>
                </a:extLst>
              </a:tr>
            </a:tbl>
          </a:graphicData>
        </a:graphic>
      </p:graphicFrame>
      <p:sp>
        <p:nvSpPr>
          <p:cNvPr id="5" name="Text 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16</a:t>
            </a:r>
            <a:endParaRPr lang="en-US" sz="1000" dirty="0"/>
          </a:p>
        </p:txBody>
      </p:sp>
      <p:sp>
        <p:nvSpPr>
          <p:cNvPr id="6" name="Text 3"/>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PROTOCOLS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Remote Management Protocols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155448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Port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Interface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Security Level</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0F21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SSH</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Command-line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Telnet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Command-line</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RDP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3389</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Full graphical desktop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VNC</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5900</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Full graphical desktop</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WinRM</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5985/5986</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r>
                        <a:rPr lang="en-US" sz="1100" dirty="0">
                          <a:solidFill>
                            <a:srgbClr val="AEC3DD"/>
                          </a:solidFill>
                          <a:latin typeface="Calibri" pitchFamily="34" charset="0"/>
                          <a:ea typeface="Calibri" pitchFamily="34" charset="-122"/>
                          <a:cs typeface="Calibri" pitchFamily="34" charset="-120"/>
                        </a:rPr>
                        <a:t>Windows remote management</a:t>
                      </a: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tc>
                  <a:txBody>
                    <a:bodyPr/>
                    <a:lstStyle/>
                    <a:p>
                      <a:pPr marL="0" indent="0">
                        <a:buNone/>
                      </a:pPr>
                      <a:endParaRPr lang="en-US" sz="1100" dirty="0">
                        <a:latin typeface="Calibri" charset="0"/>
                        <a:ea typeface="Calibri" charset="0"/>
                        <a:cs typeface="Calibri" charset="0"/>
                      </a:endParaRPr>
                    </a:p>
                  </a:txBody>
                  <a:tcPr anchor="ctr">
                    <a:lnL w="12700" cap="flat" cmpd="sng" algn="ctr">
                      <a:solidFill>
                        <a:srgbClr val="0F2140"/>
                      </a:solidFill>
                      <a:prstDash val="solid"/>
                      <a:round/>
                      <a:headEnd type="none" w="med" len="med"/>
                      <a:tailEnd type="none" w="med" len="med"/>
                    </a:lnL>
                    <a:lnR w="12700" cap="flat" cmpd="sng" algn="ctr">
                      <a:solidFill>
                        <a:srgbClr val="0F2140"/>
                      </a:solidFill>
                      <a:prstDash val="solid"/>
                      <a:round/>
                      <a:headEnd type="none" w="med" len="med"/>
                      <a:tailEnd type="none" w="med" len="med"/>
                    </a:lnR>
                    <a:lnT w="12700" cap="flat" cmpd="sng" algn="ctr">
                      <a:solidFill>
                        <a:srgbClr val="0F2140"/>
                      </a:solidFill>
                      <a:prstDash val="solid"/>
                      <a:round/>
                      <a:headEnd type="none" w="med" len="med"/>
                      <a:tailEnd type="none" w="med" len="med"/>
                    </a:lnT>
                    <a:lnB w="12700" cap="flat" cmpd="sng" algn="ctr">
                      <a:solidFill>
                        <a:srgbClr val="0F2140"/>
                      </a:solidFill>
                      <a:prstDash val="solid"/>
                      <a:round/>
                      <a:headEnd type="none" w="med" len="med"/>
                      <a:tailEnd type="none" w="med" len="med"/>
                    </a:lnB>
                    <a:solidFill>
                      <a:srgbClr val="13294B"/>
                    </a:solidFill>
                  </a:tcPr>
                </a:tc>
                <a:extLst>
                  <a:ext uri="{0D108BD9-81ED-4DB2-BD59-A6C34878D82A}">
                    <a16:rowId xmlns:a16="http://schemas.microsoft.com/office/drawing/2014/main" val="10005"/>
                  </a:ext>
                </a:extLst>
              </a:tr>
            </a:tbl>
          </a:graphicData>
        </a:graphic>
      </p:graphicFrame>
      <p:sp>
        <p:nvSpPr>
          <p:cNvPr id="5" name="Shape 2"/>
          <p:cNvSpPr/>
          <p:nvPr/>
        </p:nvSpPr>
        <p:spPr>
          <a:xfrm>
            <a:off x="8577072" y="2203704"/>
            <a:ext cx="2926080" cy="310896"/>
          </a:xfrm>
          <a:prstGeom prst="roundRect">
            <a:avLst>
              <a:gd name="adj" fmla="val 17647"/>
            </a:avLst>
          </a:prstGeom>
          <a:solidFill>
            <a:srgbClr val="0F2140"/>
          </a:solidFill>
          <a:ln w="12700">
            <a:solidFill>
              <a:srgbClr val="34D399"/>
            </a:solidFill>
            <a:prstDash val="solid"/>
          </a:ln>
        </p:spPr>
      </p:sp>
      <p:sp>
        <p:nvSpPr>
          <p:cNvPr id="6" name="Text 3"/>
          <p:cNvSpPr/>
          <p:nvPr/>
        </p:nvSpPr>
        <p:spPr>
          <a:xfrm>
            <a:off x="8577072" y="2203704"/>
            <a:ext cx="2926080" cy="310896"/>
          </a:xfrm>
          <a:prstGeom prst="rect">
            <a:avLst/>
          </a:prstGeom>
          <a:noFill/>
          <a:ln/>
        </p:spPr>
        <p:txBody>
          <a:bodyPr wrap="square" lIns="0" tIns="0" rIns="0" bIns="0" rtlCol="0" anchor="ctr"/>
          <a:lstStyle/>
          <a:p>
            <a:pPr marL="0" indent="0" algn="ctr">
              <a:buNone/>
            </a:pPr>
            <a:r>
              <a:rPr lang="en-US" sz="950" b="1" dirty="0">
                <a:solidFill>
                  <a:srgbClr val="34D399"/>
                </a:solidFill>
                <a:latin typeface="Calibri" pitchFamily="34" charset="0"/>
                <a:ea typeface="Calibri" pitchFamily="34" charset="-122"/>
                <a:cs typeface="Calibri" pitchFamily="34" charset="-120"/>
              </a:rPr>
              <a:t>Encrypted</a:t>
            </a:r>
            <a:endParaRPr lang="en-US" sz="950" dirty="0"/>
          </a:p>
        </p:txBody>
      </p:sp>
      <p:sp>
        <p:nvSpPr>
          <p:cNvPr id="7" name="Shape 4"/>
          <p:cNvSpPr/>
          <p:nvPr/>
        </p:nvSpPr>
        <p:spPr>
          <a:xfrm>
            <a:off x="8577072" y="2624328"/>
            <a:ext cx="2926080" cy="310896"/>
          </a:xfrm>
          <a:prstGeom prst="roundRect">
            <a:avLst>
              <a:gd name="adj" fmla="val 17647"/>
            </a:avLst>
          </a:prstGeom>
          <a:solidFill>
            <a:srgbClr val="0F2140"/>
          </a:solidFill>
          <a:ln w="12700">
            <a:solidFill>
              <a:srgbClr val="F87171"/>
            </a:solidFill>
            <a:prstDash val="solid"/>
          </a:ln>
        </p:spPr>
      </p:sp>
      <p:sp>
        <p:nvSpPr>
          <p:cNvPr id="8" name="Text 5"/>
          <p:cNvSpPr/>
          <p:nvPr/>
        </p:nvSpPr>
        <p:spPr>
          <a:xfrm>
            <a:off x="8577072" y="2624328"/>
            <a:ext cx="2926080" cy="310896"/>
          </a:xfrm>
          <a:prstGeom prst="rect">
            <a:avLst/>
          </a:prstGeom>
          <a:noFill/>
          <a:ln/>
        </p:spPr>
        <p:txBody>
          <a:bodyPr wrap="square" lIns="0" tIns="0" rIns="0" bIns="0" rtlCol="0" anchor="ctr"/>
          <a:lstStyle/>
          <a:p>
            <a:pPr marL="0" indent="0" algn="ctr">
              <a:buNone/>
            </a:pPr>
            <a:r>
              <a:rPr lang="en-US" sz="950" b="1" dirty="0">
                <a:solidFill>
                  <a:srgbClr val="F87171"/>
                </a:solidFill>
                <a:latin typeface="Calibri" pitchFamily="34" charset="0"/>
                <a:ea typeface="Calibri" pitchFamily="34" charset="-122"/>
                <a:cs typeface="Calibri" pitchFamily="34" charset="-120"/>
              </a:rPr>
              <a:t>Plaintext</a:t>
            </a:r>
            <a:endParaRPr lang="en-US" sz="950" dirty="0"/>
          </a:p>
        </p:txBody>
      </p:sp>
      <p:sp>
        <p:nvSpPr>
          <p:cNvPr id="9" name="Shape 6"/>
          <p:cNvSpPr/>
          <p:nvPr/>
        </p:nvSpPr>
        <p:spPr>
          <a:xfrm>
            <a:off x="8577072" y="3044952"/>
            <a:ext cx="2926080" cy="310896"/>
          </a:xfrm>
          <a:prstGeom prst="roundRect">
            <a:avLst>
              <a:gd name="adj" fmla="val 17647"/>
            </a:avLst>
          </a:prstGeom>
          <a:solidFill>
            <a:srgbClr val="0F2140"/>
          </a:solidFill>
          <a:ln w="12700">
            <a:solidFill>
              <a:srgbClr val="FBBF24"/>
            </a:solidFill>
            <a:prstDash val="solid"/>
          </a:ln>
        </p:spPr>
      </p:sp>
      <p:sp>
        <p:nvSpPr>
          <p:cNvPr id="10" name="Text 7"/>
          <p:cNvSpPr/>
          <p:nvPr/>
        </p:nvSpPr>
        <p:spPr>
          <a:xfrm>
            <a:off x="8577072" y="3044952"/>
            <a:ext cx="2926080" cy="310896"/>
          </a:xfrm>
          <a:prstGeom prst="rect">
            <a:avLst/>
          </a:prstGeom>
          <a:noFill/>
          <a:ln/>
        </p:spPr>
        <p:txBody>
          <a:bodyPr wrap="square" lIns="0" tIns="0" rIns="0" bIns="0" rtlCol="0" anchor="ctr"/>
          <a:lstStyle/>
          <a:p>
            <a:pPr marL="0" indent="0" algn="ctr">
              <a:buNone/>
            </a:pPr>
            <a:r>
              <a:rPr lang="en-US" sz="950" b="1" dirty="0">
                <a:solidFill>
                  <a:srgbClr val="FBBF24"/>
                </a:solidFill>
                <a:latin typeface="Calibri" pitchFamily="34" charset="0"/>
                <a:ea typeface="Calibri" pitchFamily="34" charset="-122"/>
                <a:cs typeface="Calibri" pitchFamily="34" charset="-120"/>
              </a:rPr>
              <a:t>Encrypted (TLS optional)</a:t>
            </a:r>
            <a:endParaRPr lang="en-US" sz="950" dirty="0"/>
          </a:p>
        </p:txBody>
      </p:sp>
      <p:sp>
        <p:nvSpPr>
          <p:cNvPr id="11" name="Shape 8"/>
          <p:cNvSpPr/>
          <p:nvPr/>
        </p:nvSpPr>
        <p:spPr>
          <a:xfrm>
            <a:off x="8577072" y="3465576"/>
            <a:ext cx="2926080" cy="310896"/>
          </a:xfrm>
          <a:prstGeom prst="roundRect">
            <a:avLst>
              <a:gd name="adj" fmla="val 17647"/>
            </a:avLst>
          </a:prstGeom>
          <a:solidFill>
            <a:srgbClr val="0F2140"/>
          </a:solidFill>
          <a:ln w="12700">
            <a:solidFill>
              <a:srgbClr val="F87171"/>
            </a:solidFill>
            <a:prstDash val="solid"/>
          </a:ln>
        </p:spPr>
      </p:sp>
      <p:sp>
        <p:nvSpPr>
          <p:cNvPr id="12" name="Text 9"/>
          <p:cNvSpPr/>
          <p:nvPr/>
        </p:nvSpPr>
        <p:spPr>
          <a:xfrm>
            <a:off x="8577072" y="3465576"/>
            <a:ext cx="2926080" cy="310896"/>
          </a:xfrm>
          <a:prstGeom prst="rect">
            <a:avLst/>
          </a:prstGeom>
          <a:noFill/>
          <a:ln/>
        </p:spPr>
        <p:txBody>
          <a:bodyPr wrap="square" lIns="0" tIns="0" rIns="0" bIns="0" rtlCol="0" anchor="ctr"/>
          <a:lstStyle/>
          <a:p>
            <a:pPr marL="0" indent="0" algn="ctr">
              <a:buNone/>
            </a:pPr>
            <a:r>
              <a:rPr lang="en-US" sz="950" b="1" dirty="0">
                <a:solidFill>
                  <a:srgbClr val="F87171"/>
                </a:solidFill>
                <a:latin typeface="Calibri" pitchFamily="34" charset="0"/>
                <a:ea typeface="Calibri" pitchFamily="34" charset="-122"/>
                <a:cs typeface="Calibri" pitchFamily="34" charset="-120"/>
              </a:rPr>
              <a:t>Varies (often unencrypted)</a:t>
            </a:r>
            <a:endParaRPr lang="en-US" sz="950" dirty="0"/>
          </a:p>
        </p:txBody>
      </p:sp>
      <p:sp>
        <p:nvSpPr>
          <p:cNvPr id="13" name="Shape 10"/>
          <p:cNvSpPr/>
          <p:nvPr/>
        </p:nvSpPr>
        <p:spPr>
          <a:xfrm>
            <a:off x="8577072" y="3886200"/>
            <a:ext cx="2926080" cy="310896"/>
          </a:xfrm>
          <a:prstGeom prst="roundRect">
            <a:avLst>
              <a:gd name="adj" fmla="val 17647"/>
            </a:avLst>
          </a:prstGeom>
          <a:solidFill>
            <a:srgbClr val="0F2140"/>
          </a:solidFill>
          <a:ln w="12700">
            <a:solidFill>
              <a:srgbClr val="34D399"/>
            </a:solidFill>
            <a:prstDash val="solid"/>
          </a:ln>
        </p:spPr>
      </p:sp>
      <p:sp>
        <p:nvSpPr>
          <p:cNvPr id="14" name="Text 11"/>
          <p:cNvSpPr/>
          <p:nvPr/>
        </p:nvSpPr>
        <p:spPr>
          <a:xfrm>
            <a:off x="8577072" y="3886200"/>
            <a:ext cx="2926080" cy="310896"/>
          </a:xfrm>
          <a:prstGeom prst="rect">
            <a:avLst/>
          </a:prstGeom>
          <a:noFill/>
          <a:ln/>
        </p:spPr>
        <p:txBody>
          <a:bodyPr wrap="square" lIns="0" tIns="0" rIns="0" bIns="0" rtlCol="0" anchor="ctr"/>
          <a:lstStyle/>
          <a:p>
            <a:pPr marL="0" indent="0" algn="ctr">
              <a:buNone/>
            </a:pPr>
            <a:r>
              <a:rPr lang="en-US" sz="950" b="1" dirty="0">
                <a:solidFill>
                  <a:srgbClr val="34D399"/>
                </a:solidFill>
                <a:latin typeface="Calibri" pitchFamily="34" charset="0"/>
                <a:ea typeface="Calibri" pitchFamily="34" charset="-122"/>
                <a:cs typeface="Calibri" pitchFamily="34" charset="-120"/>
              </a:rPr>
              <a:t>Encrypted (HTTPS mode)</a:t>
            </a:r>
            <a:endParaRPr lang="en-US" sz="950" dirty="0"/>
          </a:p>
        </p:txBody>
      </p:sp>
      <p:sp>
        <p:nvSpPr>
          <p:cNvPr id="15" name="Shape 12"/>
          <p:cNvSpPr/>
          <p:nvPr/>
        </p:nvSpPr>
        <p:spPr>
          <a:xfrm>
            <a:off x="548640" y="5989320"/>
            <a:ext cx="11091672" cy="566928"/>
          </a:xfrm>
          <a:prstGeom prst="roundRect">
            <a:avLst>
              <a:gd name="adj" fmla="val 12903"/>
            </a:avLst>
          </a:prstGeom>
          <a:solidFill>
            <a:srgbClr val="0F2140"/>
          </a:solidFill>
          <a:ln w="12700">
            <a:solidFill>
              <a:srgbClr val="0891B2"/>
            </a:solidFill>
            <a:prstDash val="solid"/>
          </a:ln>
        </p:spPr>
      </p:sp>
      <p:sp>
        <p:nvSpPr>
          <p:cNvPr id="16" name="Text 13"/>
          <p:cNvSpPr/>
          <p:nvPr/>
        </p:nvSpPr>
        <p:spPr>
          <a:xfrm>
            <a:off x="777240" y="598932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Prefer SSH, RDP with NLA, or WinRM over HTTPS — avoid Telnet and unauthenticated VNC, which send credentials in plaintext.</a:t>
            </a:r>
            <a:endParaRPr lang="en-US" sz="1100" dirty="0"/>
          </a:p>
        </p:txBody>
      </p:sp>
      <p:sp>
        <p:nvSpPr>
          <p:cNvPr id="17" name="Text 1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17</a:t>
            </a:r>
            <a:endParaRPr lang="en-US" sz="1000" dirty="0"/>
          </a:p>
        </p:txBody>
      </p:sp>
      <p:sp>
        <p:nvSpPr>
          <p:cNvPr id="4" name="Text 15"/>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PRACTICAL SKILLS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Network Troubleshooting Commands</a:t>
            </a:r>
            <a:endParaRPr lang="en-US" sz="3200" dirty="0"/>
          </a:p>
        </p:txBody>
      </p:sp>
      <p:sp>
        <p:nvSpPr>
          <p:cNvPr id="4" name="Shape 2"/>
          <p:cNvSpPr/>
          <p:nvPr/>
        </p:nvSpPr>
        <p:spPr>
          <a:xfrm>
            <a:off x="548640" y="1600200"/>
            <a:ext cx="3639312" cy="1417320"/>
          </a:xfrm>
          <a:prstGeom prst="roundRect">
            <a:avLst>
              <a:gd name="adj" fmla="val 5161"/>
            </a:avLst>
          </a:prstGeom>
          <a:solidFill>
            <a:srgbClr val="13294B"/>
          </a:solidFill>
          <a:ln/>
        </p:spPr>
      </p:sp>
      <p:sp>
        <p:nvSpPr>
          <p:cNvPr id="5" name="Shape 3"/>
          <p:cNvSpPr/>
          <p:nvPr/>
        </p:nvSpPr>
        <p:spPr>
          <a:xfrm>
            <a:off x="713232" y="1746504"/>
            <a:ext cx="3310128" cy="384048"/>
          </a:xfrm>
          <a:prstGeom prst="roundRect">
            <a:avLst>
              <a:gd name="adj" fmla="val 11905"/>
            </a:avLst>
          </a:prstGeom>
          <a:solidFill>
            <a:srgbClr val="0F2140"/>
          </a:solidFill>
          <a:ln/>
        </p:spPr>
      </p:sp>
      <p:sp>
        <p:nvSpPr>
          <p:cNvPr id="6" name="Text 4"/>
          <p:cNvSpPr/>
          <p:nvPr/>
        </p:nvSpPr>
        <p:spPr>
          <a:xfrm>
            <a:off x="713232" y="174650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ping</a:t>
            </a:r>
            <a:endParaRPr lang="en-US" sz="1300" dirty="0"/>
          </a:p>
        </p:txBody>
      </p:sp>
      <p:sp>
        <p:nvSpPr>
          <p:cNvPr id="7" name="Text 5"/>
          <p:cNvSpPr/>
          <p:nvPr/>
        </p:nvSpPr>
        <p:spPr>
          <a:xfrm>
            <a:off x="731520" y="220370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Tests reachability &amp; round-trip time to a host</a:t>
            </a:r>
            <a:endParaRPr lang="en-US" sz="1000" dirty="0"/>
          </a:p>
        </p:txBody>
      </p:sp>
      <p:sp>
        <p:nvSpPr>
          <p:cNvPr id="8" name="Shape 6"/>
          <p:cNvSpPr/>
          <p:nvPr/>
        </p:nvSpPr>
        <p:spPr>
          <a:xfrm>
            <a:off x="4325112" y="1600200"/>
            <a:ext cx="3639312" cy="1417320"/>
          </a:xfrm>
          <a:prstGeom prst="roundRect">
            <a:avLst>
              <a:gd name="adj" fmla="val 5161"/>
            </a:avLst>
          </a:prstGeom>
          <a:solidFill>
            <a:srgbClr val="13294B"/>
          </a:solidFill>
          <a:ln/>
        </p:spPr>
      </p:sp>
      <p:sp>
        <p:nvSpPr>
          <p:cNvPr id="9" name="Shape 7"/>
          <p:cNvSpPr/>
          <p:nvPr/>
        </p:nvSpPr>
        <p:spPr>
          <a:xfrm>
            <a:off x="4489704" y="1746504"/>
            <a:ext cx="3310128" cy="384048"/>
          </a:xfrm>
          <a:prstGeom prst="roundRect">
            <a:avLst>
              <a:gd name="adj" fmla="val 11905"/>
            </a:avLst>
          </a:prstGeom>
          <a:solidFill>
            <a:srgbClr val="0F2140"/>
          </a:solidFill>
          <a:ln/>
        </p:spPr>
      </p:sp>
      <p:sp>
        <p:nvSpPr>
          <p:cNvPr id="10" name="Text 8"/>
          <p:cNvSpPr/>
          <p:nvPr/>
        </p:nvSpPr>
        <p:spPr>
          <a:xfrm>
            <a:off x="4489704" y="174650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ipconfig / ifconfig</a:t>
            </a:r>
            <a:endParaRPr lang="en-US" sz="1300" dirty="0"/>
          </a:p>
        </p:txBody>
      </p:sp>
      <p:sp>
        <p:nvSpPr>
          <p:cNvPr id="11" name="Text 9"/>
          <p:cNvSpPr/>
          <p:nvPr/>
        </p:nvSpPr>
        <p:spPr>
          <a:xfrm>
            <a:off x="4507992" y="220370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Shows local IP, subnet, and gateway (Win/Linux)</a:t>
            </a:r>
            <a:endParaRPr lang="en-US" sz="1000" dirty="0"/>
          </a:p>
        </p:txBody>
      </p:sp>
      <p:sp>
        <p:nvSpPr>
          <p:cNvPr id="12" name="Shape 10"/>
          <p:cNvSpPr/>
          <p:nvPr/>
        </p:nvSpPr>
        <p:spPr>
          <a:xfrm>
            <a:off x="8101584" y="1600200"/>
            <a:ext cx="3639312" cy="1417320"/>
          </a:xfrm>
          <a:prstGeom prst="roundRect">
            <a:avLst>
              <a:gd name="adj" fmla="val 5161"/>
            </a:avLst>
          </a:prstGeom>
          <a:solidFill>
            <a:srgbClr val="13294B"/>
          </a:solidFill>
          <a:ln/>
        </p:spPr>
      </p:sp>
      <p:sp>
        <p:nvSpPr>
          <p:cNvPr id="13" name="Shape 11"/>
          <p:cNvSpPr/>
          <p:nvPr/>
        </p:nvSpPr>
        <p:spPr>
          <a:xfrm>
            <a:off x="8266176" y="1746504"/>
            <a:ext cx="3310128" cy="384048"/>
          </a:xfrm>
          <a:prstGeom prst="roundRect">
            <a:avLst>
              <a:gd name="adj" fmla="val 11905"/>
            </a:avLst>
          </a:prstGeom>
          <a:solidFill>
            <a:srgbClr val="0F2140"/>
          </a:solidFill>
          <a:ln/>
        </p:spPr>
      </p:sp>
      <p:sp>
        <p:nvSpPr>
          <p:cNvPr id="14" name="Text 12"/>
          <p:cNvSpPr/>
          <p:nvPr/>
        </p:nvSpPr>
        <p:spPr>
          <a:xfrm>
            <a:off x="8266176" y="174650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tracert / traceroute</a:t>
            </a:r>
            <a:endParaRPr lang="en-US" sz="1300" dirty="0"/>
          </a:p>
        </p:txBody>
      </p:sp>
      <p:sp>
        <p:nvSpPr>
          <p:cNvPr id="15" name="Text 13"/>
          <p:cNvSpPr/>
          <p:nvPr/>
        </p:nvSpPr>
        <p:spPr>
          <a:xfrm>
            <a:off x="8284464" y="220370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Shows the path (hops) packets take to a destination</a:t>
            </a:r>
            <a:endParaRPr lang="en-US" sz="1000" dirty="0"/>
          </a:p>
        </p:txBody>
      </p:sp>
      <p:sp>
        <p:nvSpPr>
          <p:cNvPr id="16" name="Shape 14"/>
          <p:cNvSpPr/>
          <p:nvPr/>
        </p:nvSpPr>
        <p:spPr>
          <a:xfrm>
            <a:off x="548640" y="3154680"/>
            <a:ext cx="3639312" cy="1417320"/>
          </a:xfrm>
          <a:prstGeom prst="roundRect">
            <a:avLst>
              <a:gd name="adj" fmla="val 5161"/>
            </a:avLst>
          </a:prstGeom>
          <a:solidFill>
            <a:srgbClr val="13294B"/>
          </a:solidFill>
          <a:ln/>
        </p:spPr>
      </p:sp>
      <p:sp>
        <p:nvSpPr>
          <p:cNvPr id="17" name="Shape 15"/>
          <p:cNvSpPr/>
          <p:nvPr/>
        </p:nvSpPr>
        <p:spPr>
          <a:xfrm>
            <a:off x="713232" y="3300984"/>
            <a:ext cx="3310128" cy="384048"/>
          </a:xfrm>
          <a:prstGeom prst="roundRect">
            <a:avLst>
              <a:gd name="adj" fmla="val 11905"/>
            </a:avLst>
          </a:prstGeom>
          <a:solidFill>
            <a:srgbClr val="0F2140"/>
          </a:solidFill>
          <a:ln/>
        </p:spPr>
      </p:sp>
      <p:sp>
        <p:nvSpPr>
          <p:cNvPr id="18" name="Text 16"/>
          <p:cNvSpPr/>
          <p:nvPr/>
        </p:nvSpPr>
        <p:spPr>
          <a:xfrm>
            <a:off x="713232" y="330098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netstat</a:t>
            </a:r>
            <a:endParaRPr lang="en-US" sz="1300" dirty="0"/>
          </a:p>
        </p:txBody>
      </p:sp>
      <p:sp>
        <p:nvSpPr>
          <p:cNvPr id="19" name="Text 17"/>
          <p:cNvSpPr/>
          <p:nvPr/>
        </p:nvSpPr>
        <p:spPr>
          <a:xfrm>
            <a:off x="731520" y="375818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Lists active connections &amp; listening ports</a:t>
            </a:r>
            <a:endParaRPr lang="en-US" sz="1000" dirty="0"/>
          </a:p>
        </p:txBody>
      </p:sp>
      <p:sp>
        <p:nvSpPr>
          <p:cNvPr id="20" name="Shape 18"/>
          <p:cNvSpPr/>
          <p:nvPr/>
        </p:nvSpPr>
        <p:spPr>
          <a:xfrm>
            <a:off x="4325112" y="3154680"/>
            <a:ext cx="3639312" cy="1417320"/>
          </a:xfrm>
          <a:prstGeom prst="roundRect">
            <a:avLst>
              <a:gd name="adj" fmla="val 5161"/>
            </a:avLst>
          </a:prstGeom>
          <a:solidFill>
            <a:srgbClr val="13294B"/>
          </a:solidFill>
          <a:ln/>
        </p:spPr>
      </p:sp>
      <p:sp>
        <p:nvSpPr>
          <p:cNvPr id="21" name="Shape 19"/>
          <p:cNvSpPr/>
          <p:nvPr/>
        </p:nvSpPr>
        <p:spPr>
          <a:xfrm>
            <a:off x="4489704" y="3300984"/>
            <a:ext cx="3310128" cy="384048"/>
          </a:xfrm>
          <a:prstGeom prst="roundRect">
            <a:avLst>
              <a:gd name="adj" fmla="val 11905"/>
            </a:avLst>
          </a:prstGeom>
          <a:solidFill>
            <a:srgbClr val="0F2140"/>
          </a:solidFill>
          <a:ln/>
        </p:spPr>
      </p:sp>
      <p:sp>
        <p:nvSpPr>
          <p:cNvPr id="22" name="Text 20"/>
          <p:cNvSpPr/>
          <p:nvPr/>
        </p:nvSpPr>
        <p:spPr>
          <a:xfrm>
            <a:off x="4489704" y="330098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arp</a:t>
            </a:r>
            <a:endParaRPr lang="en-US" sz="1300" dirty="0"/>
          </a:p>
        </p:txBody>
      </p:sp>
      <p:sp>
        <p:nvSpPr>
          <p:cNvPr id="23" name="Text 21"/>
          <p:cNvSpPr/>
          <p:nvPr/>
        </p:nvSpPr>
        <p:spPr>
          <a:xfrm>
            <a:off x="4507992" y="375818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Displays the local IP-to-MAC address cache</a:t>
            </a:r>
            <a:endParaRPr lang="en-US" sz="1000" dirty="0"/>
          </a:p>
        </p:txBody>
      </p:sp>
      <p:sp>
        <p:nvSpPr>
          <p:cNvPr id="24" name="Shape 22"/>
          <p:cNvSpPr/>
          <p:nvPr/>
        </p:nvSpPr>
        <p:spPr>
          <a:xfrm>
            <a:off x="8101584" y="3154680"/>
            <a:ext cx="3639312" cy="1417320"/>
          </a:xfrm>
          <a:prstGeom prst="roundRect">
            <a:avLst>
              <a:gd name="adj" fmla="val 5161"/>
            </a:avLst>
          </a:prstGeom>
          <a:solidFill>
            <a:srgbClr val="13294B"/>
          </a:solidFill>
          <a:ln/>
        </p:spPr>
      </p:sp>
      <p:sp>
        <p:nvSpPr>
          <p:cNvPr id="25" name="Shape 23"/>
          <p:cNvSpPr/>
          <p:nvPr/>
        </p:nvSpPr>
        <p:spPr>
          <a:xfrm>
            <a:off x="8266176" y="3300984"/>
            <a:ext cx="3310128" cy="384048"/>
          </a:xfrm>
          <a:prstGeom prst="roundRect">
            <a:avLst>
              <a:gd name="adj" fmla="val 11905"/>
            </a:avLst>
          </a:prstGeom>
          <a:solidFill>
            <a:srgbClr val="0F2140"/>
          </a:solidFill>
          <a:ln/>
        </p:spPr>
      </p:sp>
      <p:sp>
        <p:nvSpPr>
          <p:cNvPr id="26" name="Text 24"/>
          <p:cNvSpPr/>
          <p:nvPr/>
        </p:nvSpPr>
        <p:spPr>
          <a:xfrm>
            <a:off x="8266176" y="330098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route</a:t>
            </a:r>
            <a:endParaRPr lang="en-US" sz="1300" dirty="0"/>
          </a:p>
        </p:txBody>
      </p:sp>
      <p:sp>
        <p:nvSpPr>
          <p:cNvPr id="27" name="Text 25"/>
          <p:cNvSpPr/>
          <p:nvPr/>
        </p:nvSpPr>
        <p:spPr>
          <a:xfrm>
            <a:off x="8284464" y="375818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Views/edits the local routing table</a:t>
            </a:r>
            <a:endParaRPr lang="en-US" sz="1000" dirty="0"/>
          </a:p>
        </p:txBody>
      </p:sp>
      <p:sp>
        <p:nvSpPr>
          <p:cNvPr id="28" name="Shape 26"/>
          <p:cNvSpPr/>
          <p:nvPr/>
        </p:nvSpPr>
        <p:spPr>
          <a:xfrm>
            <a:off x="548640" y="4709160"/>
            <a:ext cx="3639312" cy="1417320"/>
          </a:xfrm>
          <a:prstGeom prst="roundRect">
            <a:avLst>
              <a:gd name="adj" fmla="val 5161"/>
            </a:avLst>
          </a:prstGeom>
          <a:solidFill>
            <a:srgbClr val="13294B"/>
          </a:solidFill>
          <a:ln/>
        </p:spPr>
      </p:sp>
      <p:sp>
        <p:nvSpPr>
          <p:cNvPr id="29" name="Shape 27"/>
          <p:cNvSpPr/>
          <p:nvPr/>
        </p:nvSpPr>
        <p:spPr>
          <a:xfrm>
            <a:off x="713232" y="4855464"/>
            <a:ext cx="3310128" cy="384048"/>
          </a:xfrm>
          <a:prstGeom prst="roundRect">
            <a:avLst>
              <a:gd name="adj" fmla="val 11905"/>
            </a:avLst>
          </a:prstGeom>
          <a:solidFill>
            <a:srgbClr val="0F2140"/>
          </a:solidFill>
          <a:ln/>
        </p:spPr>
      </p:sp>
      <p:sp>
        <p:nvSpPr>
          <p:cNvPr id="30" name="Text 28"/>
          <p:cNvSpPr/>
          <p:nvPr/>
        </p:nvSpPr>
        <p:spPr>
          <a:xfrm>
            <a:off x="713232" y="485546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nslookup / dig</a:t>
            </a:r>
            <a:endParaRPr lang="en-US" sz="1300" dirty="0"/>
          </a:p>
        </p:txBody>
      </p:sp>
      <p:sp>
        <p:nvSpPr>
          <p:cNvPr id="31" name="Text 29"/>
          <p:cNvSpPr/>
          <p:nvPr/>
        </p:nvSpPr>
        <p:spPr>
          <a:xfrm>
            <a:off x="731520" y="531266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Queries DNS to resolve a domain to an IP</a:t>
            </a:r>
            <a:endParaRPr lang="en-US" sz="1000" dirty="0"/>
          </a:p>
        </p:txBody>
      </p:sp>
      <p:sp>
        <p:nvSpPr>
          <p:cNvPr id="32" name="Shape 30"/>
          <p:cNvSpPr/>
          <p:nvPr/>
        </p:nvSpPr>
        <p:spPr>
          <a:xfrm>
            <a:off x="4325112" y="4709160"/>
            <a:ext cx="3639312" cy="1417320"/>
          </a:xfrm>
          <a:prstGeom prst="roundRect">
            <a:avLst>
              <a:gd name="adj" fmla="val 5161"/>
            </a:avLst>
          </a:prstGeom>
          <a:solidFill>
            <a:srgbClr val="13294B"/>
          </a:solidFill>
          <a:ln/>
        </p:spPr>
      </p:sp>
      <p:sp>
        <p:nvSpPr>
          <p:cNvPr id="33" name="Shape 31"/>
          <p:cNvSpPr/>
          <p:nvPr/>
        </p:nvSpPr>
        <p:spPr>
          <a:xfrm>
            <a:off x="4489704" y="4855464"/>
            <a:ext cx="3310128" cy="384048"/>
          </a:xfrm>
          <a:prstGeom prst="roundRect">
            <a:avLst>
              <a:gd name="adj" fmla="val 11905"/>
            </a:avLst>
          </a:prstGeom>
          <a:solidFill>
            <a:srgbClr val="0F2140"/>
          </a:solidFill>
          <a:ln/>
        </p:spPr>
      </p:sp>
      <p:sp>
        <p:nvSpPr>
          <p:cNvPr id="34" name="Text 32"/>
          <p:cNvSpPr/>
          <p:nvPr/>
        </p:nvSpPr>
        <p:spPr>
          <a:xfrm>
            <a:off x="4489704" y="485546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hostname</a:t>
            </a:r>
            <a:endParaRPr lang="en-US" sz="1300" dirty="0"/>
          </a:p>
        </p:txBody>
      </p:sp>
      <p:sp>
        <p:nvSpPr>
          <p:cNvPr id="35" name="Text 33"/>
          <p:cNvSpPr/>
          <p:nvPr/>
        </p:nvSpPr>
        <p:spPr>
          <a:xfrm>
            <a:off x="4507992" y="531266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Displays the device's network host name</a:t>
            </a:r>
            <a:endParaRPr lang="en-US" sz="1000" dirty="0"/>
          </a:p>
        </p:txBody>
      </p:sp>
      <p:sp>
        <p:nvSpPr>
          <p:cNvPr id="36" name="Shape 34"/>
          <p:cNvSpPr/>
          <p:nvPr/>
        </p:nvSpPr>
        <p:spPr>
          <a:xfrm>
            <a:off x="8101584" y="4709160"/>
            <a:ext cx="3639312" cy="1417320"/>
          </a:xfrm>
          <a:prstGeom prst="roundRect">
            <a:avLst>
              <a:gd name="adj" fmla="val 5161"/>
            </a:avLst>
          </a:prstGeom>
          <a:solidFill>
            <a:srgbClr val="13294B"/>
          </a:solidFill>
          <a:ln/>
        </p:spPr>
      </p:sp>
      <p:sp>
        <p:nvSpPr>
          <p:cNvPr id="37" name="Shape 35"/>
          <p:cNvSpPr/>
          <p:nvPr/>
        </p:nvSpPr>
        <p:spPr>
          <a:xfrm>
            <a:off x="8266176" y="4855464"/>
            <a:ext cx="3310128" cy="384048"/>
          </a:xfrm>
          <a:prstGeom prst="roundRect">
            <a:avLst>
              <a:gd name="adj" fmla="val 11905"/>
            </a:avLst>
          </a:prstGeom>
          <a:solidFill>
            <a:srgbClr val="0F2140"/>
          </a:solidFill>
          <a:ln/>
        </p:spPr>
      </p:sp>
      <p:sp>
        <p:nvSpPr>
          <p:cNvPr id="38" name="Text 36"/>
          <p:cNvSpPr/>
          <p:nvPr/>
        </p:nvSpPr>
        <p:spPr>
          <a:xfrm>
            <a:off x="8266176" y="4855464"/>
            <a:ext cx="331012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Courier New" pitchFamily="34" charset="0"/>
                <a:ea typeface="Courier New" pitchFamily="34" charset="-122"/>
                <a:cs typeface="Courier New" pitchFamily="34" charset="-120"/>
              </a:rPr>
              <a:t>curl</a:t>
            </a:r>
            <a:endParaRPr lang="en-US" sz="1300" dirty="0"/>
          </a:p>
        </p:txBody>
      </p:sp>
      <p:sp>
        <p:nvSpPr>
          <p:cNvPr id="39" name="Text 37"/>
          <p:cNvSpPr/>
          <p:nvPr/>
        </p:nvSpPr>
        <p:spPr>
          <a:xfrm>
            <a:off x="8284464" y="5312664"/>
            <a:ext cx="3273552" cy="731520"/>
          </a:xfrm>
          <a:prstGeom prst="rect">
            <a:avLst/>
          </a:prstGeom>
          <a:noFill/>
          <a:ln/>
        </p:spPr>
        <p:txBody>
          <a:bodyPr wrap="square" lIns="0" tIns="0" rIns="0" bIns="0" rtlCol="0" anchor="t"/>
          <a:lstStyle/>
          <a:p>
            <a:pPr marL="0" indent="0">
              <a:buNone/>
            </a:pPr>
            <a:r>
              <a:rPr lang="en-US" sz="1000" dirty="0">
                <a:solidFill>
                  <a:srgbClr val="AEC3DD"/>
                </a:solidFill>
                <a:latin typeface="Calibri" pitchFamily="34" charset="0"/>
                <a:ea typeface="Calibri" pitchFamily="34" charset="-122"/>
                <a:cs typeface="Calibri" pitchFamily="34" charset="-120"/>
              </a:rPr>
              <a:t>Sends HTTP requests directly from the command line</a:t>
            </a:r>
            <a:endParaRPr lang="en-US" sz="1000" dirty="0"/>
          </a:p>
        </p:txBody>
      </p:sp>
      <p:sp>
        <p:nvSpPr>
          <p:cNvPr id="40" name="Text 3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18</a:t>
            </a:r>
            <a:endParaRPr lang="en-US" sz="1000" dirty="0"/>
          </a:p>
        </p:txBody>
      </p:sp>
      <p:sp>
        <p:nvSpPr>
          <p:cNvPr id="41" name="Text 39"/>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PRACTICAL SKILLS</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Real-World Office Network Architecture</a:t>
            </a:r>
            <a:endParaRPr lang="en-US" sz="3200" dirty="0"/>
          </a:p>
        </p:txBody>
      </p:sp>
      <p:sp>
        <p:nvSpPr>
          <p:cNvPr id="4" name="Shape 2"/>
          <p:cNvSpPr/>
          <p:nvPr/>
        </p:nvSpPr>
        <p:spPr>
          <a:xfrm>
            <a:off x="667512" y="1691640"/>
            <a:ext cx="1965960" cy="566928"/>
          </a:xfrm>
          <a:prstGeom prst="roundRect">
            <a:avLst>
              <a:gd name="adj" fmla="val 11290"/>
            </a:avLst>
          </a:prstGeom>
          <a:solidFill>
            <a:srgbClr val="0891B2"/>
          </a:solidFill>
          <a:ln w="12700">
            <a:solidFill>
              <a:srgbClr val="22D3EE"/>
            </a:solidFill>
            <a:prstDash val="solid"/>
          </a:ln>
        </p:spPr>
      </p:sp>
      <p:sp>
        <p:nvSpPr>
          <p:cNvPr id="5" name="Text 3"/>
          <p:cNvSpPr/>
          <p:nvPr/>
        </p:nvSpPr>
        <p:spPr>
          <a:xfrm>
            <a:off x="667512" y="1691640"/>
            <a:ext cx="196596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Internet</a:t>
            </a:r>
            <a:endParaRPr lang="en-US" sz="1250" dirty="0"/>
          </a:p>
        </p:txBody>
      </p:sp>
      <p:sp>
        <p:nvSpPr>
          <p:cNvPr id="6" name="Shape 4"/>
          <p:cNvSpPr/>
          <p:nvPr/>
        </p:nvSpPr>
        <p:spPr>
          <a:xfrm>
            <a:off x="2633472" y="1975104"/>
            <a:ext cx="256032" cy="0"/>
          </a:xfrm>
          <a:prstGeom prst="line">
            <a:avLst/>
          </a:prstGeom>
          <a:noFill/>
          <a:ln w="25400">
            <a:solidFill>
              <a:srgbClr val="22D3EE"/>
            </a:solidFill>
            <a:prstDash val="solid"/>
            <a:tailEnd type="triangle"/>
          </a:ln>
        </p:spPr>
      </p:sp>
      <p:sp>
        <p:nvSpPr>
          <p:cNvPr id="7" name="Shape 5"/>
          <p:cNvSpPr/>
          <p:nvPr/>
        </p:nvSpPr>
        <p:spPr>
          <a:xfrm>
            <a:off x="2889504" y="1691640"/>
            <a:ext cx="1965960" cy="566928"/>
          </a:xfrm>
          <a:prstGeom prst="roundRect">
            <a:avLst>
              <a:gd name="adj" fmla="val 11290"/>
            </a:avLst>
          </a:prstGeom>
          <a:solidFill>
            <a:srgbClr val="13294B"/>
          </a:solidFill>
          <a:ln w="19050">
            <a:solidFill>
              <a:srgbClr val="22D3EE"/>
            </a:solidFill>
            <a:prstDash val="solid"/>
          </a:ln>
        </p:spPr>
      </p:sp>
      <p:sp>
        <p:nvSpPr>
          <p:cNvPr id="8" name="Text 6"/>
          <p:cNvSpPr/>
          <p:nvPr/>
        </p:nvSpPr>
        <p:spPr>
          <a:xfrm>
            <a:off x="2889504" y="1691640"/>
            <a:ext cx="196596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Firewall</a:t>
            </a:r>
            <a:endParaRPr lang="en-US" sz="1250" dirty="0"/>
          </a:p>
        </p:txBody>
      </p:sp>
      <p:sp>
        <p:nvSpPr>
          <p:cNvPr id="9" name="Shape 7"/>
          <p:cNvSpPr/>
          <p:nvPr/>
        </p:nvSpPr>
        <p:spPr>
          <a:xfrm>
            <a:off x="4855464" y="1975104"/>
            <a:ext cx="256032" cy="0"/>
          </a:xfrm>
          <a:prstGeom prst="line">
            <a:avLst/>
          </a:prstGeom>
          <a:noFill/>
          <a:ln w="25400">
            <a:solidFill>
              <a:srgbClr val="22D3EE"/>
            </a:solidFill>
            <a:prstDash val="solid"/>
            <a:tailEnd type="triangle"/>
          </a:ln>
        </p:spPr>
      </p:sp>
      <p:sp>
        <p:nvSpPr>
          <p:cNvPr id="10" name="Shape 8"/>
          <p:cNvSpPr/>
          <p:nvPr/>
        </p:nvSpPr>
        <p:spPr>
          <a:xfrm>
            <a:off x="5111496" y="1691640"/>
            <a:ext cx="1965960" cy="566928"/>
          </a:xfrm>
          <a:prstGeom prst="roundRect">
            <a:avLst>
              <a:gd name="adj" fmla="val 11290"/>
            </a:avLst>
          </a:prstGeom>
          <a:solidFill>
            <a:srgbClr val="13294B"/>
          </a:solidFill>
          <a:ln w="12700">
            <a:solidFill>
              <a:srgbClr val="22D3EE"/>
            </a:solidFill>
            <a:prstDash val="solid"/>
          </a:ln>
        </p:spPr>
      </p:sp>
      <p:sp>
        <p:nvSpPr>
          <p:cNvPr id="11" name="Text 9"/>
          <p:cNvSpPr/>
          <p:nvPr/>
        </p:nvSpPr>
        <p:spPr>
          <a:xfrm>
            <a:off x="5111496" y="1691640"/>
            <a:ext cx="196596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Router</a:t>
            </a:r>
            <a:endParaRPr lang="en-US" sz="1250" dirty="0"/>
          </a:p>
        </p:txBody>
      </p:sp>
      <p:sp>
        <p:nvSpPr>
          <p:cNvPr id="12" name="Shape 10"/>
          <p:cNvSpPr/>
          <p:nvPr/>
        </p:nvSpPr>
        <p:spPr>
          <a:xfrm>
            <a:off x="7077456" y="1975104"/>
            <a:ext cx="256032" cy="0"/>
          </a:xfrm>
          <a:prstGeom prst="line">
            <a:avLst/>
          </a:prstGeom>
          <a:noFill/>
          <a:ln w="25400">
            <a:solidFill>
              <a:srgbClr val="22D3EE"/>
            </a:solidFill>
            <a:prstDash val="solid"/>
            <a:tailEnd type="triangle"/>
          </a:ln>
        </p:spPr>
      </p:sp>
      <p:sp>
        <p:nvSpPr>
          <p:cNvPr id="13" name="Shape 11"/>
          <p:cNvSpPr/>
          <p:nvPr/>
        </p:nvSpPr>
        <p:spPr>
          <a:xfrm>
            <a:off x="7333488" y="1691640"/>
            <a:ext cx="1965960" cy="566928"/>
          </a:xfrm>
          <a:prstGeom prst="roundRect">
            <a:avLst>
              <a:gd name="adj" fmla="val 11290"/>
            </a:avLst>
          </a:prstGeom>
          <a:solidFill>
            <a:srgbClr val="13294B"/>
          </a:solidFill>
          <a:ln w="12700">
            <a:solidFill>
              <a:srgbClr val="22D3EE"/>
            </a:solidFill>
            <a:prstDash val="solid"/>
          </a:ln>
        </p:spPr>
      </p:sp>
      <p:sp>
        <p:nvSpPr>
          <p:cNvPr id="14" name="Text 12"/>
          <p:cNvSpPr/>
          <p:nvPr/>
        </p:nvSpPr>
        <p:spPr>
          <a:xfrm>
            <a:off x="7333488" y="1691640"/>
            <a:ext cx="196596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Core Switch</a:t>
            </a:r>
            <a:endParaRPr lang="en-US" sz="1250" dirty="0"/>
          </a:p>
        </p:txBody>
      </p:sp>
      <p:sp>
        <p:nvSpPr>
          <p:cNvPr id="15" name="Shape 13"/>
          <p:cNvSpPr/>
          <p:nvPr/>
        </p:nvSpPr>
        <p:spPr>
          <a:xfrm>
            <a:off x="9299448" y="1975104"/>
            <a:ext cx="256032" cy="0"/>
          </a:xfrm>
          <a:prstGeom prst="line">
            <a:avLst/>
          </a:prstGeom>
          <a:noFill/>
          <a:ln w="25400">
            <a:solidFill>
              <a:srgbClr val="22D3EE"/>
            </a:solidFill>
            <a:prstDash val="solid"/>
            <a:tailEnd type="triangle"/>
          </a:ln>
        </p:spPr>
      </p:sp>
      <p:sp>
        <p:nvSpPr>
          <p:cNvPr id="16" name="Shape 14"/>
          <p:cNvSpPr/>
          <p:nvPr/>
        </p:nvSpPr>
        <p:spPr>
          <a:xfrm>
            <a:off x="9555480" y="1691640"/>
            <a:ext cx="1965960" cy="566928"/>
          </a:xfrm>
          <a:prstGeom prst="roundRect">
            <a:avLst>
              <a:gd name="adj" fmla="val 11290"/>
            </a:avLst>
          </a:prstGeom>
          <a:solidFill>
            <a:srgbClr val="13294B"/>
          </a:solidFill>
          <a:ln w="12700">
            <a:solidFill>
              <a:srgbClr val="22D3EE"/>
            </a:solidFill>
            <a:prstDash val="solid"/>
          </a:ln>
        </p:spPr>
      </p:sp>
      <p:sp>
        <p:nvSpPr>
          <p:cNvPr id="17" name="Text 15"/>
          <p:cNvSpPr/>
          <p:nvPr/>
        </p:nvSpPr>
        <p:spPr>
          <a:xfrm>
            <a:off x="9555480" y="1691640"/>
            <a:ext cx="1965960"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Access Switch</a:t>
            </a:r>
            <a:endParaRPr lang="en-US" sz="1250" dirty="0"/>
          </a:p>
        </p:txBody>
      </p:sp>
      <p:sp>
        <p:nvSpPr>
          <p:cNvPr id="18" name="Shape 16"/>
          <p:cNvSpPr/>
          <p:nvPr/>
        </p:nvSpPr>
        <p:spPr>
          <a:xfrm>
            <a:off x="10538460" y="2258568"/>
            <a:ext cx="0" cy="457200"/>
          </a:xfrm>
          <a:prstGeom prst="line">
            <a:avLst/>
          </a:prstGeom>
          <a:noFill/>
          <a:ln w="19050">
            <a:solidFill>
              <a:srgbClr val="0891B2"/>
            </a:solidFill>
            <a:prstDash val="solid"/>
          </a:ln>
        </p:spPr>
      </p:sp>
      <p:sp>
        <p:nvSpPr>
          <p:cNvPr id="19" name="Shape 17"/>
          <p:cNvSpPr/>
          <p:nvPr/>
        </p:nvSpPr>
        <p:spPr>
          <a:xfrm>
            <a:off x="1911096" y="2715768"/>
            <a:ext cx="8366760" cy="0"/>
          </a:xfrm>
          <a:prstGeom prst="line">
            <a:avLst/>
          </a:prstGeom>
          <a:noFill/>
          <a:ln w="19050">
            <a:solidFill>
              <a:srgbClr val="0891B2"/>
            </a:solidFill>
            <a:prstDash val="solid"/>
          </a:ln>
        </p:spPr>
      </p:sp>
      <p:sp>
        <p:nvSpPr>
          <p:cNvPr id="20" name="Shape 18"/>
          <p:cNvSpPr/>
          <p:nvPr/>
        </p:nvSpPr>
        <p:spPr>
          <a:xfrm>
            <a:off x="1911096" y="2715768"/>
            <a:ext cx="0" cy="320040"/>
          </a:xfrm>
          <a:prstGeom prst="line">
            <a:avLst/>
          </a:prstGeom>
          <a:noFill/>
          <a:ln w="19050">
            <a:solidFill>
              <a:srgbClr val="0891B2"/>
            </a:solidFill>
            <a:prstDash val="solid"/>
          </a:ln>
        </p:spPr>
      </p:sp>
      <p:sp>
        <p:nvSpPr>
          <p:cNvPr id="21" name="Shape 19"/>
          <p:cNvSpPr/>
          <p:nvPr/>
        </p:nvSpPr>
        <p:spPr>
          <a:xfrm>
            <a:off x="676656" y="3035808"/>
            <a:ext cx="2468880" cy="868680"/>
          </a:xfrm>
          <a:prstGeom prst="roundRect">
            <a:avLst>
              <a:gd name="adj" fmla="val 7368"/>
            </a:avLst>
          </a:prstGeom>
          <a:solidFill>
            <a:srgbClr val="13294B"/>
          </a:solidFill>
          <a:ln/>
        </p:spPr>
      </p:sp>
      <p:sp>
        <p:nvSpPr>
          <p:cNvPr id="22" name="Text 20"/>
          <p:cNvSpPr/>
          <p:nvPr/>
        </p:nvSpPr>
        <p:spPr>
          <a:xfrm>
            <a:off x="676656" y="3108960"/>
            <a:ext cx="2468880" cy="292608"/>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Servers</a:t>
            </a:r>
            <a:endParaRPr lang="en-US" sz="1200" dirty="0"/>
          </a:p>
        </p:txBody>
      </p:sp>
      <p:sp>
        <p:nvSpPr>
          <p:cNvPr id="23" name="Text 21"/>
          <p:cNvSpPr/>
          <p:nvPr/>
        </p:nvSpPr>
        <p:spPr>
          <a:xfrm>
            <a:off x="768096" y="3401568"/>
            <a:ext cx="2286000" cy="457200"/>
          </a:xfrm>
          <a:prstGeom prst="rect">
            <a:avLst/>
          </a:prstGeom>
          <a:noFill/>
          <a:ln/>
        </p:spPr>
        <p:txBody>
          <a:bodyPr wrap="square" lIns="0" tIns="0" rIns="0" bIns="0" rtlCol="0" anchor="ctr"/>
          <a:lstStyle/>
          <a:p>
            <a:pPr marL="0" indent="0" algn="ctr">
              <a:buNone/>
            </a:pPr>
            <a:r>
              <a:rPr lang="en-US" sz="950" dirty="0">
                <a:solidFill>
                  <a:srgbClr val="AEC3DD"/>
                </a:solidFill>
                <a:latin typeface="Calibri" pitchFamily="34" charset="0"/>
                <a:ea typeface="Calibri" pitchFamily="34" charset="-122"/>
                <a:cs typeface="Calibri" pitchFamily="34" charset="-120"/>
              </a:rPr>
              <a:t>Data &amp; app hosting</a:t>
            </a:r>
            <a:endParaRPr lang="en-US" sz="950" dirty="0"/>
          </a:p>
        </p:txBody>
      </p:sp>
      <p:sp>
        <p:nvSpPr>
          <p:cNvPr id="24" name="Shape 22"/>
          <p:cNvSpPr/>
          <p:nvPr/>
        </p:nvSpPr>
        <p:spPr>
          <a:xfrm>
            <a:off x="4700016" y="2715768"/>
            <a:ext cx="0" cy="320040"/>
          </a:xfrm>
          <a:prstGeom prst="line">
            <a:avLst/>
          </a:prstGeom>
          <a:noFill/>
          <a:ln w="19050">
            <a:solidFill>
              <a:srgbClr val="0891B2"/>
            </a:solidFill>
            <a:prstDash val="solid"/>
          </a:ln>
        </p:spPr>
      </p:sp>
      <p:sp>
        <p:nvSpPr>
          <p:cNvPr id="25" name="Shape 23"/>
          <p:cNvSpPr/>
          <p:nvPr/>
        </p:nvSpPr>
        <p:spPr>
          <a:xfrm>
            <a:off x="3465576" y="3035808"/>
            <a:ext cx="2468880" cy="868680"/>
          </a:xfrm>
          <a:prstGeom prst="roundRect">
            <a:avLst>
              <a:gd name="adj" fmla="val 7368"/>
            </a:avLst>
          </a:prstGeom>
          <a:solidFill>
            <a:srgbClr val="13294B"/>
          </a:solidFill>
          <a:ln/>
        </p:spPr>
      </p:sp>
      <p:sp>
        <p:nvSpPr>
          <p:cNvPr id="26" name="Text 24"/>
          <p:cNvSpPr/>
          <p:nvPr/>
        </p:nvSpPr>
        <p:spPr>
          <a:xfrm>
            <a:off x="3465576" y="3108960"/>
            <a:ext cx="2468880" cy="292608"/>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PCs</a:t>
            </a:r>
            <a:endParaRPr lang="en-US" sz="1200" dirty="0"/>
          </a:p>
        </p:txBody>
      </p:sp>
      <p:sp>
        <p:nvSpPr>
          <p:cNvPr id="27" name="Text 25"/>
          <p:cNvSpPr/>
          <p:nvPr/>
        </p:nvSpPr>
        <p:spPr>
          <a:xfrm>
            <a:off x="3557016" y="3401568"/>
            <a:ext cx="2286000" cy="457200"/>
          </a:xfrm>
          <a:prstGeom prst="rect">
            <a:avLst/>
          </a:prstGeom>
          <a:noFill/>
          <a:ln/>
        </p:spPr>
        <p:txBody>
          <a:bodyPr wrap="square" lIns="0" tIns="0" rIns="0" bIns="0" rtlCol="0" anchor="ctr"/>
          <a:lstStyle/>
          <a:p>
            <a:pPr marL="0" indent="0" algn="ctr">
              <a:buNone/>
            </a:pPr>
            <a:r>
              <a:rPr lang="en-US" sz="950" dirty="0">
                <a:solidFill>
                  <a:srgbClr val="AEC3DD"/>
                </a:solidFill>
                <a:latin typeface="Calibri" pitchFamily="34" charset="0"/>
                <a:ea typeface="Calibri" pitchFamily="34" charset="-122"/>
                <a:cs typeface="Calibri" pitchFamily="34" charset="-120"/>
              </a:rPr>
              <a:t>Wired workstations</a:t>
            </a:r>
            <a:endParaRPr lang="en-US" sz="950" dirty="0"/>
          </a:p>
        </p:txBody>
      </p:sp>
      <p:sp>
        <p:nvSpPr>
          <p:cNvPr id="28" name="Shape 26"/>
          <p:cNvSpPr/>
          <p:nvPr/>
        </p:nvSpPr>
        <p:spPr>
          <a:xfrm>
            <a:off x="7488936" y="2715768"/>
            <a:ext cx="0" cy="320040"/>
          </a:xfrm>
          <a:prstGeom prst="line">
            <a:avLst/>
          </a:prstGeom>
          <a:noFill/>
          <a:ln w="19050">
            <a:solidFill>
              <a:srgbClr val="0891B2"/>
            </a:solidFill>
            <a:prstDash val="solid"/>
          </a:ln>
        </p:spPr>
      </p:sp>
      <p:sp>
        <p:nvSpPr>
          <p:cNvPr id="29" name="Shape 27"/>
          <p:cNvSpPr/>
          <p:nvPr/>
        </p:nvSpPr>
        <p:spPr>
          <a:xfrm>
            <a:off x="6254496" y="3035808"/>
            <a:ext cx="2468880" cy="868680"/>
          </a:xfrm>
          <a:prstGeom prst="roundRect">
            <a:avLst>
              <a:gd name="adj" fmla="val 7368"/>
            </a:avLst>
          </a:prstGeom>
          <a:solidFill>
            <a:srgbClr val="13294B"/>
          </a:solidFill>
          <a:ln/>
        </p:spPr>
      </p:sp>
      <p:sp>
        <p:nvSpPr>
          <p:cNvPr id="30" name="Text 28"/>
          <p:cNvSpPr/>
          <p:nvPr/>
        </p:nvSpPr>
        <p:spPr>
          <a:xfrm>
            <a:off x="6254496" y="3108960"/>
            <a:ext cx="2468880" cy="292608"/>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WiFi AP</a:t>
            </a:r>
            <a:endParaRPr lang="en-US" sz="1200" dirty="0"/>
          </a:p>
        </p:txBody>
      </p:sp>
      <p:sp>
        <p:nvSpPr>
          <p:cNvPr id="31" name="Text 29"/>
          <p:cNvSpPr/>
          <p:nvPr/>
        </p:nvSpPr>
        <p:spPr>
          <a:xfrm>
            <a:off x="6345936" y="3401568"/>
            <a:ext cx="2286000" cy="457200"/>
          </a:xfrm>
          <a:prstGeom prst="rect">
            <a:avLst/>
          </a:prstGeom>
          <a:noFill/>
          <a:ln/>
        </p:spPr>
        <p:txBody>
          <a:bodyPr wrap="square" lIns="0" tIns="0" rIns="0" bIns="0" rtlCol="0" anchor="ctr"/>
          <a:lstStyle/>
          <a:p>
            <a:pPr marL="0" indent="0" algn="ctr">
              <a:buNone/>
            </a:pPr>
            <a:r>
              <a:rPr lang="en-US" sz="950" dirty="0">
                <a:solidFill>
                  <a:srgbClr val="AEC3DD"/>
                </a:solidFill>
                <a:latin typeface="Calibri" pitchFamily="34" charset="0"/>
                <a:ea typeface="Calibri" pitchFamily="34" charset="-122"/>
                <a:cs typeface="Calibri" pitchFamily="34" charset="-120"/>
              </a:rPr>
              <a:t>Wireless coverage</a:t>
            </a:r>
            <a:endParaRPr lang="en-US" sz="950" dirty="0"/>
          </a:p>
        </p:txBody>
      </p:sp>
      <p:sp>
        <p:nvSpPr>
          <p:cNvPr id="32" name="Shape 30"/>
          <p:cNvSpPr/>
          <p:nvPr/>
        </p:nvSpPr>
        <p:spPr>
          <a:xfrm>
            <a:off x="10277856" y="2715768"/>
            <a:ext cx="0" cy="320040"/>
          </a:xfrm>
          <a:prstGeom prst="line">
            <a:avLst/>
          </a:prstGeom>
          <a:noFill/>
          <a:ln w="19050">
            <a:solidFill>
              <a:srgbClr val="0891B2"/>
            </a:solidFill>
            <a:prstDash val="solid"/>
          </a:ln>
        </p:spPr>
      </p:sp>
      <p:sp>
        <p:nvSpPr>
          <p:cNvPr id="33" name="Shape 31"/>
          <p:cNvSpPr/>
          <p:nvPr/>
        </p:nvSpPr>
        <p:spPr>
          <a:xfrm>
            <a:off x="9043416" y="3035808"/>
            <a:ext cx="2468880" cy="868680"/>
          </a:xfrm>
          <a:prstGeom prst="roundRect">
            <a:avLst>
              <a:gd name="adj" fmla="val 7368"/>
            </a:avLst>
          </a:prstGeom>
          <a:solidFill>
            <a:srgbClr val="13294B"/>
          </a:solidFill>
          <a:ln/>
        </p:spPr>
      </p:sp>
      <p:sp>
        <p:nvSpPr>
          <p:cNvPr id="34" name="Text 32"/>
          <p:cNvSpPr/>
          <p:nvPr/>
        </p:nvSpPr>
        <p:spPr>
          <a:xfrm>
            <a:off x="9043416" y="3108960"/>
            <a:ext cx="2468880" cy="292608"/>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Printers</a:t>
            </a:r>
            <a:endParaRPr lang="en-US" sz="1200" dirty="0"/>
          </a:p>
        </p:txBody>
      </p:sp>
      <p:sp>
        <p:nvSpPr>
          <p:cNvPr id="35" name="Text 33"/>
          <p:cNvSpPr/>
          <p:nvPr/>
        </p:nvSpPr>
        <p:spPr>
          <a:xfrm>
            <a:off x="9134856" y="3401568"/>
            <a:ext cx="2286000" cy="457200"/>
          </a:xfrm>
          <a:prstGeom prst="rect">
            <a:avLst/>
          </a:prstGeom>
          <a:noFill/>
          <a:ln/>
        </p:spPr>
        <p:txBody>
          <a:bodyPr wrap="square" lIns="0" tIns="0" rIns="0" bIns="0" rtlCol="0" anchor="ctr"/>
          <a:lstStyle/>
          <a:p>
            <a:pPr marL="0" indent="0" algn="ctr">
              <a:buNone/>
            </a:pPr>
            <a:r>
              <a:rPr lang="en-US" sz="950" dirty="0">
                <a:solidFill>
                  <a:srgbClr val="AEC3DD"/>
                </a:solidFill>
                <a:latin typeface="Calibri" pitchFamily="34" charset="0"/>
                <a:ea typeface="Calibri" pitchFamily="34" charset="-122"/>
                <a:cs typeface="Calibri" pitchFamily="34" charset="-120"/>
              </a:rPr>
              <a:t>Shared devices</a:t>
            </a:r>
            <a:endParaRPr lang="en-US" sz="950" dirty="0"/>
          </a:p>
        </p:txBody>
      </p:sp>
      <p:sp>
        <p:nvSpPr>
          <p:cNvPr id="36" name="Shape 34"/>
          <p:cNvSpPr/>
          <p:nvPr/>
        </p:nvSpPr>
        <p:spPr>
          <a:xfrm>
            <a:off x="7488936" y="3904488"/>
            <a:ext cx="0" cy="320040"/>
          </a:xfrm>
          <a:prstGeom prst="line">
            <a:avLst/>
          </a:prstGeom>
          <a:noFill/>
          <a:ln w="19050">
            <a:solidFill>
              <a:srgbClr val="0891B2"/>
            </a:solidFill>
            <a:prstDash val="solid"/>
          </a:ln>
        </p:spPr>
      </p:sp>
      <p:sp>
        <p:nvSpPr>
          <p:cNvPr id="37" name="Shape 35"/>
          <p:cNvSpPr/>
          <p:nvPr/>
        </p:nvSpPr>
        <p:spPr>
          <a:xfrm flipV="1">
            <a:off x="7488936" y="4224528"/>
            <a:ext cx="0" cy="9144"/>
          </a:xfrm>
          <a:prstGeom prst="line">
            <a:avLst/>
          </a:prstGeom>
          <a:noFill/>
          <a:ln w="15875">
            <a:solidFill>
              <a:srgbClr val="0891B2"/>
            </a:solidFill>
            <a:prstDash val="solid"/>
          </a:ln>
        </p:spPr>
      </p:sp>
      <p:sp>
        <p:nvSpPr>
          <p:cNvPr id="38" name="Shape 36"/>
          <p:cNvSpPr/>
          <p:nvPr/>
        </p:nvSpPr>
        <p:spPr>
          <a:xfrm>
            <a:off x="6025896" y="4224528"/>
            <a:ext cx="1371600" cy="457200"/>
          </a:xfrm>
          <a:prstGeom prst="roundRect">
            <a:avLst>
              <a:gd name="adj" fmla="val 12000"/>
            </a:avLst>
          </a:prstGeom>
          <a:solidFill>
            <a:srgbClr val="0F2140"/>
          </a:solidFill>
          <a:ln w="12700">
            <a:solidFill>
              <a:srgbClr val="0891B2"/>
            </a:solidFill>
            <a:prstDash val="solid"/>
          </a:ln>
        </p:spPr>
      </p:sp>
      <p:sp>
        <p:nvSpPr>
          <p:cNvPr id="39" name="Text 37"/>
          <p:cNvSpPr/>
          <p:nvPr/>
        </p:nvSpPr>
        <p:spPr>
          <a:xfrm>
            <a:off x="6025896" y="4224528"/>
            <a:ext cx="1371600" cy="457200"/>
          </a:xfrm>
          <a:prstGeom prst="rect">
            <a:avLst/>
          </a:prstGeom>
          <a:noFill/>
          <a:ln/>
        </p:spPr>
        <p:txBody>
          <a:bodyPr wrap="square" lIns="0" tIns="0" rIns="0" bIns="0" rtlCol="0" anchor="ctr"/>
          <a:lstStyle/>
          <a:p>
            <a:pPr marL="0" indent="0" algn="ctr">
              <a:buNone/>
            </a:pPr>
            <a:r>
              <a:rPr lang="en-US" sz="950" dirty="0">
                <a:solidFill>
                  <a:srgbClr val="AEC3DD"/>
                </a:solidFill>
                <a:latin typeface="Calibri" pitchFamily="34" charset="0"/>
                <a:ea typeface="Calibri" pitchFamily="34" charset="-122"/>
                <a:cs typeface="Calibri" pitchFamily="34" charset="-120"/>
              </a:rPr>
              <a:t>Laptops</a:t>
            </a:r>
            <a:endParaRPr lang="en-US" sz="950" dirty="0"/>
          </a:p>
        </p:txBody>
      </p:sp>
      <p:sp>
        <p:nvSpPr>
          <p:cNvPr id="40" name="Shape 38"/>
          <p:cNvSpPr/>
          <p:nvPr/>
        </p:nvSpPr>
        <p:spPr>
          <a:xfrm>
            <a:off x="7488936" y="4224528"/>
            <a:ext cx="960120" cy="9144"/>
          </a:xfrm>
          <a:prstGeom prst="line">
            <a:avLst/>
          </a:prstGeom>
          <a:noFill/>
          <a:ln w="15875">
            <a:solidFill>
              <a:srgbClr val="0891B2"/>
            </a:solidFill>
            <a:prstDash val="solid"/>
          </a:ln>
        </p:spPr>
      </p:sp>
      <p:sp>
        <p:nvSpPr>
          <p:cNvPr id="41" name="Shape 39"/>
          <p:cNvSpPr/>
          <p:nvPr/>
        </p:nvSpPr>
        <p:spPr>
          <a:xfrm>
            <a:off x="7763256" y="4224528"/>
            <a:ext cx="1371600" cy="457200"/>
          </a:xfrm>
          <a:prstGeom prst="roundRect">
            <a:avLst>
              <a:gd name="adj" fmla="val 12000"/>
            </a:avLst>
          </a:prstGeom>
          <a:solidFill>
            <a:srgbClr val="0F2140"/>
          </a:solidFill>
          <a:ln w="12700">
            <a:solidFill>
              <a:srgbClr val="0891B2"/>
            </a:solidFill>
            <a:prstDash val="solid"/>
          </a:ln>
        </p:spPr>
      </p:sp>
      <p:sp>
        <p:nvSpPr>
          <p:cNvPr id="42" name="Text 40"/>
          <p:cNvSpPr/>
          <p:nvPr/>
        </p:nvSpPr>
        <p:spPr>
          <a:xfrm>
            <a:off x="7763256" y="4224528"/>
            <a:ext cx="1371600" cy="457200"/>
          </a:xfrm>
          <a:prstGeom prst="rect">
            <a:avLst/>
          </a:prstGeom>
          <a:noFill/>
          <a:ln/>
        </p:spPr>
        <p:txBody>
          <a:bodyPr wrap="square" lIns="0" tIns="0" rIns="0" bIns="0" rtlCol="0" anchor="ctr"/>
          <a:lstStyle/>
          <a:p>
            <a:pPr marL="0" indent="0" algn="ctr">
              <a:buNone/>
            </a:pPr>
            <a:r>
              <a:rPr lang="en-US" sz="950" dirty="0">
                <a:solidFill>
                  <a:srgbClr val="AEC3DD"/>
                </a:solidFill>
                <a:latin typeface="Calibri" pitchFamily="34" charset="0"/>
                <a:ea typeface="Calibri" pitchFamily="34" charset="-122"/>
                <a:cs typeface="Calibri" pitchFamily="34" charset="-120"/>
              </a:rPr>
              <a:t>Mobile Devices</a:t>
            </a:r>
            <a:endParaRPr lang="en-US" sz="950" dirty="0"/>
          </a:p>
        </p:txBody>
      </p:sp>
      <p:sp>
        <p:nvSpPr>
          <p:cNvPr id="43" name="Shape 41"/>
          <p:cNvSpPr/>
          <p:nvPr/>
        </p:nvSpPr>
        <p:spPr>
          <a:xfrm>
            <a:off x="548640" y="6172200"/>
            <a:ext cx="11091672" cy="566928"/>
          </a:xfrm>
          <a:prstGeom prst="roundRect">
            <a:avLst>
              <a:gd name="adj" fmla="val 12903"/>
            </a:avLst>
          </a:prstGeom>
          <a:solidFill>
            <a:srgbClr val="0F2140"/>
          </a:solidFill>
          <a:ln w="12700">
            <a:solidFill>
              <a:srgbClr val="0891B2"/>
            </a:solidFill>
            <a:prstDash val="solid"/>
          </a:ln>
        </p:spPr>
      </p:sp>
      <p:sp>
        <p:nvSpPr>
          <p:cNvPr id="44" name="Text 42"/>
          <p:cNvSpPr/>
          <p:nvPr/>
        </p:nvSpPr>
        <p:spPr>
          <a:xfrm>
            <a:off x="777240" y="617220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Traffic funnels from the Internet through a firewall (security checkpoint) and router before fanning out to switches, servers, and endpoints.</a:t>
            </a:r>
            <a:endParaRPr lang="en-US" sz="1100" dirty="0"/>
          </a:p>
        </p:txBody>
      </p:sp>
      <p:sp>
        <p:nvSpPr>
          <p:cNvPr id="45" name="Text 4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19</a:t>
            </a:r>
            <a:endParaRPr lang="en-US" sz="1000" dirty="0"/>
          </a:p>
        </p:txBody>
      </p:sp>
      <p:sp>
        <p:nvSpPr>
          <p:cNvPr id="46" name="Text 44"/>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Quick Revision</a:t>
            </a:r>
            <a:endParaRPr lang="en-US" sz="3200" dirty="0"/>
          </a:p>
        </p:txBody>
      </p:sp>
      <p:sp>
        <p:nvSpPr>
          <p:cNvPr id="4" name="Shape 2"/>
          <p:cNvSpPr/>
          <p:nvPr/>
        </p:nvSpPr>
        <p:spPr>
          <a:xfrm>
            <a:off x="6094476" y="2207362"/>
            <a:ext cx="9144" cy="1678838"/>
          </a:xfrm>
          <a:prstGeom prst="line">
            <a:avLst/>
          </a:prstGeom>
          <a:noFill/>
          <a:ln w="19050">
            <a:solidFill>
              <a:srgbClr val="0891B2"/>
            </a:solidFill>
            <a:prstDash val="solid"/>
          </a:ln>
        </p:spPr>
      </p:sp>
      <p:sp>
        <p:nvSpPr>
          <p:cNvPr id="5" name="Shape 3"/>
          <p:cNvSpPr/>
          <p:nvPr/>
        </p:nvSpPr>
        <p:spPr>
          <a:xfrm>
            <a:off x="5317236" y="1914754"/>
            <a:ext cx="1554480" cy="585216"/>
          </a:xfrm>
          <a:prstGeom prst="roundRect">
            <a:avLst>
              <a:gd name="adj" fmla="val 50000"/>
            </a:avLst>
          </a:prstGeom>
          <a:solidFill>
            <a:srgbClr val="13294B"/>
          </a:solidFill>
          <a:ln w="12700">
            <a:solidFill>
              <a:srgbClr val="0891B2"/>
            </a:solidFill>
            <a:prstDash val="solid"/>
          </a:ln>
        </p:spPr>
      </p:sp>
      <p:sp>
        <p:nvSpPr>
          <p:cNvPr id="6" name="Text 4"/>
          <p:cNvSpPr/>
          <p:nvPr/>
        </p:nvSpPr>
        <p:spPr>
          <a:xfrm>
            <a:off x="5317236" y="1914754"/>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Types</a:t>
            </a:r>
            <a:endParaRPr lang="en-US" sz="1150" dirty="0"/>
          </a:p>
        </p:txBody>
      </p:sp>
      <p:sp>
        <p:nvSpPr>
          <p:cNvPr id="7" name="Shape 5"/>
          <p:cNvSpPr/>
          <p:nvPr/>
        </p:nvSpPr>
        <p:spPr>
          <a:xfrm flipV="1">
            <a:off x="6094476" y="2839461"/>
            <a:ext cx="1823012" cy="1046739"/>
          </a:xfrm>
          <a:prstGeom prst="line">
            <a:avLst/>
          </a:prstGeom>
          <a:noFill/>
          <a:ln w="19050">
            <a:solidFill>
              <a:srgbClr val="0891B2"/>
            </a:solidFill>
            <a:prstDash val="solid"/>
          </a:ln>
        </p:spPr>
      </p:sp>
      <p:sp>
        <p:nvSpPr>
          <p:cNvPr id="8" name="Shape 6"/>
          <p:cNvSpPr/>
          <p:nvPr/>
        </p:nvSpPr>
        <p:spPr>
          <a:xfrm>
            <a:off x="7140248" y="2546853"/>
            <a:ext cx="1554480" cy="585216"/>
          </a:xfrm>
          <a:prstGeom prst="roundRect">
            <a:avLst>
              <a:gd name="adj" fmla="val 50000"/>
            </a:avLst>
          </a:prstGeom>
          <a:solidFill>
            <a:srgbClr val="13294B"/>
          </a:solidFill>
          <a:ln w="12700">
            <a:solidFill>
              <a:srgbClr val="0891B2"/>
            </a:solidFill>
            <a:prstDash val="solid"/>
          </a:ln>
        </p:spPr>
      </p:sp>
      <p:sp>
        <p:nvSpPr>
          <p:cNvPr id="9" name="Text 7"/>
          <p:cNvSpPr/>
          <p:nvPr/>
        </p:nvSpPr>
        <p:spPr>
          <a:xfrm>
            <a:off x="7140248" y="2546853"/>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Devices</a:t>
            </a:r>
            <a:endParaRPr lang="en-US" sz="1150" dirty="0"/>
          </a:p>
        </p:txBody>
      </p:sp>
      <p:sp>
        <p:nvSpPr>
          <p:cNvPr id="10" name="Shape 8"/>
          <p:cNvSpPr/>
          <p:nvPr/>
        </p:nvSpPr>
        <p:spPr>
          <a:xfrm>
            <a:off x="6094476" y="3886200"/>
            <a:ext cx="2273259" cy="373577"/>
          </a:xfrm>
          <a:prstGeom prst="line">
            <a:avLst/>
          </a:prstGeom>
          <a:noFill/>
          <a:ln w="19050">
            <a:solidFill>
              <a:srgbClr val="0891B2"/>
            </a:solidFill>
            <a:prstDash val="solid"/>
          </a:ln>
        </p:spPr>
      </p:sp>
      <p:sp>
        <p:nvSpPr>
          <p:cNvPr id="11" name="Shape 9"/>
          <p:cNvSpPr/>
          <p:nvPr/>
        </p:nvSpPr>
        <p:spPr>
          <a:xfrm>
            <a:off x="7590495" y="3967169"/>
            <a:ext cx="1554480" cy="585216"/>
          </a:xfrm>
          <a:prstGeom prst="roundRect">
            <a:avLst>
              <a:gd name="adj" fmla="val 50000"/>
            </a:avLst>
          </a:prstGeom>
          <a:solidFill>
            <a:srgbClr val="13294B"/>
          </a:solidFill>
          <a:ln w="12700">
            <a:solidFill>
              <a:srgbClr val="0891B2"/>
            </a:solidFill>
            <a:prstDash val="solid"/>
          </a:ln>
        </p:spPr>
      </p:sp>
      <p:sp>
        <p:nvSpPr>
          <p:cNvPr id="12" name="Text 10"/>
          <p:cNvSpPr/>
          <p:nvPr/>
        </p:nvSpPr>
        <p:spPr>
          <a:xfrm>
            <a:off x="7590495" y="3967169"/>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Protocols</a:t>
            </a:r>
            <a:endParaRPr lang="en-US" sz="1150" dirty="0"/>
          </a:p>
        </p:txBody>
      </p:sp>
      <p:sp>
        <p:nvSpPr>
          <p:cNvPr id="13" name="Shape 11"/>
          <p:cNvSpPr/>
          <p:nvPr/>
        </p:nvSpPr>
        <p:spPr>
          <a:xfrm>
            <a:off x="6094476" y="3886200"/>
            <a:ext cx="1011695" cy="1512581"/>
          </a:xfrm>
          <a:prstGeom prst="line">
            <a:avLst/>
          </a:prstGeom>
          <a:noFill/>
          <a:ln w="19050">
            <a:solidFill>
              <a:srgbClr val="0891B2"/>
            </a:solidFill>
            <a:prstDash val="solid"/>
          </a:ln>
        </p:spPr>
      </p:sp>
      <p:sp>
        <p:nvSpPr>
          <p:cNvPr id="14" name="Shape 12"/>
          <p:cNvSpPr/>
          <p:nvPr/>
        </p:nvSpPr>
        <p:spPr>
          <a:xfrm>
            <a:off x="6328931" y="5106173"/>
            <a:ext cx="1554480" cy="585216"/>
          </a:xfrm>
          <a:prstGeom prst="roundRect">
            <a:avLst>
              <a:gd name="adj" fmla="val 50000"/>
            </a:avLst>
          </a:prstGeom>
          <a:solidFill>
            <a:srgbClr val="13294B"/>
          </a:solidFill>
          <a:ln w="12700">
            <a:solidFill>
              <a:srgbClr val="0891B2"/>
            </a:solidFill>
            <a:prstDash val="solid"/>
          </a:ln>
        </p:spPr>
      </p:sp>
      <p:sp>
        <p:nvSpPr>
          <p:cNvPr id="15" name="Text 13"/>
          <p:cNvSpPr/>
          <p:nvPr/>
        </p:nvSpPr>
        <p:spPr>
          <a:xfrm>
            <a:off x="6328931" y="5106173"/>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IP Addressing</a:t>
            </a:r>
            <a:endParaRPr lang="en-US" sz="1150" dirty="0"/>
          </a:p>
        </p:txBody>
      </p:sp>
      <p:sp>
        <p:nvSpPr>
          <p:cNvPr id="16" name="Shape 14"/>
          <p:cNvSpPr/>
          <p:nvPr/>
        </p:nvSpPr>
        <p:spPr>
          <a:xfrm flipV="1">
            <a:off x="5082781" y="3886200"/>
            <a:ext cx="1011695" cy="1512581"/>
          </a:xfrm>
          <a:prstGeom prst="line">
            <a:avLst/>
          </a:prstGeom>
          <a:noFill/>
          <a:ln w="19050">
            <a:solidFill>
              <a:srgbClr val="0891B2"/>
            </a:solidFill>
            <a:prstDash val="solid"/>
          </a:ln>
        </p:spPr>
      </p:sp>
      <p:sp>
        <p:nvSpPr>
          <p:cNvPr id="17" name="Shape 15"/>
          <p:cNvSpPr/>
          <p:nvPr/>
        </p:nvSpPr>
        <p:spPr>
          <a:xfrm>
            <a:off x="4305541" y="5106173"/>
            <a:ext cx="1554480" cy="585216"/>
          </a:xfrm>
          <a:prstGeom prst="roundRect">
            <a:avLst>
              <a:gd name="adj" fmla="val 50000"/>
            </a:avLst>
          </a:prstGeom>
          <a:solidFill>
            <a:srgbClr val="13294B"/>
          </a:solidFill>
          <a:ln w="12700">
            <a:solidFill>
              <a:srgbClr val="0891B2"/>
            </a:solidFill>
            <a:prstDash val="solid"/>
          </a:ln>
        </p:spPr>
      </p:sp>
      <p:sp>
        <p:nvSpPr>
          <p:cNvPr id="18" name="Text 16"/>
          <p:cNvSpPr/>
          <p:nvPr/>
        </p:nvSpPr>
        <p:spPr>
          <a:xfrm>
            <a:off x="4305541" y="5106173"/>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MAC Addressing</a:t>
            </a:r>
            <a:endParaRPr lang="en-US" sz="1150" dirty="0"/>
          </a:p>
        </p:txBody>
      </p:sp>
      <p:sp>
        <p:nvSpPr>
          <p:cNvPr id="19" name="Shape 17"/>
          <p:cNvSpPr/>
          <p:nvPr/>
        </p:nvSpPr>
        <p:spPr>
          <a:xfrm flipV="1">
            <a:off x="3821217" y="3886200"/>
            <a:ext cx="2273259" cy="373577"/>
          </a:xfrm>
          <a:prstGeom prst="line">
            <a:avLst/>
          </a:prstGeom>
          <a:noFill/>
          <a:ln w="19050">
            <a:solidFill>
              <a:srgbClr val="0891B2"/>
            </a:solidFill>
            <a:prstDash val="solid"/>
          </a:ln>
        </p:spPr>
      </p:sp>
      <p:sp>
        <p:nvSpPr>
          <p:cNvPr id="20" name="Shape 18"/>
          <p:cNvSpPr/>
          <p:nvPr/>
        </p:nvSpPr>
        <p:spPr>
          <a:xfrm>
            <a:off x="3043977" y="3967169"/>
            <a:ext cx="1554480" cy="585216"/>
          </a:xfrm>
          <a:prstGeom prst="roundRect">
            <a:avLst>
              <a:gd name="adj" fmla="val 50000"/>
            </a:avLst>
          </a:prstGeom>
          <a:solidFill>
            <a:srgbClr val="13294B"/>
          </a:solidFill>
          <a:ln w="12700">
            <a:solidFill>
              <a:srgbClr val="0891B2"/>
            </a:solidFill>
            <a:prstDash val="solid"/>
          </a:ln>
        </p:spPr>
      </p:sp>
      <p:sp>
        <p:nvSpPr>
          <p:cNvPr id="21" name="Text 19"/>
          <p:cNvSpPr/>
          <p:nvPr/>
        </p:nvSpPr>
        <p:spPr>
          <a:xfrm>
            <a:off x="3043977" y="3967169"/>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Topology</a:t>
            </a:r>
            <a:endParaRPr lang="en-US" sz="1150" dirty="0"/>
          </a:p>
        </p:txBody>
      </p:sp>
      <p:sp>
        <p:nvSpPr>
          <p:cNvPr id="22" name="Shape 20"/>
          <p:cNvSpPr/>
          <p:nvPr/>
        </p:nvSpPr>
        <p:spPr>
          <a:xfrm>
            <a:off x="4271464" y="2839461"/>
            <a:ext cx="1823012" cy="1046739"/>
          </a:xfrm>
          <a:prstGeom prst="line">
            <a:avLst/>
          </a:prstGeom>
          <a:noFill/>
          <a:ln w="19050">
            <a:solidFill>
              <a:srgbClr val="0891B2"/>
            </a:solidFill>
            <a:prstDash val="solid"/>
          </a:ln>
        </p:spPr>
      </p:sp>
      <p:sp>
        <p:nvSpPr>
          <p:cNvPr id="23" name="Shape 21"/>
          <p:cNvSpPr/>
          <p:nvPr/>
        </p:nvSpPr>
        <p:spPr>
          <a:xfrm>
            <a:off x="3494224" y="2546853"/>
            <a:ext cx="1554480" cy="585216"/>
          </a:xfrm>
          <a:prstGeom prst="roundRect">
            <a:avLst>
              <a:gd name="adj" fmla="val 50000"/>
            </a:avLst>
          </a:prstGeom>
          <a:solidFill>
            <a:srgbClr val="13294B"/>
          </a:solidFill>
          <a:ln w="12700">
            <a:solidFill>
              <a:srgbClr val="0891B2"/>
            </a:solidFill>
            <a:prstDash val="solid"/>
          </a:ln>
        </p:spPr>
      </p:sp>
      <p:sp>
        <p:nvSpPr>
          <p:cNvPr id="24" name="Text 22"/>
          <p:cNvSpPr/>
          <p:nvPr/>
        </p:nvSpPr>
        <p:spPr>
          <a:xfrm>
            <a:off x="3494224" y="2546853"/>
            <a:ext cx="1554480" cy="58521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Commands</a:t>
            </a:r>
            <a:endParaRPr lang="en-US" sz="1150" dirty="0"/>
          </a:p>
        </p:txBody>
      </p:sp>
      <p:sp>
        <p:nvSpPr>
          <p:cNvPr id="25" name="Shape 23"/>
          <p:cNvSpPr/>
          <p:nvPr/>
        </p:nvSpPr>
        <p:spPr>
          <a:xfrm>
            <a:off x="5225796" y="3383280"/>
            <a:ext cx="1737360" cy="1005840"/>
          </a:xfrm>
          <a:prstGeom prst="ellipse">
            <a:avLst/>
          </a:prstGeom>
          <a:solidFill>
            <a:srgbClr val="0891B2"/>
          </a:solidFill>
          <a:ln w="25400">
            <a:solidFill>
              <a:srgbClr val="22D3EE"/>
            </a:solidFill>
            <a:prstDash val="solid"/>
          </a:ln>
        </p:spPr>
      </p:sp>
      <p:sp>
        <p:nvSpPr>
          <p:cNvPr id="26" name="Text 24"/>
          <p:cNvSpPr/>
          <p:nvPr/>
        </p:nvSpPr>
        <p:spPr>
          <a:xfrm>
            <a:off x="5225796" y="3383280"/>
            <a:ext cx="173736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NETWORKING</a:t>
            </a:r>
            <a:endParaRPr lang="en-US" sz="1300" dirty="0"/>
          </a:p>
        </p:txBody>
      </p:sp>
      <p:sp>
        <p:nvSpPr>
          <p:cNvPr id="27" name="Text 2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20</a:t>
            </a:r>
            <a:endParaRPr lang="en-US" sz="1000" dirty="0"/>
          </a:p>
        </p:txBody>
      </p:sp>
      <p:sp>
        <p:nvSpPr>
          <p:cNvPr id="28" name="Text 26"/>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CHECK YOUR UNDERSTANDING</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Quiz</a:t>
            </a:r>
            <a:endParaRPr lang="en-US" sz="3200" dirty="0"/>
          </a:p>
        </p:txBody>
      </p:sp>
      <p:sp>
        <p:nvSpPr>
          <p:cNvPr id="4" name="Shape 2"/>
          <p:cNvSpPr/>
          <p:nvPr/>
        </p:nvSpPr>
        <p:spPr>
          <a:xfrm>
            <a:off x="548640" y="1600200"/>
            <a:ext cx="5440680" cy="1417320"/>
          </a:xfrm>
          <a:prstGeom prst="roundRect">
            <a:avLst>
              <a:gd name="adj" fmla="val 5161"/>
            </a:avLst>
          </a:prstGeom>
          <a:solidFill>
            <a:srgbClr val="13294B"/>
          </a:solidFill>
          <a:ln/>
        </p:spPr>
      </p:sp>
      <p:sp>
        <p:nvSpPr>
          <p:cNvPr id="5" name="Text 3"/>
          <p:cNvSpPr/>
          <p:nvPr/>
        </p:nvSpPr>
        <p:spPr>
          <a:xfrm>
            <a:off x="731520" y="1691640"/>
            <a:ext cx="5074920" cy="384048"/>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Q1.  Which protocol uses Port 22?</a:t>
            </a:r>
            <a:endParaRPr lang="en-US" sz="1150" dirty="0"/>
          </a:p>
        </p:txBody>
      </p:sp>
      <p:sp>
        <p:nvSpPr>
          <p:cNvPr id="6" name="Text 4"/>
          <p:cNvSpPr/>
          <p:nvPr/>
        </p:nvSpPr>
        <p:spPr>
          <a:xfrm>
            <a:off x="731520" y="210312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A  </a:t>
            </a:r>
            <a:r>
              <a:rPr lang="en-US" sz="1050" dirty="0">
                <a:solidFill>
                  <a:srgbClr val="AEC3DD"/>
                </a:solidFill>
                <a:latin typeface="Calibri" pitchFamily="34" charset="0"/>
                <a:ea typeface="Calibri" pitchFamily="34" charset="-122"/>
                <a:cs typeface="Calibri" pitchFamily="34" charset="-120"/>
              </a:rPr>
              <a:t>FTP</a:t>
            </a:r>
            <a:endParaRPr lang="en-US" sz="1050" dirty="0"/>
          </a:p>
        </p:txBody>
      </p:sp>
      <p:sp>
        <p:nvSpPr>
          <p:cNvPr id="7" name="Text 5"/>
          <p:cNvSpPr/>
          <p:nvPr/>
        </p:nvSpPr>
        <p:spPr>
          <a:xfrm>
            <a:off x="3314700" y="210312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B  </a:t>
            </a:r>
            <a:r>
              <a:rPr lang="en-US" sz="1050" dirty="0">
                <a:solidFill>
                  <a:srgbClr val="AEC3DD"/>
                </a:solidFill>
                <a:latin typeface="Calibri" pitchFamily="34" charset="0"/>
                <a:ea typeface="Calibri" pitchFamily="34" charset="-122"/>
                <a:cs typeface="Calibri" pitchFamily="34" charset="-120"/>
              </a:rPr>
              <a:t>SSH</a:t>
            </a:r>
            <a:endParaRPr lang="en-US" sz="1050" dirty="0"/>
          </a:p>
        </p:txBody>
      </p:sp>
      <p:sp>
        <p:nvSpPr>
          <p:cNvPr id="8" name="Text 6"/>
          <p:cNvSpPr/>
          <p:nvPr/>
        </p:nvSpPr>
        <p:spPr>
          <a:xfrm>
            <a:off x="731520" y="248716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C  </a:t>
            </a:r>
            <a:r>
              <a:rPr lang="en-US" sz="1050" dirty="0">
                <a:solidFill>
                  <a:srgbClr val="AEC3DD"/>
                </a:solidFill>
                <a:latin typeface="Calibri" pitchFamily="34" charset="0"/>
                <a:ea typeface="Calibri" pitchFamily="34" charset="-122"/>
                <a:cs typeface="Calibri" pitchFamily="34" charset="-120"/>
              </a:rPr>
              <a:t>DNS</a:t>
            </a:r>
            <a:endParaRPr lang="en-US" sz="1050" dirty="0"/>
          </a:p>
        </p:txBody>
      </p:sp>
      <p:sp>
        <p:nvSpPr>
          <p:cNvPr id="9" name="Text 7"/>
          <p:cNvSpPr/>
          <p:nvPr/>
        </p:nvSpPr>
        <p:spPr>
          <a:xfrm>
            <a:off x="3314700" y="248716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D  </a:t>
            </a:r>
            <a:r>
              <a:rPr lang="en-US" sz="1050" dirty="0">
                <a:solidFill>
                  <a:srgbClr val="AEC3DD"/>
                </a:solidFill>
                <a:latin typeface="Calibri" pitchFamily="34" charset="0"/>
                <a:ea typeface="Calibri" pitchFamily="34" charset="-122"/>
                <a:cs typeface="Calibri" pitchFamily="34" charset="-120"/>
              </a:rPr>
              <a:t>HTTP</a:t>
            </a:r>
            <a:endParaRPr lang="en-US" sz="1050" dirty="0"/>
          </a:p>
        </p:txBody>
      </p:sp>
      <p:sp>
        <p:nvSpPr>
          <p:cNvPr id="10" name="Shape 8"/>
          <p:cNvSpPr/>
          <p:nvPr/>
        </p:nvSpPr>
        <p:spPr>
          <a:xfrm>
            <a:off x="6172200" y="1600200"/>
            <a:ext cx="5440680" cy="1417320"/>
          </a:xfrm>
          <a:prstGeom prst="roundRect">
            <a:avLst>
              <a:gd name="adj" fmla="val 5161"/>
            </a:avLst>
          </a:prstGeom>
          <a:solidFill>
            <a:srgbClr val="13294B"/>
          </a:solidFill>
          <a:ln/>
        </p:spPr>
      </p:sp>
      <p:sp>
        <p:nvSpPr>
          <p:cNvPr id="11" name="Text 9"/>
          <p:cNvSpPr/>
          <p:nvPr/>
        </p:nvSpPr>
        <p:spPr>
          <a:xfrm>
            <a:off x="6355080" y="1691640"/>
            <a:ext cx="5074920" cy="384048"/>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Q2.  Which device operates primarily at Layer 3?</a:t>
            </a:r>
            <a:endParaRPr lang="en-US" sz="1150" dirty="0"/>
          </a:p>
        </p:txBody>
      </p:sp>
      <p:sp>
        <p:nvSpPr>
          <p:cNvPr id="12" name="Text 10"/>
          <p:cNvSpPr/>
          <p:nvPr/>
        </p:nvSpPr>
        <p:spPr>
          <a:xfrm>
            <a:off x="6355080" y="210312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A  </a:t>
            </a:r>
            <a:r>
              <a:rPr lang="en-US" sz="1050" dirty="0">
                <a:solidFill>
                  <a:srgbClr val="AEC3DD"/>
                </a:solidFill>
                <a:latin typeface="Calibri" pitchFamily="34" charset="0"/>
                <a:ea typeface="Calibri" pitchFamily="34" charset="-122"/>
                <a:cs typeface="Calibri" pitchFamily="34" charset="-120"/>
              </a:rPr>
              <a:t>Switch</a:t>
            </a:r>
            <a:endParaRPr lang="en-US" sz="1050" dirty="0"/>
          </a:p>
        </p:txBody>
      </p:sp>
      <p:sp>
        <p:nvSpPr>
          <p:cNvPr id="13" name="Text 11"/>
          <p:cNvSpPr/>
          <p:nvPr/>
        </p:nvSpPr>
        <p:spPr>
          <a:xfrm>
            <a:off x="8938260" y="210312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B  </a:t>
            </a:r>
            <a:r>
              <a:rPr lang="en-US" sz="1050" dirty="0">
                <a:solidFill>
                  <a:srgbClr val="AEC3DD"/>
                </a:solidFill>
                <a:latin typeface="Calibri" pitchFamily="34" charset="0"/>
                <a:ea typeface="Calibri" pitchFamily="34" charset="-122"/>
                <a:cs typeface="Calibri" pitchFamily="34" charset="-120"/>
              </a:rPr>
              <a:t>Hub</a:t>
            </a:r>
            <a:endParaRPr lang="en-US" sz="1050" dirty="0"/>
          </a:p>
        </p:txBody>
      </p:sp>
      <p:sp>
        <p:nvSpPr>
          <p:cNvPr id="14" name="Text 12"/>
          <p:cNvSpPr/>
          <p:nvPr/>
        </p:nvSpPr>
        <p:spPr>
          <a:xfrm>
            <a:off x="6355080" y="248716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C  </a:t>
            </a:r>
            <a:r>
              <a:rPr lang="en-US" sz="1050" dirty="0">
                <a:solidFill>
                  <a:srgbClr val="AEC3DD"/>
                </a:solidFill>
                <a:latin typeface="Calibri" pitchFamily="34" charset="0"/>
                <a:ea typeface="Calibri" pitchFamily="34" charset="-122"/>
                <a:cs typeface="Calibri" pitchFamily="34" charset="-120"/>
              </a:rPr>
              <a:t>Router</a:t>
            </a:r>
            <a:endParaRPr lang="en-US" sz="1050" dirty="0"/>
          </a:p>
        </p:txBody>
      </p:sp>
      <p:sp>
        <p:nvSpPr>
          <p:cNvPr id="15" name="Text 13"/>
          <p:cNvSpPr/>
          <p:nvPr/>
        </p:nvSpPr>
        <p:spPr>
          <a:xfrm>
            <a:off x="8938260" y="248716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D  </a:t>
            </a:r>
            <a:r>
              <a:rPr lang="en-US" sz="1050" dirty="0">
                <a:solidFill>
                  <a:srgbClr val="AEC3DD"/>
                </a:solidFill>
                <a:latin typeface="Calibri" pitchFamily="34" charset="0"/>
                <a:ea typeface="Calibri" pitchFamily="34" charset="-122"/>
                <a:cs typeface="Calibri" pitchFamily="34" charset="-120"/>
              </a:rPr>
              <a:t>Repeater</a:t>
            </a:r>
            <a:endParaRPr lang="en-US" sz="1050" dirty="0"/>
          </a:p>
        </p:txBody>
      </p:sp>
      <p:sp>
        <p:nvSpPr>
          <p:cNvPr id="16" name="Shape 14"/>
          <p:cNvSpPr/>
          <p:nvPr/>
        </p:nvSpPr>
        <p:spPr>
          <a:xfrm>
            <a:off x="548640" y="3154680"/>
            <a:ext cx="5440680" cy="1417320"/>
          </a:xfrm>
          <a:prstGeom prst="roundRect">
            <a:avLst>
              <a:gd name="adj" fmla="val 5161"/>
            </a:avLst>
          </a:prstGeom>
          <a:solidFill>
            <a:srgbClr val="13294B"/>
          </a:solidFill>
          <a:ln/>
        </p:spPr>
      </p:sp>
      <p:sp>
        <p:nvSpPr>
          <p:cNvPr id="17" name="Text 15"/>
          <p:cNvSpPr/>
          <p:nvPr/>
        </p:nvSpPr>
        <p:spPr>
          <a:xfrm>
            <a:off x="731520" y="3246120"/>
            <a:ext cx="5074920" cy="384048"/>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Q3.  What does CIDR /24 indicate?</a:t>
            </a:r>
            <a:endParaRPr lang="en-US" sz="1150" dirty="0"/>
          </a:p>
        </p:txBody>
      </p:sp>
      <p:sp>
        <p:nvSpPr>
          <p:cNvPr id="18" name="Text 16"/>
          <p:cNvSpPr/>
          <p:nvPr/>
        </p:nvSpPr>
        <p:spPr>
          <a:xfrm>
            <a:off x="731520" y="365760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A  </a:t>
            </a:r>
            <a:r>
              <a:rPr lang="en-US" sz="1050" dirty="0">
                <a:solidFill>
                  <a:srgbClr val="AEC3DD"/>
                </a:solidFill>
                <a:latin typeface="Calibri" pitchFamily="34" charset="0"/>
                <a:ea typeface="Calibri" pitchFamily="34" charset="-122"/>
                <a:cs typeface="Calibri" pitchFamily="34" charset="-120"/>
              </a:rPr>
              <a:t>24 hosts</a:t>
            </a:r>
            <a:endParaRPr lang="en-US" sz="1050" dirty="0"/>
          </a:p>
        </p:txBody>
      </p:sp>
      <p:sp>
        <p:nvSpPr>
          <p:cNvPr id="19" name="Text 17"/>
          <p:cNvSpPr/>
          <p:nvPr/>
        </p:nvSpPr>
        <p:spPr>
          <a:xfrm>
            <a:off x="3314700" y="365760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B  </a:t>
            </a:r>
            <a:r>
              <a:rPr lang="en-US" sz="1050" dirty="0">
                <a:solidFill>
                  <a:srgbClr val="AEC3DD"/>
                </a:solidFill>
                <a:latin typeface="Calibri" pitchFamily="34" charset="0"/>
                <a:ea typeface="Calibri" pitchFamily="34" charset="-122"/>
                <a:cs typeface="Calibri" pitchFamily="34" charset="-120"/>
              </a:rPr>
              <a:t>24-bit network mask</a:t>
            </a:r>
            <a:endParaRPr lang="en-US" sz="1050" dirty="0"/>
          </a:p>
        </p:txBody>
      </p:sp>
      <p:sp>
        <p:nvSpPr>
          <p:cNvPr id="20" name="Text 18"/>
          <p:cNvSpPr/>
          <p:nvPr/>
        </p:nvSpPr>
        <p:spPr>
          <a:xfrm>
            <a:off x="731520" y="404164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C  </a:t>
            </a:r>
            <a:r>
              <a:rPr lang="en-US" sz="1050" dirty="0">
                <a:solidFill>
                  <a:srgbClr val="AEC3DD"/>
                </a:solidFill>
                <a:latin typeface="Calibri" pitchFamily="34" charset="0"/>
                <a:ea typeface="Calibri" pitchFamily="34" charset="-122"/>
                <a:cs typeface="Calibri" pitchFamily="34" charset="-120"/>
              </a:rPr>
              <a:t>24 subnets</a:t>
            </a:r>
            <a:endParaRPr lang="en-US" sz="1050" dirty="0"/>
          </a:p>
        </p:txBody>
      </p:sp>
      <p:sp>
        <p:nvSpPr>
          <p:cNvPr id="21" name="Text 19"/>
          <p:cNvSpPr/>
          <p:nvPr/>
        </p:nvSpPr>
        <p:spPr>
          <a:xfrm>
            <a:off x="3314700" y="404164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D  </a:t>
            </a:r>
            <a:r>
              <a:rPr lang="en-US" sz="1050" dirty="0">
                <a:solidFill>
                  <a:srgbClr val="AEC3DD"/>
                </a:solidFill>
                <a:latin typeface="Calibri" pitchFamily="34" charset="0"/>
                <a:ea typeface="Calibri" pitchFamily="34" charset="-122"/>
                <a:cs typeface="Calibri" pitchFamily="34" charset="-120"/>
              </a:rPr>
              <a:t>Port 24</a:t>
            </a:r>
            <a:endParaRPr lang="en-US" sz="1050" dirty="0"/>
          </a:p>
        </p:txBody>
      </p:sp>
      <p:sp>
        <p:nvSpPr>
          <p:cNvPr id="22" name="Shape 20"/>
          <p:cNvSpPr/>
          <p:nvPr/>
        </p:nvSpPr>
        <p:spPr>
          <a:xfrm>
            <a:off x="6172200" y="3154680"/>
            <a:ext cx="5440680" cy="1417320"/>
          </a:xfrm>
          <a:prstGeom prst="roundRect">
            <a:avLst>
              <a:gd name="adj" fmla="val 5161"/>
            </a:avLst>
          </a:prstGeom>
          <a:solidFill>
            <a:srgbClr val="13294B"/>
          </a:solidFill>
          <a:ln/>
        </p:spPr>
      </p:sp>
      <p:sp>
        <p:nvSpPr>
          <p:cNvPr id="23" name="Text 21"/>
          <p:cNvSpPr/>
          <p:nvPr/>
        </p:nvSpPr>
        <p:spPr>
          <a:xfrm>
            <a:off x="6355080" y="3246120"/>
            <a:ext cx="5074920" cy="384048"/>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Q4.  Which topology connects every node to every other node?</a:t>
            </a:r>
            <a:endParaRPr lang="en-US" sz="1150" dirty="0"/>
          </a:p>
        </p:txBody>
      </p:sp>
      <p:sp>
        <p:nvSpPr>
          <p:cNvPr id="24" name="Text 22"/>
          <p:cNvSpPr/>
          <p:nvPr/>
        </p:nvSpPr>
        <p:spPr>
          <a:xfrm>
            <a:off x="6355080" y="365760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A  </a:t>
            </a:r>
            <a:r>
              <a:rPr lang="en-US" sz="1050" dirty="0">
                <a:solidFill>
                  <a:srgbClr val="AEC3DD"/>
                </a:solidFill>
                <a:latin typeface="Calibri" pitchFamily="34" charset="0"/>
                <a:ea typeface="Calibri" pitchFamily="34" charset="-122"/>
                <a:cs typeface="Calibri" pitchFamily="34" charset="-120"/>
              </a:rPr>
              <a:t>Star</a:t>
            </a:r>
            <a:endParaRPr lang="en-US" sz="1050" dirty="0"/>
          </a:p>
        </p:txBody>
      </p:sp>
      <p:sp>
        <p:nvSpPr>
          <p:cNvPr id="25" name="Text 23"/>
          <p:cNvSpPr/>
          <p:nvPr/>
        </p:nvSpPr>
        <p:spPr>
          <a:xfrm>
            <a:off x="8938260" y="365760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B  </a:t>
            </a:r>
            <a:r>
              <a:rPr lang="en-US" sz="1050" dirty="0">
                <a:solidFill>
                  <a:srgbClr val="AEC3DD"/>
                </a:solidFill>
                <a:latin typeface="Calibri" pitchFamily="34" charset="0"/>
                <a:ea typeface="Calibri" pitchFamily="34" charset="-122"/>
                <a:cs typeface="Calibri" pitchFamily="34" charset="-120"/>
              </a:rPr>
              <a:t>Bus</a:t>
            </a:r>
            <a:endParaRPr lang="en-US" sz="1050" dirty="0"/>
          </a:p>
        </p:txBody>
      </p:sp>
      <p:sp>
        <p:nvSpPr>
          <p:cNvPr id="26" name="Text 24"/>
          <p:cNvSpPr/>
          <p:nvPr/>
        </p:nvSpPr>
        <p:spPr>
          <a:xfrm>
            <a:off x="6355080" y="404164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C  </a:t>
            </a:r>
            <a:r>
              <a:rPr lang="en-US" sz="1050" dirty="0">
                <a:solidFill>
                  <a:srgbClr val="AEC3DD"/>
                </a:solidFill>
                <a:latin typeface="Calibri" pitchFamily="34" charset="0"/>
                <a:ea typeface="Calibri" pitchFamily="34" charset="-122"/>
                <a:cs typeface="Calibri" pitchFamily="34" charset="-120"/>
              </a:rPr>
              <a:t>Mesh</a:t>
            </a:r>
            <a:endParaRPr lang="en-US" sz="1050" dirty="0"/>
          </a:p>
        </p:txBody>
      </p:sp>
      <p:sp>
        <p:nvSpPr>
          <p:cNvPr id="27" name="Text 25"/>
          <p:cNvSpPr/>
          <p:nvPr/>
        </p:nvSpPr>
        <p:spPr>
          <a:xfrm>
            <a:off x="8938260" y="404164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D  </a:t>
            </a:r>
            <a:r>
              <a:rPr lang="en-US" sz="1050" dirty="0">
                <a:solidFill>
                  <a:srgbClr val="AEC3DD"/>
                </a:solidFill>
                <a:latin typeface="Calibri" pitchFamily="34" charset="0"/>
                <a:ea typeface="Calibri" pitchFamily="34" charset="-122"/>
                <a:cs typeface="Calibri" pitchFamily="34" charset="-120"/>
              </a:rPr>
              <a:t>Ring</a:t>
            </a:r>
            <a:endParaRPr lang="en-US" sz="1050" dirty="0"/>
          </a:p>
        </p:txBody>
      </p:sp>
      <p:sp>
        <p:nvSpPr>
          <p:cNvPr id="28" name="Shape 26"/>
          <p:cNvSpPr/>
          <p:nvPr/>
        </p:nvSpPr>
        <p:spPr>
          <a:xfrm>
            <a:off x="548640" y="4709160"/>
            <a:ext cx="5440680" cy="1417320"/>
          </a:xfrm>
          <a:prstGeom prst="roundRect">
            <a:avLst>
              <a:gd name="adj" fmla="val 5161"/>
            </a:avLst>
          </a:prstGeom>
          <a:solidFill>
            <a:srgbClr val="13294B"/>
          </a:solidFill>
          <a:ln/>
        </p:spPr>
      </p:sp>
      <p:sp>
        <p:nvSpPr>
          <p:cNvPr id="29" name="Text 27"/>
          <p:cNvSpPr/>
          <p:nvPr/>
        </p:nvSpPr>
        <p:spPr>
          <a:xfrm>
            <a:off x="731520" y="4800600"/>
            <a:ext cx="5074920" cy="384048"/>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Q5.  Which address type is 00:1A:2B:3C:4D:5E?</a:t>
            </a:r>
            <a:endParaRPr lang="en-US" sz="1150" dirty="0"/>
          </a:p>
        </p:txBody>
      </p:sp>
      <p:sp>
        <p:nvSpPr>
          <p:cNvPr id="30" name="Text 28"/>
          <p:cNvSpPr/>
          <p:nvPr/>
        </p:nvSpPr>
        <p:spPr>
          <a:xfrm>
            <a:off x="731520" y="521208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A  </a:t>
            </a:r>
            <a:r>
              <a:rPr lang="en-US" sz="1050" dirty="0">
                <a:solidFill>
                  <a:srgbClr val="AEC3DD"/>
                </a:solidFill>
                <a:latin typeface="Calibri" pitchFamily="34" charset="0"/>
                <a:ea typeface="Calibri" pitchFamily="34" charset="-122"/>
                <a:cs typeface="Calibri" pitchFamily="34" charset="-120"/>
              </a:rPr>
              <a:t>IP</a:t>
            </a:r>
            <a:endParaRPr lang="en-US" sz="1050" dirty="0"/>
          </a:p>
        </p:txBody>
      </p:sp>
      <p:sp>
        <p:nvSpPr>
          <p:cNvPr id="31" name="Text 29"/>
          <p:cNvSpPr/>
          <p:nvPr/>
        </p:nvSpPr>
        <p:spPr>
          <a:xfrm>
            <a:off x="3314700" y="521208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B  </a:t>
            </a:r>
            <a:r>
              <a:rPr lang="en-US" sz="1050" dirty="0">
                <a:solidFill>
                  <a:srgbClr val="AEC3DD"/>
                </a:solidFill>
                <a:latin typeface="Calibri" pitchFamily="34" charset="0"/>
                <a:ea typeface="Calibri" pitchFamily="34" charset="-122"/>
                <a:cs typeface="Calibri" pitchFamily="34" charset="-120"/>
              </a:rPr>
              <a:t>MAC</a:t>
            </a:r>
            <a:endParaRPr lang="en-US" sz="1050" dirty="0"/>
          </a:p>
        </p:txBody>
      </p:sp>
      <p:sp>
        <p:nvSpPr>
          <p:cNvPr id="32" name="Text 30"/>
          <p:cNvSpPr/>
          <p:nvPr/>
        </p:nvSpPr>
        <p:spPr>
          <a:xfrm>
            <a:off x="731520" y="559612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C  </a:t>
            </a:r>
            <a:r>
              <a:rPr lang="en-US" sz="1050" dirty="0">
                <a:solidFill>
                  <a:srgbClr val="AEC3DD"/>
                </a:solidFill>
                <a:latin typeface="Calibri" pitchFamily="34" charset="0"/>
                <a:ea typeface="Calibri" pitchFamily="34" charset="-122"/>
                <a:cs typeface="Calibri" pitchFamily="34" charset="-120"/>
              </a:rPr>
              <a:t>Gateway</a:t>
            </a:r>
            <a:endParaRPr lang="en-US" sz="1050" dirty="0"/>
          </a:p>
        </p:txBody>
      </p:sp>
      <p:sp>
        <p:nvSpPr>
          <p:cNvPr id="33" name="Text 31"/>
          <p:cNvSpPr/>
          <p:nvPr/>
        </p:nvSpPr>
        <p:spPr>
          <a:xfrm>
            <a:off x="3314700" y="559612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D  </a:t>
            </a:r>
            <a:r>
              <a:rPr lang="en-US" sz="1050" dirty="0">
                <a:solidFill>
                  <a:srgbClr val="AEC3DD"/>
                </a:solidFill>
                <a:latin typeface="Calibri" pitchFamily="34" charset="0"/>
                <a:ea typeface="Calibri" pitchFamily="34" charset="-122"/>
                <a:cs typeface="Calibri" pitchFamily="34" charset="-120"/>
              </a:rPr>
              <a:t>Subnet</a:t>
            </a:r>
            <a:endParaRPr lang="en-US" sz="1050" dirty="0"/>
          </a:p>
        </p:txBody>
      </p:sp>
      <p:sp>
        <p:nvSpPr>
          <p:cNvPr id="34" name="Shape 32"/>
          <p:cNvSpPr/>
          <p:nvPr/>
        </p:nvSpPr>
        <p:spPr>
          <a:xfrm>
            <a:off x="6172200" y="4709160"/>
            <a:ext cx="5440680" cy="1417320"/>
          </a:xfrm>
          <a:prstGeom prst="roundRect">
            <a:avLst>
              <a:gd name="adj" fmla="val 5161"/>
            </a:avLst>
          </a:prstGeom>
          <a:solidFill>
            <a:srgbClr val="13294B"/>
          </a:solidFill>
          <a:ln/>
        </p:spPr>
      </p:sp>
      <p:sp>
        <p:nvSpPr>
          <p:cNvPr id="35" name="Text 33"/>
          <p:cNvSpPr/>
          <p:nvPr/>
        </p:nvSpPr>
        <p:spPr>
          <a:xfrm>
            <a:off x="6355080" y="4800600"/>
            <a:ext cx="5074920" cy="384048"/>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Q6.  Which casting type sends to the nearest of several servers?</a:t>
            </a:r>
            <a:endParaRPr lang="en-US" sz="1150" dirty="0"/>
          </a:p>
        </p:txBody>
      </p:sp>
      <p:sp>
        <p:nvSpPr>
          <p:cNvPr id="36" name="Text 34"/>
          <p:cNvSpPr/>
          <p:nvPr/>
        </p:nvSpPr>
        <p:spPr>
          <a:xfrm>
            <a:off x="6355080" y="521208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A  </a:t>
            </a:r>
            <a:r>
              <a:rPr lang="en-US" sz="1050" dirty="0">
                <a:solidFill>
                  <a:srgbClr val="AEC3DD"/>
                </a:solidFill>
                <a:latin typeface="Calibri" pitchFamily="34" charset="0"/>
                <a:ea typeface="Calibri" pitchFamily="34" charset="-122"/>
                <a:cs typeface="Calibri" pitchFamily="34" charset="-120"/>
              </a:rPr>
              <a:t>Unicast</a:t>
            </a:r>
            <a:endParaRPr lang="en-US" sz="1050" dirty="0"/>
          </a:p>
        </p:txBody>
      </p:sp>
      <p:sp>
        <p:nvSpPr>
          <p:cNvPr id="37" name="Text 35"/>
          <p:cNvSpPr/>
          <p:nvPr/>
        </p:nvSpPr>
        <p:spPr>
          <a:xfrm>
            <a:off x="8938260" y="5212080"/>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B  </a:t>
            </a:r>
            <a:r>
              <a:rPr lang="en-US" sz="1050" dirty="0">
                <a:solidFill>
                  <a:srgbClr val="AEC3DD"/>
                </a:solidFill>
                <a:latin typeface="Calibri" pitchFamily="34" charset="0"/>
                <a:ea typeface="Calibri" pitchFamily="34" charset="-122"/>
                <a:cs typeface="Calibri" pitchFamily="34" charset="-120"/>
              </a:rPr>
              <a:t>Multicast</a:t>
            </a:r>
            <a:endParaRPr lang="en-US" sz="1050" dirty="0"/>
          </a:p>
        </p:txBody>
      </p:sp>
      <p:sp>
        <p:nvSpPr>
          <p:cNvPr id="38" name="Text 36"/>
          <p:cNvSpPr/>
          <p:nvPr/>
        </p:nvSpPr>
        <p:spPr>
          <a:xfrm>
            <a:off x="6355080" y="559612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C  </a:t>
            </a:r>
            <a:r>
              <a:rPr lang="en-US" sz="1050" dirty="0">
                <a:solidFill>
                  <a:srgbClr val="AEC3DD"/>
                </a:solidFill>
                <a:latin typeface="Calibri" pitchFamily="34" charset="0"/>
                <a:ea typeface="Calibri" pitchFamily="34" charset="-122"/>
                <a:cs typeface="Calibri" pitchFamily="34" charset="-120"/>
              </a:rPr>
              <a:t>Broadcast</a:t>
            </a:r>
            <a:endParaRPr lang="en-US" sz="1050" dirty="0"/>
          </a:p>
        </p:txBody>
      </p:sp>
      <p:sp>
        <p:nvSpPr>
          <p:cNvPr id="39" name="Text 37"/>
          <p:cNvSpPr/>
          <p:nvPr/>
        </p:nvSpPr>
        <p:spPr>
          <a:xfrm>
            <a:off x="8938260" y="5596128"/>
            <a:ext cx="2537460" cy="320040"/>
          </a:xfrm>
          <a:prstGeom prst="rect">
            <a:avLst/>
          </a:prstGeom>
          <a:noFill/>
          <a:ln/>
        </p:spPr>
        <p:txBody>
          <a:bodyPr wrap="square" lIns="0" tIns="0" rIns="0" bIns="0" rtlCol="0" anchor="ctr"/>
          <a:lstStyle/>
          <a:p>
            <a:pPr marL="0" indent="0">
              <a:buNone/>
            </a:pPr>
            <a:r>
              <a:rPr lang="en-US" sz="1050" b="1" dirty="0">
                <a:solidFill>
                  <a:srgbClr val="22D3EE"/>
                </a:solidFill>
                <a:latin typeface="Calibri" pitchFamily="34" charset="0"/>
                <a:ea typeface="Calibri" pitchFamily="34" charset="-122"/>
                <a:cs typeface="Calibri" pitchFamily="34" charset="-120"/>
              </a:rPr>
              <a:t>D  </a:t>
            </a:r>
            <a:r>
              <a:rPr lang="en-US" sz="1050" dirty="0">
                <a:solidFill>
                  <a:srgbClr val="AEC3DD"/>
                </a:solidFill>
                <a:latin typeface="Calibri" pitchFamily="34" charset="0"/>
                <a:ea typeface="Calibri" pitchFamily="34" charset="-122"/>
                <a:cs typeface="Calibri" pitchFamily="34" charset="-120"/>
              </a:rPr>
              <a:t>Anycast</a:t>
            </a:r>
            <a:endParaRPr lang="en-US" sz="1050" dirty="0"/>
          </a:p>
        </p:txBody>
      </p:sp>
      <p:sp>
        <p:nvSpPr>
          <p:cNvPr id="40" name="Text 38"/>
          <p:cNvSpPr/>
          <p:nvPr/>
        </p:nvSpPr>
        <p:spPr>
          <a:xfrm>
            <a:off x="548640" y="6355080"/>
            <a:ext cx="10972800" cy="274320"/>
          </a:xfrm>
          <a:prstGeom prst="rect">
            <a:avLst/>
          </a:prstGeom>
          <a:noFill/>
          <a:ln/>
        </p:spPr>
        <p:txBody>
          <a:bodyPr wrap="square" rtlCol="0" anchor="ctr"/>
          <a:lstStyle/>
          <a:p>
            <a:pPr marL="0" indent="0">
              <a:buNone/>
            </a:pPr>
            <a:r>
              <a:rPr lang="en-US" sz="950" i="1" dirty="0">
                <a:solidFill>
                  <a:srgbClr val="7E93B3"/>
                </a:solidFill>
                <a:latin typeface="Calibri" pitchFamily="34" charset="0"/>
                <a:ea typeface="Calibri" pitchFamily="34" charset="-122"/>
                <a:cs typeface="Calibri" pitchFamily="34" charset="-120"/>
              </a:rPr>
              <a:t>Answer key: see speaker notes.</a:t>
            </a:r>
            <a:endParaRPr lang="en-US" sz="950" dirty="0"/>
          </a:p>
        </p:txBody>
      </p:sp>
      <p:sp>
        <p:nvSpPr>
          <p:cNvPr id="41" name="Text 3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21</a:t>
            </a:r>
            <a:endParaRPr lang="en-US" sz="1000" dirty="0"/>
          </a:p>
        </p:txBody>
      </p:sp>
      <p:sp>
        <p:nvSpPr>
          <p:cNvPr id="42" name="Text 40"/>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48640" y="621792"/>
            <a:ext cx="1106424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Summary</a:t>
            </a:r>
            <a:endParaRPr lang="en-US" sz="3200" dirty="0"/>
          </a:p>
        </p:txBody>
      </p:sp>
      <p:sp>
        <p:nvSpPr>
          <p:cNvPr id="4" name="Shape 2"/>
          <p:cNvSpPr/>
          <p:nvPr/>
        </p:nvSpPr>
        <p:spPr>
          <a:xfrm>
            <a:off x="548640" y="1828800"/>
            <a:ext cx="2651760" cy="1737360"/>
          </a:xfrm>
          <a:prstGeom prst="roundRect">
            <a:avLst>
              <a:gd name="adj" fmla="val 4737"/>
            </a:avLst>
          </a:prstGeom>
          <a:solidFill>
            <a:srgbClr val="13294B"/>
          </a:solidFill>
          <a:ln/>
        </p:spPr>
      </p:sp>
      <p:sp>
        <p:nvSpPr>
          <p:cNvPr id="5" name="Shape 3"/>
          <p:cNvSpPr/>
          <p:nvPr/>
        </p:nvSpPr>
        <p:spPr>
          <a:xfrm>
            <a:off x="1623060" y="2080260"/>
            <a:ext cx="502920" cy="502920"/>
          </a:xfrm>
          <a:prstGeom prst="ellipse">
            <a:avLst/>
          </a:prstGeom>
          <a:solidFill>
            <a:srgbClr val="0891B2"/>
          </a:solidFill>
          <a:ln/>
        </p:spPr>
      </p:sp>
      <p:sp>
        <p:nvSpPr>
          <p:cNvPr id="6" name="Text 4"/>
          <p:cNvSpPr/>
          <p:nvPr/>
        </p:nvSpPr>
        <p:spPr>
          <a:xfrm>
            <a:off x="1623060" y="20802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85800" y="2743200"/>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Networking Basics</a:t>
            </a:r>
            <a:endParaRPr lang="en-US" sz="1250" dirty="0"/>
          </a:p>
        </p:txBody>
      </p:sp>
      <p:sp>
        <p:nvSpPr>
          <p:cNvPr id="8" name="Shape 6"/>
          <p:cNvSpPr/>
          <p:nvPr/>
        </p:nvSpPr>
        <p:spPr>
          <a:xfrm>
            <a:off x="3383280" y="1828800"/>
            <a:ext cx="2651760" cy="1737360"/>
          </a:xfrm>
          <a:prstGeom prst="roundRect">
            <a:avLst>
              <a:gd name="adj" fmla="val 4737"/>
            </a:avLst>
          </a:prstGeom>
          <a:solidFill>
            <a:srgbClr val="13294B"/>
          </a:solidFill>
          <a:ln/>
        </p:spPr>
      </p:sp>
      <p:sp>
        <p:nvSpPr>
          <p:cNvPr id="9" name="Shape 7"/>
          <p:cNvSpPr/>
          <p:nvPr/>
        </p:nvSpPr>
        <p:spPr>
          <a:xfrm>
            <a:off x="4457700" y="2080260"/>
            <a:ext cx="502920" cy="502920"/>
          </a:xfrm>
          <a:prstGeom prst="ellipse">
            <a:avLst/>
          </a:prstGeom>
          <a:solidFill>
            <a:srgbClr val="0891B2"/>
          </a:solidFill>
          <a:ln/>
        </p:spPr>
      </p:sp>
      <p:sp>
        <p:nvSpPr>
          <p:cNvPr id="10" name="Text 8"/>
          <p:cNvSpPr/>
          <p:nvPr/>
        </p:nvSpPr>
        <p:spPr>
          <a:xfrm>
            <a:off x="4457700" y="20802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3520440" y="2743200"/>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Network Types</a:t>
            </a:r>
            <a:endParaRPr lang="en-US" sz="1250" dirty="0"/>
          </a:p>
        </p:txBody>
      </p:sp>
      <p:sp>
        <p:nvSpPr>
          <p:cNvPr id="12" name="Shape 10"/>
          <p:cNvSpPr/>
          <p:nvPr/>
        </p:nvSpPr>
        <p:spPr>
          <a:xfrm>
            <a:off x="6217920" y="1828800"/>
            <a:ext cx="2651760" cy="1737360"/>
          </a:xfrm>
          <a:prstGeom prst="roundRect">
            <a:avLst>
              <a:gd name="adj" fmla="val 4737"/>
            </a:avLst>
          </a:prstGeom>
          <a:solidFill>
            <a:srgbClr val="13294B"/>
          </a:solidFill>
          <a:ln/>
        </p:spPr>
      </p:sp>
      <p:sp>
        <p:nvSpPr>
          <p:cNvPr id="13" name="Shape 11"/>
          <p:cNvSpPr/>
          <p:nvPr/>
        </p:nvSpPr>
        <p:spPr>
          <a:xfrm>
            <a:off x="7292340" y="2080260"/>
            <a:ext cx="502920" cy="502920"/>
          </a:xfrm>
          <a:prstGeom prst="ellipse">
            <a:avLst/>
          </a:prstGeom>
          <a:solidFill>
            <a:srgbClr val="0891B2"/>
          </a:solidFill>
          <a:ln/>
        </p:spPr>
      </p:sp>
      <p:sp>
        <p:nvSpPr>
          <p:cNvPr id="14" name="Text 12"/>
          <p:cNvSpPr/>
          <p:nvPr/>
        </p:nvSpPr>
        <p:spPr>
          <a:xfrm>
            <a:off x="7292340" y="20802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6355080" y="2743200"/>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Network Devices</a:t>
            </a:r>
            <a:endParaRPr lang="en-US" sz="1250" dirty="0"/>
          </a:p>
        </p:txBody>
      </p:sp>
      <p:sp>
        <p:nvSpPr>
          <p:cNvPr id="16" name="Shape 14"/>
          <p:cNvSpPr/>
          <p:nvPr/>
        </p:nvSpPr>
        <p:spPr>
          <a:xfrm>
            <a:off x="9052560" y="1828800"/>
            <a:ext cx="2651760" cy="1737360"/>
          </a:xfrm>
          <a:prstGeom prst="roundRect">
            <a:avLst>
              <a:gd name="adj" fmla="val 4737"/>
            </a:avLst>
          </a:prstGeom>
          <a:solidFill>
            <a:srgbClr val="13294B"/>
          </a:solidFill>
          <a:ln/>
        </p:spPr>
      </p:sp>
      <p:sp>
        <p:nvSpPr>
          <p:cNvPr id="17" name="Shape 15"/>
          <p:cNvSpPr/>
          <p:nvPr/>
        </p:nvSpPr>
        <p:spPr>
          <a:xfrm>
            <a:off x="10126980" y="2080260"/>
            <a:ext cx="502920" cy="502920"/>
          </a:xfrm>
          <a:prstGeom prst="ellipse">
            <a:avLst/>
          </a:prstGeom>
          <a:solidFill>
            <a:srgbClr val="0891B2"/>
          </a:solidFill>
          <a:ln/>
        </p:spPr>
      </p:sp>
      <p:sp>
        <p:nvSpPr>
          <p:cNvPr id="18" name="Text 16"/>
          <p:cNvSpPr/>
          <p:nvPr/>
        </p:nvSpPr>
        <p:spPr>
          <a:xfrm>
            <a:off x="10126980" y="20802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9189720" y="2743200"/>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Topologies</a:t>
            </a:r>
            <a:endParaRPr lang="en-US" sz="1250" dirty="0"/>
          </a:p>
        </p:txBody>
      </p:sp>
      <p:sp>
        <p:nvSpPr>
          <p:cNvPr id="20" name="Shape 18"/>
          <p:cNvSpPr/>
          <p:nvPr/>
        </p:nvSpPr>
        <p:spPr>
          <a:xfrm>
            <a:off x="548640" y="3767328"/>
            <a:ext cx="2651760" cy="1737360"/>
          </a:xfrm>
          <a:prstGeom prst="roundRect">
            <a:avLst>
              <a:gd name="adj" fmla="val 4737"/>
            </a:avLst>
          </a:prstGeom>
          <a:solidFill>
            <a:srgbClr val="13294B"/>
          </a:solidFill>
          <a:ln/>
        </p:spPr>
      </p:sp>
      <p:sp>
        <p:nvSpPr>
          <p:cNvPr id="21" name="Shape 19"/>
          <p:cNvSpPr/>
          <p:nvPr/>
        </p:nvSpPr>
        <p:spPr>
          <a:xfrm>
            <a:off x="1623060" y="4018788"/>
            <a:ext cx="502920" cy="502920"/>
          </a:xfrm>
          <a:prstGeom prst="ellipse">
            <a:avLst/>
          </a:prstGeom>
          <a:solidFill>
            <a:srgbClr val="0891B2"/>
          </a:solidFill>
          <a:ln/>
        </p:spPr>
      </p:sp>
      <p:sp>
        <p:nvSpPr>
          <p:cNvPr id="22" name="Text 20"/>
          <p:cNvSpPr/>
          <p:nvPr/>
        </p:nvSpPr>
        <p:spPr>
          <a:xfrm>
            <a:off x="1623060" y="40187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685800" y="4681728"/>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IP &amp; MAC Addressing</a:t>
            </a:r>
            <a:endParaRPr lang="en-US" sz="1250" dirty="0"/>
          </a:p>
        </p:txBody>
      </p:sp>
      <p:sp>
        <p:nvSpPr>
          <p:cNvPr id="24" name="Shape 22"/>
          <p:cNvSpPr/>
          <p:nvPr/>
        </p:nvSpPr>
        <p:spPr>
          <a:xfrm>
            <a:off x="3383280" y="3767328"/>
            <a:ext cx="2651760" cy="1737360"/>
          </a:xfrm>
          <a:prstGeom prst="roundRect">
            <a:avLst>
              <a:gd name="adj" fmla="val 4737"/>
            </a:avLst>
          </a:prstGeom>
          <a:solidFill>
            <a:srgbClr val="13294B"/>
          </a:solidFill>
          <a:ln/>
        </p:spPr>
      </p:sp>
      <p:sp>
        <p:nvSpPr>
          <p:cNvPr id="25" name="Shape 23"/>
          <p:cNvSpPr/>
          <p:nvPr/>
        </p:nvSpPr>
        <p:spPr>
          <a:xfrm>
            <a:off x="4457700" y="4018788"/>
            <a:ext cx="502920" cy="502920"/>
          </a:xfrm>
          <a:prstGeom prst="ellipse">
            <a:avLst/>
          </a:prstGeom>
          <a:solidFill>
            <a:srgbClr val="0891B2"/>
          </a:solidFill>
          <a:ln/>
        </p:spPr>
      </p:sp>
      <p:sp>
        <p:nvSpPr>
          <p:cNvPr id="26" name="Text 24"/>
          <p:cNvSpPr/>
          <p:nvPr/>
        </p:nvSpPr>
        <p:spPr>
          <a:xfrm>
            <a:off x="4457700" y="40187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3520440" y="4681728"/>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Protocols</a:t>
            </a:r>
            <a:endParaRPr lang="en-US" sz="1250" dirty="0"/>
          </a:p>
        </p:txBody>
      </p:sp>
      <p:sp>
        <p:nvSpPr>
          <p:cNvPr id="28" name="Shape 26"/>
          <p:cNvSpPr/>
          <p:nvPr/>
        </p:nvSpPr>
        <p:spPr>
          <a:xfrm>
            <a:off x="6217920" y="3767328"/>
            <a:ext cx="2651760" cy="1737360"/>
          </a:xfrm>
          <a:prstGeom prst="roundRect">
            <a:avLst>
              <a:gd name="adj" fmla="val 4737"/>
            </a:avLst>
          </a:prstGeom>
          <a:solidFill>
            <a:srgbClr val="13294B"/>
          </a:solidFill>
          <a:ln/>
        </p:spPr>
      </p:sp>
      <p:sp>
        <p:nvSpPr>
          <p:cNvPr id="29" name="Shape 27"/>
          <p:cNvSpPr/>
          <p:nvPr/>
        </p:nvSpPr>
        <p:spPr>
          <a:xfrm>
            <a:off x="7292340" y="4018788"/>
            <a:ext cx="502920" cy="502920"/>
          </a:xfrm>
          <a:prstGeom prst="ellipse">
            <a:avLst/>
          </a:prstGeom>
          <a:solidFill>
            <a:srgbClr val="0891B2"/>
          </a:solidFill>
          <a:ln/>
        </p:spPr>
      </p:sp>
      <p:sp>
        <p:nvSpPr>
          <p:cNvPr id="30" name="Text 28"/>
          <p:cNvSpPr/>
          <p:nvPr/>
        </p:nvSpPr>
        <p:spPr>
          <a:xfrm>
            <a:off x="7292340" y="40187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6355080" y="4681728"/>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Troubleshooting Commands</a:t>
            </a:r>
            <a:endParaRPr lang="en-US" sz="1250" dirty="0"/>
          </a:p>
        </p:txBody>
      </p:sp>
      <p:sp>
        <p:nvSpPr>
          <p:cNvPr id="32" name="Shape 30"/>
          <p:cNvSpPr/>
          <p:nvPr/>
        </p:nvSpPr>
        <p:spPr>
          <a:xfrm>
            <a:off x="9052560" y="3767328"/>
            <a:ext cx="2651760" cy="1737360"/>
          </a:xfrm>
          <a:prstGeom prst="roundRect">
            <a:avLst>
              <a:gd name="adj" fmla="val 4737"/>
            </a:avLst>
          </a:prstGeom>
          <a:solidFill>
            <a:srgbClr val="13294B"/>
          </a:solidFill>
          <a:ln/>
        </p:spPr>
      </p:sp>
      <p:sp>
        <p:nvSpPr>
          <p:cNvPr id="33" name="Shape 31"/>
          <p:cNvSpPr/>
          <p:nvPr/>
        </p:nvSpPr>
        <p:spPr>
          <a:xfrm>
            <a:off x="10126980" y="4018788"/>
            <a:ext cx="502920" cy="502920"/>
          </a:xfrm>
          <a:prstGeom prst="ellipse">
            <a:avLst/>
          </a:prstGeom>
          <a:solidFill>
            <a:srgbClr val="0891B2"/>
          </a:solidFill>
          <a:ln/>
        </p:spPr>
      </p:sp>
      <p:sp>
        <p:nvSpPr>
          <p:cNvPr id="34" name="Text 32"/>
          <p:cNvSpPr/>
          <p:nvPr/>
        </p:nvSpPr>
        <p:spPr>
          <a:xfrm>
            <a:off x="10126980" y="40187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p:nvPr/>
        </p:nvSpPr>
        <p:spPr>
          <a:xfrm>
            <a:off x="9189720" y="4681728"/>
            <a:ext cx="2377440" cy="68580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Cybersecurity Importance</a:t>
            </a:r>
            <a:endParaRPr lang="en-US" sz="1250" dirty="0"/>
          </a:p>
        </p:txBody>
      </p:sp>
      <p:sp>
        <p:nvSpPr>
          <p:cNvPr id="36" name="Shape 34"/>
          <p:cNvSpPr/>
          <p:nvPr/>
        </p:nvSpPr>
        <p:spPr>
          <a:xfrm>
            <a:off x="548640" y="5623560"/>
            <a:ext cx="11091672" cy="566928"/>
          </a:xfrm>
          <a:prstGeom prst="roundRect">
            <a:avLst>
              <a:gd name="adj" fmla="val 12903"/>
            </a:avLst>
          </a:prstGeom>
          <a:solidFill>
            <a:srgbClr val="0F2140"/>
          </a:solidFill>
          <a:ln w="12700">
            <a:solidFill>
              <a:srgbClr val="0891B2"/>
            </a:solidFill>
            <a:prstDash val="solid"/>
          </a:ln>
        </p:spPr>
      </p:sp>
      <p:sp>
        <p:nvSpPr>
          <p:cNvPr id="37" name="Text 35"/>
          <p:cNvSpPr/>
          <p:nvPr/>
        </p:nvSpPr>
        <p:spPr>
          <a:xfrm>
            <a:off x="777240" y="5623560"/>
            <a:ext cx="10634472" cy="566928"/>
          </a:xfrm>
          <a:prstGeom prst="rect">
            <a:avLst/>
          </a:prstGeom>
          <a:noFill/>
          <a:ln/>
        </p:spPr>
        <p:txBody>
          <a:bodyPr wrap="square" lIns="0" tIns="0" rIns="0" bIns="0" rtlCol="0" anchor="ctr"/>
          <a:lstStyle/>
          <a:p>
            <a:pPr marL="0" indent="0">
              <a:buNone/>
            </a:pPr>
            <a:r>
              <a:rPr lang="en-US" sz="1100" b="1" dirty="0">
                <a:solidFill>
                  <a:srgbClr val="22D3EE"/>
                </a:solidFill>
                <a:latin typeface="Calibri" pitchFamily="34" charset="0"/>
                <a:ea typeface="Calibri" pitchFamily="34" charset="-122"/>
                <a:cs typeface="Calibri" pitchFamily="34" charset="-120"/>
              </a:rPr>
              <a:t>KEY TAKEAWAY   </a:t>
            </a:r>
            <a:r>
              <a:rPr lang="en-US" sz="1200" dirty="0">
                <a:solidFill>
                  <a:srgbClr val="AEC3DD"/>
                </a:solidFill>
                <a:latin typeface="Calibri" pitchFamily="34" charset="0"/>
                <a:ea typeface="Calibri" pitchFamily="34" charset="-122"/>
                <a:cs typeface="Calibri" pitchFamily="34" charset="-120"/>
              </a:rPr>
              <a:t>Master these eight pillars and you have the foundation to secure, monitor, and troubleshoot any network with confidence.</a:t>
            </a:r>
            <a:endParaRPr lang="en-US" sz="1100" dirty="0"/>
          </a:p>
        </p:txBody>
      </p:sp>
      <p:sp>
        <p:nvSpPr>
          <p:cNvPr id="38" name="Text 3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7E93B3"/>
                </a:solidFill>
                <a:latin typeface="Calibri" pitchFamily="34" charset="0"/>
                <a:ea typeface="Calibri" pitchFamily="34" charset="-122"/>
                <a:cs typeface="Calibri" pitchFamily="34" charset="-120"/>
              </a:rPr>
              <a:t>22</a:t>
            </a:r>
            <a:endParaRPr lang="en-US" sz="1000" dirty="0"/>
          </a:p>
        </p:txBody>
      </p:sp>
      <p:sp>
        <p:nvSpPr>
          <p:cNvPr id="39" name="Text 37"/>
          <p:cNvSpPr/>
          <p:nvPr/>
        </p:nvSpPr>
        <p:spPr>
          <a:xfrm>
            <a:off x="548640" y="6473952"/>
            <a:ext cx="4572000" cy="274320"/>
          </a:xfrm>
          <a:prstGeom prst="rect">
            <a:avLst/>
          </a:prstGeom>
          <a:noFill/>
          <a:ln/>
        </p:spPr>
        <p:txBody>
          <a:bodyPr wrap="square" rtlCol="0" anchor="ctr"/>
          <a:lstStyle/>
          <a:p>
            <a:pPr marL="0" indent="0">
              <a:buNone/>
            </a:pPr>
            <a:r>
              <a:rPr lang="en-US" sz="900" kern="0" spc="100" dirty="0">
                <a:solidFill>
                  <a:srgbClr val="7E93B3"/>
                </a:solidFill>
                <a:latin typeface="Calibri" pitchFamily="34" charset="0"/>
                <a:ea typeface="Calibri" pitchFamily="34" charset="-122"/>
                <a:cs typeface="Calibri" pitchFamily="34" charset="-120"/>
              </a:rPr>
              <a:t>NETWORKING REFRESHER</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flipV="1">
            <a:off x="1828800" y="822960"/>
            <a:ext cx="1280160" cy="365760"/>
          </a:xfrm>
          <a:prstGeom prst="line">
            <a:avLst/>
          </a:prstGeom>
          <a:noFill/>
          <a:ln w="15875">
            <a:solidFill>
              <a:srgbClr val="0891B2"/>
            </a:solidFill>
            <a:prstDash val="solid"/>
          </a:ln>
        </p:spPr>
      </p:sp>
      <p:sp>
        <p:nvSpPr>
          <p:cNvPr id="3" name="Shape 1"/>
          <p:cNvSpPr/>
          <p:nvPr/>
        </p:nvSpPr>
        <p:spPr>
          <a:xfrm>
            <a:off x="1097280" y="1188720"/>
            <a:ext cx="731520" cy="1097280"/>
          </a:xfrm>
          <a:prstGeom prst="line">
            <a:avLst/>
          </a:prstGeom>
          <a:noFill/>
          <a:ln w="15875">
            <a:solidFill>
              <a:srgbClr val="0891B2"/>
            </a:solidFill>
            <a:prstDash val="solid"/>
          </a:ln>
        </p:spPr>
      </p:sp>
      <p:sp>
        <p:nvSpPr>
          <p:cNvPr id="4" name="Shape 2"/>
          <p:cNvSpPr/>
          <p:nvPr/>
        </p:nvSpPr>
        <p:spPr>
          <a:xfrm>
            <a:off x="1828800" y="1188720"/>
            <a:ext cx="914400" cy="1005840"/>
          </a:xfrm>
          <a:prstGeom prst="line">
            <a:avLst/>
          </a:prstGeom>
          <a:noFill/>
          <a:ln w="15875">
            <a:solidFill>
              <a:srgbClr val="0891B2"/>
            </a:solidFill>
            <a:prstDash val="solid"/>
          </a:ln>
        </p:spPr>
      </p:sp>
      <p:sp>
        <p:nvSpPr>
          <p:cNvPr id="5" name="Shape 3"/>
          <p:cNvSpPr/>
          <p:nvPr/>
        </p:nvSpPr>
        <p:spPr>
          <a:xfrm flipV="1">
            <a:off x="2743200" y="1737360"/>
            <a:ext cx="1280160" cy="457200"/>
          </a:xfrm>
          <a:prstGeom prst="line">
            <a:avLst/>
          </a:prstGeom>
          <a:noFill/>
          <a:ln w="15875">
            <a:solidFill>
              <a:srgbClr val="0891B2"/>
            </a:solidFill>
            <a:prstDash val="solid"/>
          </a:ln>
        </p:spPr>
      </p:sp>
      <p:sp>
        <p:nvSpPr>
          <p:cNvPr id="6" name="Shape 4"/>
          <p:cNvSpPr/>
          <p:nvPr/>
        </p:nvSpPr>
        <p:spPr>
          <a:xfrm flipV="1">
            <a:off x="9692640" y="4754880"/>
            <a:ext cx="1280160" cy="365760"/>
          </a:xfrm>
          <a:prstGeom prst="line">
            <a:avLst/>
          </a:prstGeom>
          <a:noFill/>
          <a:ln w="15875">
            <a:solidFill>
              <a:srgbClr val="0891B2"/>
            </a:solidFill>
            <a:prstDash val="solid"/>
          </a:ln>
        </p:spPr>
      </p:sp>
      <p:sp>
        <p:nvSpPr>
          <p:cNvPr id="7" name="Shape 5"/>
          <p:cNvSpPr/>
          <p:nvPr/>
        </p:nvSpPr>
        <p:spPr>
          <a:xfrm>
            <a:off x="9692640" y="5120640"/>
            <a:ext cx="731520" cy="731520"/>
          </a:xfrm>
          <a:prstGeom prst="line">
            <a:avLst/>
          </a:prstGeom>
          <a:noFill/>
          <a:ln w="15875">
            <a:solidFill>
              <a:srgbClr val="0891B2"/>
            </a:solidFill>
            <a:prstDash val="solid"/>
          </a:ln>
        </p:spPr>
      </p:sp>
      <p:sp>
        <p:nvSpPr>
          <p:cNvPr id="8" name="Shape 6"/>
          <p:cNvSpPr/>
          <p:nvPr/>
        </p:nvSpPr>
        <p:spPr>
          <a:xfrm flipV="1">
            <a:off x="9052560" y="5669280"/>
            <a:ext cx="1371600" cy="182880"/>
          </a:xfrm>
          <a:prstGeom prst="line">
            <a:avLst/>
          </a:prstGeom>
          <a:noFill/>
          <a:ln w="15875">
            <a:solidFill>
              <a:srgbClr val="0891B2"/>
            </a:solidFill>
            <a:prstDash val="solid"/>
          </a:ln>
        </p:spPr>
      </p:sp>
      <p:sp>
        <p:nvSpPr>
          <p:cNvPr id="9" name="Shape 7"/>
          <p:cNvSpPr/>
          <p:nvPr/>
        </p:nvSpPr>
        <p:spPr>
          <a:xfrm>
            <a:off x="1764792" y="1124712"/>
            <a:ext cx="128016" cy="128016"/>
          </a:xfrm>
          <a:prstGeom prst="ellipse">
            <a:avLst/>
          </a:prstGeom>
          <a:solidFill>
            <a:srgbClr val="22D3EE"/>
          </a:solidFill>
          <a:ln w="19050">
            <a:solidFill>
              <a:srgbClr val="0A1628"/>
            </a:solidFill>
            <a:prstDash val="solid"/>
          </a:ln>
        </p:spPr>
      </p:sp>
      <p:sp>
        <p:nvSpPr>
          <p:cNvPr id="10" name="Shape 8"/>
          <p:cNvSpPr/>
          <p:nvPr/>
        </p:nvSpPr>
        <p:spPr>
          <a:xfrm>
            <a:off x="3044952" y="758952"/>
            <a:ext cx="128016" cy="128016"/>
          </a:xfrm>
          <a:prstGeom prst="ellipse">
            <a:avLst/>
          </a:prstGeom>
          <a:solidFill>
            <a:srgbClr val="0891B2"/>
          </a:solidFill>
          <a:ln w="19050">
            <a:solidFill>
              <a:srgbClr val="0A1628"/>
            </a:solidFill>
            <a:prstDash val="solid"/>
          </a:ln>
        </p:spPr>
      </p:sp>
      <p:sp>
        <p:nvSpPr>
          <p:cNvPr id="11" name="Shape 9"/>
          <p:cNvSpPr/>
          <p:nvPr/>
        </p:nvSpPr>
        <p:spPr>
          <a:xfrm>
            <a:off x="1033272" y="2221992"/>
            <a:ext cx="128016" cy="128016"/>
          </a:xfrm>
          <a:prstGeom prst="ellipse">
            <a:avLst/>
          </a:prstGeom>
          <a:solidFill>
            <a:srgbClr val="0891B2"/>
          </a:solidFill>
          <a:ln w="19050">
            <a:solidFill>
              <a:srgbClr val="0A1628"/>
            </a:solidFill>
            <a:prstDash val="solid"/>
          </a:ln>
        </p:spPr>
      </p:sp>
      <p:sp>
        <p:nvSpPr>
          <p:cNvPr id="12" name="Shape 10"/>
          <p:cNvSpPr/>
          <p:nvPr/>
        </p:nvSpPr>
        <p:spPr>
          <a:xfrm>
            <a:off x="2679192" y="2130552"/>
            <a:ext cx="128016" cy="128016"/>
          </a:xfrm>
          <a:prstGeom prst="ellipse">
            <a:avLst/>
          </a:prstGeom>
          <a:solidFill>
            <a:srgbClr val="22D3EE"/>
          </a:solidFill>
          <a:ln w="19050">
            <a:solidFill>
              <a:srgbClr val="0A1628"/>
            </a:solidFill>
            <a:prstDash val="solid"/>
          </a:ln>
        </p:spPr>
      </p:sp>
      <p:sp>
        <p:nvSpPr>
          <p:cNvPr id="13" name="Shape 11"/>
          <p:cNvSpPr/>
          <p:nvPr/>
        </p:nvSpPr>
        <p:spPr>
          <a:xfrm>
            <a:off x="3959352" y="1673352"/>
            <a:ext cx="128016" cy="128016"/>
          </a:xfrm>
          <a:prstGeom prst="ellipse">
            <a:avLst/>
          </a:prstGeom>
          <a:solidFill>
            <a:srgbClr val="0891B2"/>
          </a:solidFill>
          <a:ln w="19050">
            <a:solidFill>
              <a:srgbClr val="0A1628"/>
            </a:solidFill>
            <a:prstDash val="solid"/>
          </a:ln>
        </p:spPr>
      </p:sp>
      <p:sp>
        <p:nvSpPr>
          <p:cNvPr id="14" name="Shape 12"/>
          <p:cNvSpPr/>
          <p:nvPr/>
        </p:nvSpPr>
        <p:spPr>
          <a:xfrm>
            <a:off x="9628632" y="5056632"/>
            <a:ext cx="128016" cy="128016"/>
          </a:xfrm>
          <a:prstGeom prst="ellipse">
            <a:avLst/>
          </a:prstGeom>
          <a:solidFill>
            <a:srgbClr val="0891B2"/>
          </a:solidFill>
          <a:ln w="19050">
            <a:solidFill>
              <a:srgbClr val="0A1628"/>
            </a:solidFill>
            <a:prstDash val="solid"/>
          </a:ln>
        </p:spPr>
      </p:sp>
      <p:sp>
        <p:nvSpPr>
          <p:cNvPr id="15" name="Shape 13"/>
          <p:cNvSpPr/>
          <p:nvPr/>
        </p:nvSpPr>
        <p:spPr>
          <a:xfrm>
            <a:off x="10908792" y="4690872"/>
            <a:ext cx="128016" cy="128016"/>
          </a:xfrm>
          <a:prstGeom prst="ellipse">
            <a:avLst/>
          </a:prstGeom>
          <a:solidFill>
            <a:srgbClr val="22D3EE"/>
          </a:solidFill>
          <a:ln w="19050">
            <a:solidFill>
              <a:srgbClr val="0A1628"/>
            </a:solidFill>
            <a:prstDash val="solid"/>
          </a:ln>
        </p:spPr>
      </p:sp>
      <p:sp>
        <p:nvSpPr>
          <p:cNvPr id="16" name="Shape 14"/>
          <p:cNvSpPr/>
          <p:nvPr/>
        </p:nvSpPr>
        <p:spPr>
          <a:xfrm>
            <a:off x="10360152" y="5788152"/>
            <a:ext cx="128016" cy="128016"/>
          </a:xfrm>
          <a:prstGeom prst="ellipse">
            <a:avLst/>
          </a:prstGeom>
          <a:solidFill>
            <a:srgbClr val="0891B2"/>
          </a:solidFill>
          <a:ln w="19050">
            <a:solidFill>
              <a:srgbClr val="0A1628"/>
            </a:solidFill>
            <a:prstDash val="solid"/>
          </a:ln>
        </p:spPr>
      </p:sp>
      <p:sp>
        <p:nvSpPr>
          <p:cNvPr id="17" name="Shape 15"/>
          <p:cNvSpPr/>
          <p:nvPr/>
        </p:nvSpPr>
        <p:spPr>
          <a:xfrm>
            <a:off x="8988552" y="5605272"/>
            <a:ext cx="128016" cy="128016"/>
          </a:xfrm>
          <a:prstGeom prst="ellipse">
            <a:avLst/>
          </a:prstGeom>
          <a:solidFill>
            <a:srgbClr val="0891B2"/>
          </a:solidFill>
          <a:ln w="19050">
            <a:solidFill>
              <a:srgbClr val="0A1628"/>
            </a:solidFill>
            <a:prstDash val="solid"/>
          </a:ln>
        </p:spPr>
      </p:sp>
      <p:sp>
        <p:nvSpPr>
          <p:cNvPr id="18" name="Text 16"/>
          <p:cNvSpPr/>
          <p:nvPr/>
        </p:nvSpPr>
        <p:spPr>
          <a:xfrm>
            <a:off x="640080" y="2743200"/>
            <a:ext cx="9144000" cy="109728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19" name="Text 17"/>
          <p:cNvSpPr/>
          <p:nvPr/>
        </p:nvSpPr>
        <p:spPr>
          <a:xfrm>
            <a:off x="685800" y="3611880"/>
            <a:ext cx="7315200" cy="640080"/>
          </a:xfrm>
          <a:prstGeom prst="rect">
            <a:avLst/>
          </a:prstGeom>
          <a:noFill/>
          <a:ln/>
        </p:spPr>
        <p:txBody>
          <a:bodyPr wrap="square" rtlCol="0" anchor="ctr"/>
          <a:lstStyle/>
          <a:p>
            <a:pPr marL="0" indent="0">
              <a:buNone/>
            </a:pPr>
            <a:r>
              <a:rPr lang="en-US" sz="2200" dirty="0">
                <a:solidFill>
                  <a:srgbClr val="22D3EE"/>
                </a:solidFill>
                <a:latin typeface="Calibri" pitchFamily="34" charset="0"/>
                <a:ea typeface="Calibri" pitchFamily="34" charset="-122"/>
                <a:cs typeface="Calibri" pitchFamily="34" charset="-120"/>
              </a:rPr>
              <a:t>Questions?</a:t>
            </a:r>
            <a:endParaRPr lang="en-US" sz="2200" dirty="0"/>
          </a:p>
        </p:txBody>
      </p:sp>
      <p:sp>
        <p:nvSpPr>
          <p:cNvPr id="20" name="Shape 18"/>
          <p:cNvSpPr/>
          <p:nvPr/>
        </p:nvSpPr>
        <p:spPr>
          <a:xfrm>
            <a:off x="685800" y="4343400"/>
            <a:ext cx="2194560" cy="0"/>
          </a:xfrm>
          <a:prstGeom prst="line">
            <a:avLst/>
          </a:prstGeom>
          <a:noFill/>
          <a:ln w="31750">
            <a:solidFill>
              <a:srgbClr val="22D3EE"/>
            </a:solidFill>
            <a:prstDash val="solid"/>
          </a:ln>
        </p:spPr>
      </p:sp>
      <p:sp>
        <p:nvSpPr>
          <p:cNvPr id="21" name="Text 19"/>
          <p:cNvSpPr/>
          <p:nvPr/>
        </p:nvSpPr>
        <p:spPr>
          <a:xfrm>
            <a:off x="685800" y="4526280"/>
            <a:ext cx="8229600" cy="365760"/>
          </a:xfrm>
          <a:prstGeom prst="rect">
            <a:avLst/>
          </a:prstGeom>
          <a:noFill/>
          <a:ln/>
        </p:spPr>
        <p:txBody>
          <a:bodyPr wrap="square" rtlCol="0" anchor="ctr"/>
          <a:lstStyle/>
          <a:p>
            <a:pPr marL="0" indent="0">
              <a:buNone/>
            </a:pPr>
            <a:r>
              <a:rPr lang="en-US" sz="1200" dirty="0">
                <a:solidFill>
                  <a:srgbClr val="7E93B3"/>
                </a:solidFill>
                <a:latin typeface="Calibri" pitchFamily="34" charset="0"/>
                <a:ea typeface="Calibri" pitchFamily="34" charset="-122"/>
                <a:cs typeface="Calibri" pitchFamily="34" charset="-120"/>
              </a:rPr>
              <a:t>Networking Refresher  —  Cybersecurity Training Series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4474</Words>
  <Application>Microsoft Office PowerPoint</Application>
  <PresentationFormat>Widescreen</PresentationFormat>
  <Paragraphs>652</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Rajat Saini</cp:lastModifiedBy>
  <cp:revision>1</cp:revision>
  <dcterms:created xsi:type="dcterms:W3CDTF">2026-07-18T15:45:46Z</dcterms:created>
  <dcterms:modified xsi:type="dcterms:W3CDTF">2026-07-18T16:00:25Z</dcterms:modified>
</cp:coreProperties>
</file>